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89" r:id="rId7"/>
    <p:sldId id="291" r:id="rId8"/>
    <p:sldId id="290" r:id="rId9"/>
    <p:sldId id="288" r:id="rId10"/>
    <p:sldId id="28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3374D542-6E3E-455F-9BFB-B45891911720}">
          <p14:sldIdLst>
            <p14:sldId id="256"/>
            <p14:sldId id="257"/>
            <p14:sldId id="289"/>
            <p14:sldId id="291"/>
            <p14:sldId id="290"/>
            <p14:sldId id="288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8" autoAdjust="0"/>
    <p:restoredTop sz="94598" autoAdjust="0"/>
  </p:normalViewPr>
  <p:slideViewPr>
    <p:cSldViewPr snapToGrid="0">
      <p:cViewPr varScale="1">
        <p:scale>
          <a:sx n="122" d="100"/>
          <a:sy n="122" d="100"/>
        </p:scale>
        <p:origin x="106" y="2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FCC2-4E7A-4671-AA79-177CB194E449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1C38D-F26D-4167-83EF-8774BC62D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3735" y="1261137"/>
            <a:ext cx="9144000" cy="1790700"/>
          </a:xfrm>
        </p:spPr>
        <p:txBody>
          <a:bodyPr/>
          <a:lstStyle/>
          <a:p>
            <a:r>
              <a:rPr lang="en-US" b="1" dirty="0" err="1" smtClean="0"/>
              <a:t>K</a:t>
            </a:r>
            <a:r>
              <a:rPr lang="en-US" dirty="0" err="1" smtClean="0"/>
              <a:t>asta</a:t>
            </a:r>
            <a:r>
              <a:rPr lang="en-US" b="1" dirty="0" err="1" smtClean="0"/>
              <a:t>M</a:t>
            </a:r>
            <a:r>
              <a:rPr lang="en-US" dirty="0" err="1" smtClean="0"/>
              <a:t>onu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GB" dirty="0" smtClean="0"/>
              <a:t>ML Model Training Roadmap</a:t>
            </a:r>
            <a:br>
              <a:rPr lang="en-GB" dirty="0" smtClean="0"/>
            </a:b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638026" y="3604974"/>
            <a:ext cx="7334935" cy="85519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lang="en-GB" sz="2000" dirty="0">
                <a:solidFill>
                  <a:schemeClr val="bg1">
                    <a:lumMod val="85000"/>
                  </a:schemeClr>
                </a:solidFill>
              </a:rPr>
              <a:t>Progress and Future Plans for Willy </a:t>
            </a:r>
            <a:r>
              <a:rPr lang="en-GB" sz="2000" dirty="0" smtClean="0">
                <a:solidFill>
                  <a:schemeClr val="bg1">
                    <a:lumMod val="85000"/>
                  </a:schemeClr>
                </a:solidFill>
              </a:rPr>
              <a:t>Smart</a:t>
            </a:r>
            <a:r>
              <a:rPr lang="en-GB" sz="2000" dirty="0">
                <a:solidFill>
                  <a:schemeClr val="bg1">
                    <a:lumMod val="85000"/>
                  </a:schemeClr>
                </a:solidFill>
              </a:rPr>
              <a:t/>
            </a:r>
            <a:br>
              <a:rPr lang="en-GB" sz="20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GB" sz="1200" dirty="0">
                <a:solidFill>
                  <a:schemeClr val="bg1">
                    <a:lumMod val="85000"/>
                  </a:schemeClr>
                </a:solidFill>
              </a:rPr>
              <a:t>outlining the progress and future strategy for the Willy Smart ML project</a:t>
            </a:r>
            <a:endParaRPr lang="en-GB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1800"/>
              </a:lnSpc>
              <a:spcAft>
                <a:spcPts val="600"/>
              </a:spcAft>
            </a:pPr>
            <a:endParaRPr lang="en-GB" sz="2000" dirty="0" smtClean="0">
              <a:solidFill>
                <a:schemeClr val="bg1">
                  <a:lumMod val="85000"/>
                </a:schemeClr>
              </a:solidFill>
            </a:endParaRP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lang="en-GB" sz="2000" dirty="0" smtClean="0">
                <a:solidFill>
                  <a:schemeClr val="bg1">
                    <a:lumMod val="85000"/>
                  </a:schemeClr>
                </a:solidFill>
              </a:rPr>
              <a:t/>
            </a:r>
            <a:br>
              <a:rPr lang="en-GB" sz="2000" dirty="0" smtClean="0">
                <a:solidFill>
                  <a:schemeClr val="bg1">
                    <a:lumMod val="85000"/>
                  </a:schemeClr>
                </a:solidFill>
              </a:rPr>
            </a:br>
            <a:endParaRPr lang="en-GB" sz="1200" dirty="0" smtClean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687735" y="6091615"/>
            <a:ext cx="1173151" cy="42759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GB" sz="1200" dirty="0" smtClean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02 Sep. 2025</a:t>
            </a:r>
          </a:p>
        </p:txBody>
      </p:sp>
    </p:spTree>
    <p:extLst>
      <p:ext uri="{BB962C8B-B14F-4D97-AF65-F5344CB8AC3E}">
        <p14:creationId xmlns:p14="http://schemas.microsoft.com/office/powerpoint/2010/main" val="299758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Phase 1: Project Foundation Overview</a:t>
            </a:r>
            <a:endParaRPr lang="en-GB" sz="2400" dirty="0">
              <a:effectLst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4434" y="1294078"/>
            <a:ext cx="8051982" cy="90311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lang="en-GB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Activities: 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lang="en-GB" sz="1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GB" sz="12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Preprocessing</a:t>
            </a:r>
            <a:r>
              <a:rPr lang="en-GB" sz="1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, Feature Engineering, Target Selection, Model Selection, </a:t>
            </a:r>
            <a:r>
              <a:rPr lang="en-GB" sz="1200" i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Hyperparameter</a:t>
            </a:r>
            <a:r>
              <a:rPr lang="en-GB" sz="1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 Tuning, Evaluation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lang="en-GB" sz="1200" i="1" dirty="0" smtClean="0">
                <a:latin typeface="Arial" panose="020B0604020202020204" pitchFamily="34" charset="0"/>
                <a:cs typeface="Arial" panose="020B0604020202020204" pitchFamily="34" charset="0"/>
              </a:rPr>
              <a:t>Status: for available dataset</a:t>
            </a:r>
            <a:endParaRPr lang="en-GB" sz="1200" dirty="0" smtClean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04434" y="2414279"/>
            <a:ext cx="8954006" cy="412466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lang="en-GB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en-GB" sz="1200" b="1" dirty="0" err="1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Preprocessing</a:t>
            </a:r>
            <a:r>
              <a:rPr lang="en-GB" sz="12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GB" sz="12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Initial </a:t>
            </a:r>
            <a:r>
              <a:rPr lang="en-GB" sz="1200" b="1" dirty="0">
                <a:latin typeface="Arial" panose="020B0604020202020204" pitchFamily="34" charset="0"/>
                <a:cs typeface="Arial" panose="020B0604020202020204" pitchFamily="34" charset="0"/>
              </a:rPr>
              <a:t>Dataset: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 (322 rows, 180 features</a:t>
            </a:r>
            <a:r>
              <a:rPr lang="en-GB" sz="12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endParaRPr lang="en-GB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  <a:r>
              <a:rPr lang="en-GB" sz="1200" b="1" i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GB" sz="12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sz="1200" i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ts val="18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Outliers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removed using z-score (&gt; 3</a:t>
            </a: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171450" indent="-171450">
              <a:lnSpc>
                <a:spcPts val="18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Duplicates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removed (1594 duplicates from an initial dataset</a:t>
            </a: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171450" indent="-171450">
              <a:lnSpc>
                <a:spcPts val="18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Near-zero variance columns (e.g.,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labSurfaceSoundnessAvg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labEModulAvg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labDensityAverage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) excluded from Yeo-Johnson transformation..</a:t>
            </a:r>
            <a:endParaRPr lang="en-GB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ts val="18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Applied percentage skewness transformation and Yeo-Johnson transformation with rescaling (epsilon added</a:t>
            </a: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171450" indent="-171450">
              <a:lnSpc>
                <a:spcPts val="18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Missing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values handled with median imputation</a:t>
            </a: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lnSpc>
                <a:spcPts val="18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Constraints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enforced (e.g., positive values, ranges for distance, temperature, pressure, thickness, speed</a:t>
            </a: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171450" indent="-171450">
              <a:lnSpc>
                <a:spcPts val="18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endParaRPr lang="en-GB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ts val="18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1100" b="1" dirty="0"/>
              <a:t>Final Features</a:t>
            </a:r>
            <a:r>
              <a:rPr lang="en-GB" sz="1100" dirty="0"/>
              <a:t>: Reduced to ~48 (</a:t>
            </a:r>
            <a:r>
              <a:rPr lang="en-GB" sz="1100" dirty="0" err="1"/>
              <a:t>RandomForest</a:t>
            </a:r>
            <a:r>
              <a:rPr lang="en-GB" sz="1100" dirty="0"/>
              <a:t>) and ~11 (</a:t>
            </a:r>
            <a:r>
              <a:rPr lang="en-GB" sz="1100" dirty="0" err="1"/>
              <a:t>XGBoost</a:t>
            </a:r>
            <a:r>
              <a:rPr lang="en-GB" sz="1100" dirty="0"/>
              <a:t>) via cross-validated </a:t>
            </a:r>
            <a:r>
              <a:rPr lang="en-GB" sz="1100" dirty="0" err="1"/>
              <a:t>SelectFromModel</a:t>
            </a:r>
            <a:r>
              <a:rPr lang="en-GB" sz="1100" dirty="0"/>
              <a:t> (threshold='median', 5-fold CV).</a:t>
            </a:r>
            <a:endParaRPr lang="en-GB" sz="1100" dirty="0" smtClean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108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Phase 1: Project Foundation Overview</a:t>
            </a:r>
            <a:endParaRPr lang="en-GB" sz="2400" dirty="0">
              <a:effectLst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04434" y="1424746"/>
            <a:ext cx="8085656" cy="3916929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</a:pPr>
            <a:r>
              <a:rPr lang="en-GB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Training: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Models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RandomForest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Optuna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-optimized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hyperparameters</a:t>
            </a: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Feature Selection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GB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Cross-validated feature selection using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SelectFromModel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28650" lvl="1" indent="-1714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RandomForest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selected 48 features (e.g., operPressTemp1, pressPressure17R, couplingFactor5R).</a:t>
            </a:r>
          </a:p>
          <a:p>
            <a:pPr marL="628650" lvl="1" indent="-1714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selected 11 features (e.g., pressPressure8C, distance18,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catcherRate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GB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Synthesis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628650" lvl="1" indent="-1714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GaussianCopulaSynthesizer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generated 2x synthetic data (1370 rows from 685 post-duplicate removal</a:t>
            </a: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628650" lvl="1" indent="-1714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Gaussian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noise added (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noise_level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=0.05) to augmented data</a:t>
            </a: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28650" lvl="1" indent="-1714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KS-test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labSurfaceSoundnessAvg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: stat=0.0496, p=0.3641 (&gt;0.05), confirming similarity between original and synthetic data</a:t>
            </a: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100" b="1" dirty="0"/>
              <a:t>Augmented Dataset</a:t>
            </a:r>
            <a:r>
              <a:rPr lang="en-GB" sz="1100" dirty="0"/>
              <a:t>: 2056 rows (original + synthetic + noisy data</a:t>
            </a:r>
            <a:r>
              <a:rPr lang="en-GB" sz="1100" dirty="0" smtClean="0"/>
              <a:t>).</a:t>
            </a:r>
            <a:endParaRPr lang="en-GB" sz="11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Non-Augmented Models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107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Phase 1: Project Foundation Overview</a:t>
            </a:r>
            <a:endParaRPr lang="en-GB" sz="2400" dirty="0">
              <a:effectLst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04434" y="1411976"/>
            <a:ext cx="9171094" cy="504803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</a:pPr>
            <a:r>
              <a:rPr lang="en-GB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Metrics</a:t>
            </a:r>
            <a:r>
              <a:rPr lang="en-GB" sz="1200" b="1" dirty="0" smtClean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171450" indent="-1714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Non-augmented </a:t>
            </a:r>
            <a:r>
              <a:rPr lang="en-GB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models:</a:t>
            </a:r>
          </a:p>
          <a:p>
            <a:pPr marL="171450" indent="-171450">
              <a:lnSpc>
                <a:spcPct val="2000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     show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perfect R² (1.0) and zero MAE, MAPE, SMAPE for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labBendingAvg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labTensileAvg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labSurfaceSoundnessAvg</a:t>
            </a: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GB" sz="1100" i="1" dirty="0" smtClean="0">
                <a:latin typeface="Arial" panose="020B0604020202020204" pitchFamily="34" charset="0"/>
                <a:cs typeface="Arial" panose="020B0604020202020204" pitchFamily="34" charset="0"/>
              </a:rPr>
              <a:t>Likely </a:t>
            </a:r>
            <a:r>
              <a:rPr lang="en-GB" sz="1100" i="1" dirty="0">
                <a:latin typeface="Arial" panose="020B0604020202020204" pitchFamily="34" charset="0"/>
                <a:cs typeface="Arial" panose="020B0604020202020204" pitchFamily="34" charset="0"/>
              </a:rPr>
              <a:t>due to overfitting, zero-variance test sets, or data leakage</a:t>
            </a:r>
            <a:r>
              <a:rPr lang="en-GB" sz="1100" i="1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GB" sz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2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20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Augmented models:</a:t>
            </a:r>
          </a:p>
          <a:p>
            <a:pPr marL="171450" indent="-1714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labTensileAvg</a:t>
            </a:r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100" b="1" dirty="0" err="1">
                <a:latin typeface="Arial" panose="020B0604020202020204" pitchFamily="34" charset="0"/>
                <a:cs typeface="Arial" panose="020B0604020202020204" pitchFamily="34" charset="0"/>
              </a:rPr>
              <a:t>labSurfaceSoundnessAvg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: R²=1.0, MAE=0.0 for both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RandomForest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lnSpc>
                <a:spcPct val="200000"/>
              </a:lnSpc>
              <a:buFont typeface="Courier New" panose="02070309020205020404" pitchFamily="49" charset="0"/>
              <a:buChar char="o"/>
            </a:pPr>
            <a:endParaRPr lang="en-GB" sz="11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1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labBendingAvg</a:t>
            </a:r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628650" lvl="1" indent="-1714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: Slightly negative R², low MAE.</a:t>
            </a:r>
          </a:p>
          <a:p>
            <a:pPr marL="628650" lvl="1" indent="-1714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RandomForest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: Extremely negative R², high MAE, 100% MAPE/SMAPE, indicating sensitivity to synthetic data noise.</a:t>
            </a:r>
          </a:p>
          <a:p>
            <a:pPr marL="171450" indent="-171450">
              <a:lnSpc>
                <a:spcPct val="200000"/>
              </a:lnSpc>
              <a:buFont typeface="Courier New" panose="02070309020205020404" pitchFamily="49" charset="0"/>
              <a:buChar char="o"/>
            </a:pPr>
            <a:endParaRPr lang="en-GB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Excluded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targets (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labEModulAvg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labDensityAverage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) due to near-zero variance.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Non-Augmented Models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245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Phase 1: Project Foundation Overview</a:t>
            </a:r>
            <a:endParaRPr lang="en-GB" sz="2400" dirty="0">
              <a:effectLst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04434" y="1228466"/>
            <a:ext cx="10983132" cy="517233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GB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Detailed Analysis: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b="1" dirty="0"/>
              <a:t>Synthesis </a:t>
            </a:r>
            <a:r>
              <a:rPr lang="en-GB" sz="1100" b="1" dirty="0" smtClean="0"/>
              <a:t>Success: </a:t>
            </a:r>
            <a:endParaRPr lang="en-GB" sz="1100" dirty="0" smtClean="0"/>
          </a:p>
          <a:p>
            <a:pPr marL="628650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1100" dirty="0"/>
              <a:t>KS-test (p=0.3641) confirms high-quality synthetic data for </a:t>
            </a:r>
            <a:r>
              <a:rPr lang="en-GB" sz="1100" dirty="0" err="1"/>
              <a:t>labSurfaceSoundnessAvg</a:t>
            </a:r>
            <a:r>
              <a:rPr lang="en-GB" sz="1100" dirty="0" smtClean="0"/>
              <a:t>.</a:t>
            </a:r>
          </a:p>
          <a:p>
            <a:pPr marL="628650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1100" dirty="0" smtClean="0"/>
              <a:t>Synthetic </a:t>
            </a:r>
            <a:r>
              <a:rPr lang="en-GB" sz="1100" dirty="0"/>
              <a:t>data retains 129 columns, indicating robust feature preservation</a:t>
            </a:r>
            <a:r>
              <a:rPr lang="en-GB" sz="1100" dirty="0" smtClean="0"/>
              <a:t>.</a:t>
            </a:r>
          </a:p>
          <a:p>
            <a:pPr marL="628650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GB" sz="11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b="1" dirty="0" smtClean="0"/>
              <a:t>Non-Augmented </a:t>
            </a:r>
            <a:r>
              <a:rPr lang="en-GB" sz="1100" b="1" dirty="0"/>
              <a:t>Issues</a:t>
            </a:r>
            <a:r>
              <a:rPr lang="en-GB" sz="1100" b="1" dirty="0" smtClean="0"/>
              <a:t>: </a:t>
            </a:r>
          </a:p>
          <a:p>
            <a:pPr marL="628650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1100" dirty="0"/>
              <a:t>Perfect metrics (R²=1.0, MAE=0.0) suggest overfitting, possibly due to small dataset (685 rows post-</a:t>
            </a:r>
            <a:r>
              <a:rPr lang="en-GB" sz="1100" dirty="0" err="1"/>
              <a:t>preprocessing</a:t>
            </a:r>
            <a:r>
              <a:rPr lang="en-GB" sz="1100" dirty="0"/>
              <a:t>), insufficient regularization, or data leakage in </a:t>
            </a:r>
            <a:r>
              <a:rPr lang="en-GB" sz="1100" dirty="0" err="1"/>
              <a:t>preprocessing</a:t>
            </a:r>
            <a:r>
              <a:rPr lang="en-GB" sz="1100" dirty="0"/>
              <a:t>/feature </a:t>
            </a:r>
            <a:r>
              <a:rPr lang="en-GB" sz="1100" dirty="0" smtClean="0"/>
              <a:t>selection.</a:t>
            </a:r>
          </a:p>
          <a:p>
            <a:pPr marL="171450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GB" sz="11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b="1" dirty="0"/>
              <a:t>Augmented Improvements:</a:t>
            </a:r>
            <a:endParaRPr lang="en-GB" sz="1100" b="1" dirty="0" smtClean="0"/>
          </a:p>
          <a:p>
            <a:pPr marL="628650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1100" dirty="0"/>
              <a:t>Unlike previous run (negative R² for </a:t>
            </a:r>
            <a:r>
              <a:rPr lang="en-GB" sz="1100" dirty="0" err="1"/>
              <a:t>labBendingAvg</a:t>
            </a:r>
            <a:r>
              <a:rPr lang="en-GB" sz="1100" dirty="0"/>
              <a:t>), augmented models now show perfect metrics across all targets</a:t>
            </a:r>
            <a:r>
              <a:rPr lang="en-GB" sz="1100" dirty="0" smtClean="0"/>
              <a:t>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100" dirty="0" smtClean="0"/>
              <a:t>Likely </a:t>
            </a:r>
            <a:r>
              <a:rPr lang="en-GB" sz="1100" dirty="0"/>
              <a:t>due to improved synthetic data integration, reduced noise impact, or better feature selection</a:t>
            </a:r>
            <a:r>
              <a:rPr lang="en-GB" sz="1100" dirty="0" smtClean="0"/>
              <a:t>.</a:t>
            </a:r>
          </a:p>
          <a:p>
            <a:pPr marL="628650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1100" dirty="0" err="1" smtClean="0"/>
              <a:t>RandomForest’s</a:t>
            </a:r>
            <a:r>
              <a:rPr lang="en-GB" sz="1100" dirty="0" smtClean="0"/>
              <a:t> </a:t>
            </a:r>
            <a:r>
              <a:rPr lang="en-GB" sz="1100" dirty="0"/>
              <a:t>sensitivity to synthetic noise resolved, possibly from refined </a:t>
            </a:r>
            <a:r>
              <a:rPr lang="en-GB" sz="1100" dirty="0" err="1"/>
              <a:t>noise_level</a:t>
            </a:r>
            <a:r>
              <a:rPr lang="en-GB" sz="1100" dirty="0"/>
              <a:t> (0.05) or cross-validated feature </a:t>
            </a:r>
            <a:r>
              <a:rPr lang="en-GB" sz="1100" dirty="0" smtClean="0"/>
              <a:t>selection.</a:t>
            </a:r>
          </a:p>
          <a:p>
            <a:pPr lvl="1">
              <a:lnSpc>
                <a:spcPct val="150000"/>
              </a:lnSpc>
            </a:pPr>
            <a:endParaRPr lang="en-GB" sz="1100" b="1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b="1" dirty="0" err="1" smtClean="0"/>
              <a:t>Optuna</a:t>
            </a:r>
            <a:r>
              <a:rPr lang="en-GB" sz="1100" b="1" dirty="0" smtClean="0"/>
              <a:t> </a:t>
            </a:r>
            <a:r>
              <a:rPr lang="en-GB" sz="1100" b="1" dirty="0" err="1" smtClean="0"/>
              <a:t>Hyperparameters</a:t>
            </a:r>
            <a:r>
              <a:rPr lang="en-GB" sz="1100" b="1" dirty="0" smtClean="0"/>
              <a:t>:</a:t>
            </a:r>
          </a:p>
          <a:p>
            <a:pPr marL="628650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1100" dirty="0" smtClean="0"/>
              <a:t>Best </a:t>
            </a:r>
            <a:r>
              <a:rPr lang="en-GB" sz="1100" dirty="0" err="1"/>
              <a:t>params</a:t>
            </a:r>
            <a:r>
              <a:rPr lang="en-GB" sz="1100" dirty="0"/>
              <a:t>: </a:t>
            </a:r>
            <a:r>
              <a:rPr lang="en-GB" sz="1100" dirty="0" err="1"/>
              <a:t>max_depth</a:t>
            </a:r>
            <a:r>
              <a:rPr lang="en-GB" sz="1100" dirty="0"/>
              <a:t>=6, </a:t>
            </a:r>
            <a:r>
              <a:rPr lang="en-GB" sz="1100" dirty="0" err="1"/>
              <a:t>learning_rate</a:t>
            </a:r>
            <a:r>
              <a:rPr lang="en-GB" sz="1100" dirty="0"/>
              <a:t>=0.0526, </a:t>
            </a:r>
            <a:r>
              <a:rPr lang="en-GB" sz="1100" dirty="0" err="1"/>
              <a:t>n_estimators</a:t>
            </a:r>
            <a:r>
              <a:rPr lang="en-GB" sz="1100" dirty="0"/>
              <a:t>=1069, subsample=0.9194, </a:t>
            </a:r>
            <a:r>
              <a:rPr lang="en-GB" sz="1100" dirty="0" err="1"/>
              <a:t>colsample_bytree</a:t>
            </a:r>
            <a:r>
              <a:rPr lang="en-GB" sz="1100" dirty="0"/>
              <a:t>=0.7409, gamma=0.001, </a:t>
            </a:r>
            <a:r>
              <a:rPr lang="en-GB" sz="1100" dirty="0" err="1"/>
              <a:t>reg_alpha</a:t>
            </a:r>
            <a:r>
              <a:rPr lang="en-GB" sz="1100" dirty="0"/>
              <a:t>=0.3053, </a:t>
            </a:r>
            <a:r>
              <a:rPr lang="en-GB" sz="1100" dirty="0" err="1"/>
              <a:t>reg_lambda</a:t>
            </a:r>
            <a:r>
              <a:rPr lang="en-GB" sz="1100" dirty="0"/>
              <a:t>=1.6388</a:t>
            </a:r>
            <a:r>
              <a:rPr lang="en-GB" sz="1100" dirty="0" smtClean="0"/>
              <a:t>.</a:t>
            </a:r>
          </a:p>
          <a:p>
            <a:pPr marL="628650" lvl="1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sz="1100" dirty="0" smtClean="0"/>
              <a:t>Enhanced </a:t>
            </a:r>
            <a:r>
              <a:rPr lang="en-GB" sz="1100" dirty="0"/>
              <a:t>regularization (higher </a:t>
            </a:r>
            <a:r>
              <a:rPr lang="en-GB" sz="1100" dirty="0" err="1"/>
              <a:t>reg_alpha</a:t>
            </a:r>
            <a:r>
              <a:rPr lang="en-GB" sz="1100" dirty="0"/>
              <a:t>, </a:t>
            </a:r>
            <a:r>
              <a:rPr lang="en-GB" sz="1100" dirty="0" err="1"/>
              <a:t>reg_lambda</a:t>
            </a:r>
            <a:r>
              <a:rPr lang="en-GB" sz="1100" dirty="0"/>
              <a:t>) improved model </a:t>
            </a:r>
            <a:r>
              <a:rPr lang="en-GB" sz="1100" dirty="0" smtClean="0"/>
              <a:t>stability.</a:t>
            </a:r>
            <a:endParaRPr lang="en-GB" sz="1100" b="1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100" b="1" dirty="0"/>
          </a:p>
          <a:p>
            <a:pPr marL="171450" indent="-17145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GB" sz="11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Non-Augmented Models</a:t>
            </a: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305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Phase 2: </a:t>
            </a:r>
            <a:r>
              <a:rPr lang="en-GB" sz="2400" dirty="0" smtClean="0"/>
              <a:t>Improvement plan</a:t>
            </a:r>
            <a:endParaRPr lang="en-GB" sz="2400" dirty="0">
              <a:effectLst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4433" y="1423475"/>
            <a:ext cx="11177511" cy="505626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171450" indent="-171450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Validate </a:t>
            </a:r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Non-Augmented Performance</a:t>
            </a:r>
            <a:r>
              <a:rPr lang="en-GB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628650" lvl="1" indent="-171450">
              <a:lnSpc>
                <a:spcPts val="18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Investigate zero-variance test sets or data leakage</a:t>
            </a: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28650" lvl="1" indent="-171450">
              <a:lnSpc>
                <a:spcPts val="18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Adjust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outlier threshold (z-score &gt; 3) or transformation steps (e.g., cap scale in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percentage_skewness_conv</a:t>
            </a: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628650" lvl="1" indent="-171450">
              <a:lnSpc>
                <a:spcPts val="18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Increase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regularization (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reg_alpha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=0.5–1.0,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reg_lambda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=2.0–3.0) in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Optuna</a:t>
            </a: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Refine Augmented Models:</a:t>
            </a:r>
            <a:endParaRPr lang="en-GB" sz="11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28650" lvl="1" indent="-171450">
              <a:lnSpc>
                <a:spcPts val="18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Verify proper concatenation of original and synthetic data before noise addition</a:t>
            </a: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28650" lvl="1" indent="-171450">
              <a:lnSpc>
                <a:spcPts val="18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Experiment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with synthetic data multiplier (e.g., 1.5x instead of 2x) to balance data volume and noise</a:t>
            </a: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28650" lvl="1" indent="-171450">
              <a:lnSpc>
                <a:spcPts val="18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Fine-tune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noise_level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(0.03–0.07) to optimize variability without introducing outliers</a:t>
            </a: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71450" indent="-171450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b="1" dirty="0" smtClean="0">
                <a:latin typeface="Arial" panose="020B0604020202020204" pitchFamily="34" charset="0"/>
                <a:cs typeface="Arial" panose="020B0604020202020204" pitchFamily="34" charset="0"/>
              </a:rPr>
              <a:t>Debugging</a:t>
            </a:r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628650" lvl="1" indent="-171450">
              <a:lnSpc>
                <a:spcPts val="18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Inspect scaled data ranges pre-synthesis to ensure no invalid values</a:t>
            </a: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28650" lvl="1" indent="-171450">
              <a:lnSpc>
                <a:spcPts val="18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Validate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column alignment and variability before model fitting</a:t>
            </a: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28650" lvl="1" indent="-171450">
              <a:lnSpc>
                <a:spcPts val="18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Address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RuntimeWarning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by capping input values in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percentage_skewness_conv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..</a:t>
            </a:r>
          </a:p>
          <a:p>
            <a:pPr marL="171450" indent="-171450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100" b="1" dirty="0">
                <a:latin typeface="Arial" panose="020B0604020202020204" pitchFamily="34" charset="0"/>
                <a:cs typeface="Arial" panose="020B0604020202020204" pitchFamily="34" charset="0"/>
              </a:rPr>
              <a:t>Cross-Validation: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628650" lvl="1" indent="-171450">
              <a:lnSpc>
                <a:spcPts val="18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Continue using 5-fold CV for feature selection and model evaluation to ensure robustness</a:t>
            </a: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28650" lvl="1" indent="-171450">
              <a:lnSpc>
                <a:spcPts val="1800"/>
              </a:lnSpc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GB" sz="1100" dirty="0" smtClean="0">
                <a:latin typeface="Arial" panose="020B0604020202020204" pitchFamily="34" charset="0"/>
                <a:cs typeface="Arial" panose="020B0604020202020204" pitchFamily="34" charset="0"/>
              </a:rPr>
              <a:t>Explore 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stratified </a:t>
            </a:r>
            <a:r>
              <a:rPr lang="en-GB" sz="1100" dirty="0" err="1">
                <a:latin typeface="Arial" panose="020B0604020202020204" pitchFamily="34" charset="0"/>
                <a:cs typeface="Arial" panose="020B0604020202020204" pitchFamily="34" charset="0"/>
              </a:rPr>
              <a:t>KFold</a:t>
            </a:r>
            <a:r>
              <a:rPr lang="en-GB" sz="1100" dirty="0">
                <a:latin typeface="Arial" panose="020B0604020202020204" pitchFamily="34" charset="0"/>
                <a:cs typeface="Arial" panose="020B0604020202020204" pitchFamily="34" charset="0"/>
              </a:rPr>
              <a:t> for targets with skewed distributions.</a:t>
            </a:r>
            <a:endParaRPr lang="en-GB" sz="11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3721" y="3902657"/>
            <a:ext cx="5420104" cy="194226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171450" indent="-171450">
              <a:lnSpc>
                <a:spcPts val="18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342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1795B-A93A-416C-8052-FAF4D907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Phase </a:t>
            </a:r>
            <a:r>
              <a:rPr lang="en-GB" sz="2400" dirty="0" smtClean="0"/>
              <a:t>3: Deployment </a:t>
            </a:r>
            <a:r>
              <a:rPr lang="en-GB" sz="2400" dirty="0"/>
              <a:t>Overview</a:t>
            </a:r>
            <a:endParaRPr lang="en-GB" sz="2400" dirty="0">
              <a:effectLst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04430" y="2411204"/>
            <a:ext cx="6658139" cy="1371386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lang="en-GB" sz="1200" b="1" dirty="0">
                <a:solidFill>
                  <a:schemeClr val="accent1">
                    <a:lumMod val="75000"/>
                  </a:schemeClr>
                </a:solidFill>
              </a:rPr>
              <a:t>Performance Monitoring:</a:t>
            </a:r>
            <a:endParaRPr lang="en-GB" sz="12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Create </a:t>
            </a:r>
            <a:r>
              <a:rPr lang="en-GB" sz="1200" dirty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r>
              <a:rPr lang="en-GB" sz="1200" dirty="0"/>
              <a:t> (MAE, R2), set alerts (&gt;5% MAE increase</a:t>
            </a:r>
            <a:r>
              <a:rPr lang="en-GB" sz="1200" dirty="0" smtClean="0"/>
              <a:t>)	</a:t>
            </a:r>
          </a:p>
          <a:p>
            <a:r>
              <a:rPr lang="en-GB" sz="1200" dirty="0" smtClean="0"/>
              <a:t>	To ensure </a:t>
            </a:r>
            <a:r>
              <a:rPr lang="en-GB" sz="1200" dirty="0"/>
              <a:t>model reliability </a:t>
            </a:r>
            <a:r>
              <a:rPr lang="en-GB" sz="1200" dirty="0" smtClean="0"/>
              <a:t>post-deployment</a:t>
            </a:r>
          </a:p>
          <a:p>
            <a:endParaRPr lang="en-GB" sz="12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Notes: "A monitoring dashboard will track key metrics, with alerts for performance drops, completing the phase."</a:t>
            </a:r>
          </a:p>
          <a:p>
            <a:endParaRPr lang="en-GB" sz="1200" dirty="0">
              <a:effectLst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4431" y="1445163"/>
            <a:ext cx="6658139" cy="878222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lang="en-GB" sz="1200" b="1" dirty="0">
                <a:solidFill>
                  <a:schemeClr val="accent1">
                    <a:lumMod val="75000"/>
                  </a:schemeClr>
                </a:solidFill>
              </a:rPr>
              <a:t>Deployment </a:t>
            </a:r>
            <a:r>
              <a:rPr lang="en-GB" sz="12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Pipeline</a:t>
            </a:r>
            <a:r>
              <a:rPr lang="en-GB" sz="12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endParaRPr lang="en-GB" sz="1200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/>
              <a:t>Develop </a:t>
            </a:r>
            <a:r>
              <a:rPr lang="en-GB" sz="1200" dirty="0" smtClean="0"/>
              <a:t>API </a:t>
            </a:r>
            <a:r>
              <a:rPr lang="en-GB" sz="1200" dirty="0"/>
              <a:t>endpoint, test with KM/MDF </a:t>
            </a:r>
            <a:r>
              <a:rPr lang="en-GB" sz="1200" dirty="0" smtClean="0"/>
              <a:t>data</a:t>
            </a:r>
            <a:endParaRPr lang="en-GB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 smtClean="0"/>
              <a:t>Benefit</a:t>
            </a:r>
            <a:r>
              <a:rPr lang="en-GB" sz="1200" dirty="0"/>
              <a:t>: Enables real-time predictions.</a:t>
            </a:r>
            <a:endParaRPr lang="en-GB" sz="1200" dirty="0" smtClean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4155" y="4466745"/>
            <a:ext cx="8486159" cy="144067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endParaRPr lang="en-GB" sz="1200" dirty="0" smtClean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52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16411177_Bring Your Presentations_win32_mlw - v3" id="{DE0A717D-0B12-4D44-8613-A03A4CD6D7EE}" vid="{30B64ACD-7D47-478C-8DC1-E97D1D0752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480f6609812271f56e53f2aff71704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b48d77c16982ba2890c3fe2b4c067b2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90717D-CB20-4004-8DD0-01756D9D039A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71af3243-3dd4-4a8d-8c0d-dd76da1f02a5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620A972-1CDD-4EF3-89C2-EBD9E5E1FD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8A56FF6-92BD-46DE-9059-01B9F08E888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Bring your presentations to life with 3D</Template>
  <TotalTime>0</TotalTime>
  <Words>779</Words>
  <Application>Microsoft Office PowerPoint</Application>
  <PresentationFormat>Widescreen</PresentationFormat>
  <Paragraphs>94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Courier New</vt:lpstr>
      <vt:lpstr>Segoe UI</vt:lpstr>
      <vt:lpstr>Segoe UI Light</vt:lpstr>
      <vt:lpstr>Wingdings</vt:lpstr>
      <vt:lpstr>Get Started with 3D</vt:lpstr>
      <vt:lpstr>KastaMonu  ML Model Training Roadmap </vt:lpstr>
      <vt:lpstr>Phase 1: Project Foundation Overview</vt:lpstr>
      <vt:lpstr>Phase 1: Project Foundation Overview</vt:lpstr>
      <vt:lpstr>Phase 1: Project Foundation Overview</vt:lpstr>
      <vt:lpstr>Phase 1: Project Foundation Overview</vt:lpstr>
      <vt:lpstr>Phase 2: Improvement plan</vt:lpstr>
      <vt:lpstr>Phase 3: Deployment Overview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2025-08-05T10:53:21Z</dcterms:created>
  <dcterms:modified xsi:type="dcterms:W3CDTF">2026-04-02T06:41:13Z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