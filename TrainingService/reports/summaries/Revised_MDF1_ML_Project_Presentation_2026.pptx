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9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36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Reviewed project file: MDF1_ML_System_One_Page_Report.docx (build summary, served bundles, API proof)
- Reviewed project file: MLSummary_with_comparison.xlsx (dataset size, 5-target baseline ranking)
- Reviewed project file: MDF1_Deployment_Recommendation.docx (deployment phasing)
- Generated decorative asset in this session: brain_crop2.png, cropped from an AI-generated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MDF1_ML_System_One_Page_Report.docx: end-to-end system, API endpoints, verified /predict, served density and bending RF bundles
- MDF1_Deployment_Recommendation.docx: project-wide deployment readiness and phasing
- MLSummary_with_comparison.xlsx: five-target RF ranking and deployment focus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Training log excerpts reviewed: early schema mismatch and missing required columns (Pasted text logs from Mar 31 / Apr 1)
- Training log excerpts reviewed: clean dataset, engineered features, repeated baseline training, and Apr 10 multi-algorithm runs
- MDF1_ML_System_One_Page_Report.docx: current separated TrainingService + PredictionService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MDF1_Density_OnePager.docx: raw dataset 3,128x1,165, cleaned 486 usable rows, time range Aug 2025–Mar 2026
- Training logs reviewed: cleaned data shape 486x1164, dropped high-missing feature operFibresDensity, candidate feature count 28 in latest runs
- MDF1_ML_System_One_Page_Report.docx: time-based split in system 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Training logs reviewed: explicit list of 26 engineered features added (pressure, temperature, thickness aggregations)
- MLSummary_with_comparison.xlsx: stable driver families across targets are raw/thickness, press-pressure, and temperature/process-state
- MDF1_Density_OnePager.docx and deployment recommendation: top-driver examples and process-learning interpretation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Early prototype logs reviewed: warnings on abs24h features, feature-importance export failure, and schema / feature mismatch issues
- Training/code snippets reviewed: _is_usable_feature logic excludes nonnumeric, all-null, target-like, vkstockProxy, and later abs24h fields
- MDF1_ML_System_One_Page_Report.docx: governed bundle concept and serving-time feature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MLSummary_with_comparison.xlsx: five-target RF R² values, driver families, and deployment notes
- MDF1_Deployment_Recommendation.docx: phased rollout recommendation and risk framing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MDF1_ML_System_One_Page_Report.docx: served RF bundles and current test R² for density and bending
- Apr 10 training logs reviewed: density RF/XGB/LGBM comparison and bending RF/XGB/LGBM comparison
- MDF1_Density_OnePager.docx and MLSummary_with_comparison.xlsx: driver interpretation for density and bending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MDF1_ML_System_One_Page_Report.docx: TrainingService + PredictionService separation, artifact contents, endpoints, and feature governance at inference
- Repo / log snippets reviewed: artifact_sync and sync_artifacts utilities, best_models_registry.json, API route and model loader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MDF1_ML_System_One_Page_Report.docx: verified live inference, governed artifacts, next recommended API stabilization steps
- MDF1_Deployment_Recommendation.docx: risk considerations, monitoring requirement, phased rollout
- Repo / git-status logs reviewed: open Dockerfile, artifact registry, route, service, and sync utility changes plus working-tree hygiene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MDF1_Deployment_Recommendation.docx: phased deployment concept and monitoring / retraining steps
- MDF1_ML_System_One_Page_Report.docx: next recommended API stabilization and packaging steps
- MLSummary_with_comparison.xlsx: freeze baselines, deploy strongest candidates first, continue refinement in parallel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0" y="647395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C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MDF1 ML PROJECT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48817"/>
            <a:ext cx="12191695" cy="6858000"/>
          </a:xfrm>
          <a:prstGeom prst="rect">
            <a:avLst/>
          </a:prstGeom>
          <a:solidFill>
            <a:srgbClr val="081A2B"/>
          </a:solidFill>
          <a:ln w="12700">
            <a:solidFill>
              <a:srgbClr val="081A2B"/>
            </a:solidFill>
            <a:prstDash val="solid"/>
          </a:ln>
        </p:spPr>
      </p:sp>
      <p:pic>
        <p:nvPicPr>
          <p:cNvPr id="3" name="Image 0" descr="/mnt/data/mdf1_assets/brain_crop2.png"/>
          <p:cNvPicPr>
            <a:picLocks noChangeAspect="1"/>
          </p:cNvPicPr>
          <p:nvPr/>
        </p:nvPicPr>
        <p:blipFill>
          <a:blip r:embed="rId3"/>
          <a:srcRect l="10962" r="10962"/>
          <a:stretch/>
        </p:blipFill>
        <p:spPr>
          <a:xfrm>
            <a:off x="6903720" y="274320"/>
            <a:ext cx="5029200" cy="3337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8412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MDF1 ML PROJECT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58368" y="14813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7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zero to current situation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58368" y="190195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</a:t>
            </a:r>
            <a:r>
              <a:rPr lang="en-US" sz="1300" dirty="0" smtClean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</a:t>
            </a:r>
            <a:r>
              <a:rPr lang="en-US" sz="130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the MDF1 manufacturing ML program, 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274320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0510" y="2811780"/>
            <a:ext cx="257963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TRAINING + PREDICTION SERVICES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63240" y="2743200"/>
            <a:ext cx="2547568" cy="292608"/>
          </a:xfrm>
          <a:prstGeom prst="roundRect">
            <a:avLst>
              <a:gd name="adj" fmla="val 25000"/>
            </a:avLst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3240" y="2770632"/>
            <a:ext cx="271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CURRENTLY SERVED: DENSITY + BENDING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0080" y="4800600"/>
            <a:ext cx="10972800" cy="1234440"/>
          </a:xfrm>
          <a:prstGeom prst="roundRect">
            <a:avLst>
              <a:gd name="adj" fmla="val 3704"/>
            </a:avLst>
          </a:prstGeom>
          <a:solidFill>
            <a:srgbClr val="0C243C">
              <a:alpha val="88000"/>
            </a:srgbClr>
          </a:solidFill>
          <a:ln w="12700">
            <a:solidFill>
              <a:srgbClr val="2B4B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5047488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102943"/>
          </a:solidFill>
          <a:ln w="12700">
            <a:solidFill>
              <a:srgbClr val="2B4B6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5047488"/>
            <a:ext cx="54864" cy="7315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515721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8FB1CD"/>
                </a:solidFill>
              </a:rPr>
              <a:t>Raw dataset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1042416" y="534009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3,128 × 1,165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42416" y="5559552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8FB1CD"/>
                </a:solidFill>
              </a:rPr>
              <a:t>KSoft source data</a:t>
            </a:r>
            <a:endParaRPr lang="en-US" sz="770" dirty="0"/>
          </a:p>
        </p:txBody>
      </p:sp>
      <p:sp>
        <p:nvSpPr>
          <p:cNvPr id="17" name="Shape 14"/>
          <p:cNvSpPr/>
          <p:nvPr/>
        </p:nvSpPr>
        <p:spPr>
          <a:xfrm>
            <a:off x="2880360" y="5047488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102943"/>
          </a:solidFill>
          <a:ln w="12700">
            <a:solidFill>
              <a:srgbClr val="2B4B6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80360" y="5047488"/>
            <a:ext cx="54864" cy="731520"/>
          </a:xfrm>
          <a:prstGeom prst="rect">
            <a:avLst/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08376" y="515721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8FB1CD"/>
                </a:solidFill>
              </a:rPr>
              <a:t>Clean usable rows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3008376" y="534009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486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3008376" y="5559552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8FB1CD"/>
                </a:solidFill>
              </a:rPr>
              <a:t>after validation + cleaning</a:t>
            </a:r>
            <a:endParaRPr lang="en-US" sz="770" dirty="0"/>
          </a:p>
        </p:txBody>
      </p:sp>
      <p:sp>
        <p:nvSpPr>
          <p:cNvPr id="22" name="Shape 19"/>
          <p:cNvSpPr/>
          <p:nvPr/>
        </p:nvSpPr>
        <p:spPr>
          <a:xfrm>
            <a:off x="4846320" y="5047488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102943"/>
          </a:solidFill>
          <a:ln w="12700">
            <a:solidFill>
              <a:srgbClr val="2B4B6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46320" y="5047488"/>
            <a:ext cx="54864" cy="7315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74336" y="515721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8FB1CD"/>
                </a:solidFill>
              </a:rPr>
              <a:t>Engineered features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4974336" y="534009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b="1" dirty="0" smtClean="0">
                <a:solidFill>
                  <a:srgbClr val="FFFFFF"/>
                </a:solidFill>
              </a:rPr>
              <a:t>28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4974336" y="5559552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8FB1CD"/>
                </a:solidFill>
              </a:rPr>
              <a:t>pressure / temp / thickness</a:t>
            </a:r>
            <a:endParaRPr lang="en-US" sz="770" dirty="0"/>
          </a:p>
        </p:txBody>
      </p:sp>
      <p:sp>
        <p:nvSpPr>
          <p:cNvPr id="27" name="Shape 24"/>
          <p:cNvSpPr/>
          <p:nvPr/>
        </p:nvSpPr>
        <p:spPr>
          <a:xfrm>
            <a:off x="6812280" y="5047488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102943"/>
          </a:solidFill>
          <a:ln w="12700">
            <a:solidFill>
              <a:srgbClr val="2B4B6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12280" y="5047488"/>
            <a:ext cx="54864" cy="7315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40296" y="515721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8FB1CD"/>
                </a:solidFill>
              </a:rPr>
              <a:t>Served model R²</a:t>
            </a:r>
            <a:endParaRPr lang="en-US" sz="870" dirty="0"/>
          </a:p>
        </p:txBody>
      </p:sp>
      <p:sp>
        <p:nvSpPr>
          <p:cNvPr id="30" name="Text 27"/>
          <p:cNvSpPr/>
          <p:nvPr/>
        </p:nvSpPr>
        <p:spPr>
          <a:xfrm>
            <a:off x="6940296" y="534009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~0.69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6940296" y="5559552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8FB1CD"/>
                </a:solidFill>
              </a:rPr>
              <a:t>density &amp; bending RF bundles</a:t>
            </a:r>
            <a:endParaRPr lang="en-US" sz="770" dirty="0"/>
          </a:p>
        </p:txBody>
      </p:sp>
      <p:sp>
        <p:nvSpPr>
          <p:cNvPr id="32" name="Shape 29"/>
          <p:cNvSpPr/>
          <p:nvPr/>
        </p:nvSpPr>
        <p:spPr>
          <a:xfrm>
            <a:off x="8778240" y="5047488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102943"/>
          </a:solidFill>
          <a:ln w="12700">
            <a:solidFill>
              <a:srgbClr val="2B4B6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778240" y="5047488"/>
            <a:ext cx="54864" cy="731520"/>
          </a:xfrm>
          <a:prstGeom prst="rect">
            <a:avLst/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906256" y="515721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8FB1CD"/>
                </a:solidFill>
              </a:rPr>
              <a:t>Five-target best RF R²</a:t>
            </a:r>
            <a:endParaRPr lang="en-US" sz="870" dirty="0"/>
          </a:p>
        </p:txBody>
      </p:sp>
      <p:sp>
        <p:nvSpPr>
          <p:cNvPr id="35" name="Text 32"/>
          <p:cNvSpPr/>
          <p:nvPr/>
        </p:nvSpPr>
        <p:spPr>
          <a:xfrm>
            <a:off x="8906256" y="534009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0.758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8906256" y="5559552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8FB1CD"/>
                </a:solidFill>
              </a:rPr>
              <a:t>surface soundness baseline</a:t>
            </a:r>
            <a:endParaRPr lang="en-US" sz="770" dirty="0"/>
          </a:p>
        </p:txBody>
      </p:sp>
      <p:sp>
        <p:nvSpPr>
          <p:cNvPr id="37" name="Text 34"/>
          <p:cNvSpPr/>
          <p:nvPr/>
        </p:nvSpPr>
        <p:spPr>
          <a:xfrm>
            <a:off x="749808" y="625449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Reviewed source base: MDF1 system one-pager, density one-pager, deployment recommendation, comparison workbook, and training / repo logs.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9784080" y="62362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5BC"/>
                </a:solidFill>
              </a:rPr>
              <a:t>April 2026 review </a:t>
            </a:r>
            <a:r>
              <a:rPr lang="en-US" sz="850" dirty="0" smtClean="0">
                <a:solidFill>
                  <a:srgbClr val="8CA5BC"/>
                </a:solidFill>
              </a:rPr>
              <a:t>check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247120" y="6217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5BC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snapshot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is solving, what exists now, and what the current position really is.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730752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716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Business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664208"/>
            <a:ext cx="3200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7388"/>
                </a:solidFill>
              </a:rPr>
              <a:t>Predict MDF1 quality targets from KSoft production </a:t>
            </a:r>
            <a:r>
              <a:rPr lang="en-US" sz="1120" dirty="0" smtClean="0">
                <a:solidFill>
                  <a:srgbClr val="5F7388"/>
                </a:solidFill>
              </a:rPr>
              <a:t>signals so </a:t>
            </a:r>
            <a:r>
              <a:rPr lang="en-US" sz="1120" dirty="0">
                <a:solidFill>
                  <a:srgbClr val="5F7388"/>
                </a:solidFill>
              </a:rPr>
              <a:t>the </a:t>
            </a:r>
            <a:r>
              <a:rPr lang="en-US" sz="1120" dirty="0" smtClean="0">
                <a:solidFill>
                  <a:srgbClr val="5F7388"/>
                </a:solidFill>
              </a:rPr>
              <a:t>organization </a:t>
            </a:r>
            <a:r>
              <a:rPr lang="en-US" sz="1120" dirty="0">
                <a:solidFill>
                  <a:srgbClr val="5F7388"/>
                </a:solidFill>
              </a:rPr>
              <a:t>can move from reactive inspection to earlier, data-driven quality decisions.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2651760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6791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MANUFACTURING ML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53712" y="1188720"/>
            <a:ext cx="3255264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79" y="1371600"/>
            <a:ext cx="28775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What is </a:t>
            </a:r>
            <a:r>
              <a:rPr lang="en-US" sz="1300" b="1" dirty="0" smtClean="0">
                <a:solidFill>
                  <a:srgbClr val="16324A"/>
                </a:solidFill>
              </a:rPr>
              <a:t>built as 1</a:t>
            </a:r>
            <a:r>
              <a:rPr lang="en-US" sz="1300" b="1" baseline="30000" dirty="0" smtClean="0">
                <a:solidFill>
                  <a:srgbClr val="16324A"/>
                </a:solidFill>
              </a:rPr>
              <a:t>st</a:t>
            </a:r>
            <a:r>
              <a:rPr lang="en-US" sz="1300" b="1" dirty="0" smtClean="0">
                <a:solidFill>
                  <a:srgbClr val="16324A"/>
                </a:solidFill>
              </a:rPr>
              <a:t> phase of ML Training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2697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Offline training pipeline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Governed artifact bundles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FastAPI prediction service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/health, /models and /predict endpoints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Feature-order alignment at inference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991856" y="1188720"/>
            <a:ext cx="3547872" cy="1828800"/>
          </a:xfrm>
          <a:prstGeom prst="roundRect">
            <a:avLst>
              <a:gd name="adj" fmla="val 2500"/>
            </a:avLst>
          </a:prstGeom>
          <a:solidFill>
            <a:srgbClr val="EDF8F3"/>
          </a:solidFill>
          <a:ln w="12700">
            <a:solidFill>
              <a:srgbClr val="D7F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13716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63"/>
                </a:solidFill>
              </a:rPr>
              <a:t>Current proven status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93024" y="1664208"/>
            <a:ext cx="29718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B5B48"/>
                </a:solidFill>
              </a:rPr>
              <a:t>PredictionService loads approved bundles, health checks pass, and /predict has already returned HTTP 200 with real prediction responses.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193024" y="2542032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3024" y="25694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VERIFIED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246120"/>
            <a:ext cx="681228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46220" y="3474720"/>
            <a:ext cx="0" cy="2057400"/>
          </a:xfrm>
          <a:prstGeom prst="line">
            <a:avLst/>
          </a:prstGeom>
          <a:noFill/>
          <a:ln w="12700">
            <a:solidFill>
              <a:srgbClr val="D7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392424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Current strongest story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10812" y="3392424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Most important caveats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657600"/>
            <a:ext cx="308610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Project has moved beyond experimentation into an end-to-end ML system with separated training and serving services.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For the currently served MDF1 bundles, Random Forest remains the strongest practical choice for density and bending (~0.69 test R²).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Across the broader five-target baseline set, surface soundness and density are the most deployment-ready candidates.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10812" y="3657600"/>
            <a:ext cx="308610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Dataset is still relatively small after cleaning (486 usable rows).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Some metrics differ between project-wide summaries and currently served bundles, so reporting needs one agreed reference view.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</a:t>
            </a:r>
            <a:r>
              <a:rPr lang="en-US" sz="1100" i="1" dirty="0">
                <a:solidFill>
                  <a:srgbClr val="5F7388"/>
                </a:solidFill>
              </a:rPr>
              <a:t>API hardening, packaging, monitoring, and release hygiene are still open before calling the system production-ready.</a:t>
            </a:r>
            <a:endParaRPr lang="en-US" sz="1100" i="1" dirty="0"/>
          </a:p>
        </p:txBody>
      </p:sp>
      <p:sp>
        <p:nvSpPr>
          <p:cNvPr id="24" name="Shape 22"/>
          <p:cNvSpPr/>
          <p:nvPr/>
        </p:nvSpPr>
        <p:spPr>
          <a:xfrm>
            <a:off x="7680960" y="324612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3246120"/>
            <a:ext cx="73152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45552" y="33832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Served density RF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45552" y="36301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A"/>
                </a:solidFill>
              </a:rPr>
              <a:t>R² 0.6905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845552" y="399592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labDensityAverage_rf_v1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555480" y="324612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55480" y="3246120"/>
            <a:ext cx="73152" cy="1005840"/>
          </a:xfrm>
          <a:prstGeom prst="rect">
            <a:avLst/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20072" y="33832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Served bending RF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720072" y="36301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A"/>
                </a:solidFill>
              </a:rPr>
              <a:t>R² 0.6923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720072" y="399592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labBendingAvg_rf_v1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680960" y="4407408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0" y="4407408"/>
            <a:ext cx="73152" cy="1005840"/>
          </a:xfrm>
          <a:prstGeom prst="rect">
            <a:avLst/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45552" y="4544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Best 5-target RF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45552" y="47914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A"/>
                </a:solidFill>
              </a:rPr>
              <a:t>R² 0.7578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845552" y="5157216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labSurfaceSoundnessAvg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555480" y="4407408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55480" y="4407408"/>
            <a:ext cx="73152" cy="100584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20072" y="4544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Time range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56064" y="4787973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Aug 2025 – Mar 2026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720072" y="5157216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baseProductionDate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zero to now: project journey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matured through several concrete engineering steps, not a single model-training event.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3063240"/>
            <a:ext cx="10241280" cy="0"/>
          </a:xfrm>
          <a:prstGeom prst="line">
            <a:avLst/>
          </a:prstGeom>
          <a:noFill/>
          <a:ln w="12700">
            <a:solidFill>
              <a:srgbClr val="8FBD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88920"/>
            <a:ext cx="548640" cy="548640"/>
          </a:xfrm>
          <a:prstGeom prst="ellipse">
            <a:avLst/>
          </a:prstGeom>
          <a:solidFill>
            <a:srgbClr val="D65A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520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</a:rPr>
              <a:t>1. Schema reality check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397764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F7388"/>
                </a:solidFill>
              </a:rPr>
              <a:t>Initial runs exposed schema mismatch issues and missing required columns.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868680" y="2231136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D65A59"/>
          </a:solidFill>
          <a:ln w="12700">
            <a:solidFill>
              <a:srgbClr val="D65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58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EARLY START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0" y="2788920"/>
            <a:ext cx="548640" cy="5486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3520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</a:rPr>
              <a:t>2. Clean MDF1 base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61488" y="397764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F7388"/>
                </a:solidFill>
              </a:rPr>
              <a:t>Raw KSoft data was validated and reduced to 486 usable rows.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971800" y="2231136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8507" y="2272284"/>
            <a:ext cx="7666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FOUNDATION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20640" y="2788920"/>
            <a:ext cx="548640" cy="548640"/>
          </a:xfrm>
          <a:prstGeom prst="ellipse">
            <a:avLst/>
          </a:prstGeom>
          <a:solidFill>
            <a:srgbClr val="1FB5A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520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</a:rPr>
              <a:t>3. Engineer process signals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64608" y="397764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60" dirty="0" smtClean="0">
                <a:solidFill>
                  <a:srgbClr val="5F7388"/>
                </a:solidFill>
              </a:rPr>
              <a:t>28 </a:t>
            </a:r>
            <a:r>
              <a:rPr lang="en-US" sz="960" dirty="0">
                <a:solidFill>
                  <a:srgbClr val="5F7388"/>
                </a:solidFill>
              </a:rPr>
              <a:t>aggregated features were added for pressure, temperature and thickness behavior.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074920" y="2231136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258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SIGNAL DESIGN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23760" y="2788920"/>
            <a:ext cx="548640" cy="548640"/>
          </a:xfrm>
          <a:prstGeom prst="ellipse">
            <a:avLst/>
          </a:prstGeom>
          <a:solidFill>
            <a:srgbClr val="F0A0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20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</a:rPr>
              <a:t>4. Stabilize modeling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67728" y="397764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F7388"/>
                </a:solidFill>
              </a:rPr>
              <a:t>Bad feature selections and feature-importance errors were filtered out; time-based training became repeatable.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178040" y="2231136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2258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PIPELINE FIXES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26880" y="2788920"/>
            <a:ext cx="548640" cy="548640"/>
          </a:xfrm>
          <a:prstGeom prst="ellipse">
            <a:avLst/>
          </a:prstGeom>
          <a:solidFill>
            <a:srgbClr val="1E9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3520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</a:rPr>
              <a:t>5. Systemize serving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70848" y="397764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F7388"/>
                </a:solidFill>
              </a:rPr>
              <a:t>TrainingService artifacts now feed a separate PredictionService with live REST predictions.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9281160" y="2231136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81160" y="2258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CURRENT STATE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7240" y="1234440"/>
            <a:ext cx="3200400" cy="713232"/>
          </a:xfrm>
          <a:prstGeom prst="roundRect">
            <a:avLst>
              <a:gd name="adj" fmla="val 6410"/>
            </a:avLst>
          </a:prstGeom>
          <a:solidFill>
            <a:srgbClr val="FFF5F5"/>
          </a:solidFill>
          <a:ln w="12700">
            <a:solidFill>
              <a:srgbClr val="F2D4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1426464"/>
            <a:ext cx="28803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A3A3A"/>
                </a:solidFill>
              </a:rPr>
              <a:t>Early friction was real: schema mismatches, unusable fields, and unstable prototype outputs had to be solved before reliable baseline reporting was possible.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79392" y="1234440"/>
            <a:ext cx="2926080" cy="713232"/>
          </a:xfrm>
          <a:prstGeom prst="roundRect">
            <a:avLst>
              <a:gd name="adj" fmla="val 6410"/>
            </a:avLst>
          </a:prstGeom>
          <a:solidFill>
            <a:srgbClr val="F1FAF8"/>
          </a:solidFill>
          <a:ln w="12700">
            <a:solidFill>
              <a:srgbClr val="D4EF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43984" y="1426464"/>
            <a:ext cx="261518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75D57"/>
                </a:solidFill>
              </a:rPr>
              <a:t>The big shift was moving from “can a model train?” to “can the whole system train, save, load, and predict safely?”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52360" y="1234440"/>
            <a:ext cx="3703320" cy="713232"/>
          </a:xfrm>
          <a:prstGeom prst="roundRect">
            <a:avLst>
              <a:gd name="adj" fmla="val 6410"/>
            </a:avLst>
          </a:prstGeom>
          <a:solidFill>
            <a:srgbClr val="EEF5FD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16952" y="1426464"/>
            <a:ext cx="340156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324A"/>
                </a:solidFill>
              </a:rPr>
              <a:t>By the latest reviewed state, the project supports governed artifacts, model listing, and live API inference—clear evidence of an operational ML product direction.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41248" y="5285232"/>
            <a:ext cx="109270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551383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6324A"/>
                </a:solidFill>
              </a:rPr>
              <a:t>Narrative for stakeholders: the MDF1 work should be presented as a staged engineering journey—schema fixing → data governance → feature design → </a:t>
            </a:r>
            <a:endParaRPr lang="en-US" sz="1120" dirty="0" smtClean="0">
              <a:solidFill>
                <a:srgbClr val="16324A"/>
              </a:solidFill>
            </a:endParaRPr>
          </a:p>
          <a:p>
            <a:pPr marL="0" indent="0">
              <a:buNone/>
            </a:pPr>
            <a:r>
              <a:rPr lang="en-US" sz="1120" dirty="0" smtClean="0">
                <a:solidFill>
                  <a:srgbClr val="16324A"/>
                </a:solidFill>
              </a:rPr>
              <a:t>baseline </a:t>
            </a:r>
            <a:r>
              <a:rPr lang="en-US" sz="1120" dirty="0">
                <a:solidFill>
                  <a:srgbClr val="16324A"/>
                </a:solidFill>
              </a:rPr>
              <a:t>benchmarking → artifact governance → live prediction service.</a:t>
            </a:r>
            <a:endParaRPr lang="en-US" sz="11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foundation and preparation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79" y="804672"/>
            <a:ext cx="73593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signal base comes from KSoft production data and becomes much smaller—but much more usable—after cleaning.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73152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Raw 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3,128 rows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1984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1,165 columns from KSoft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325880"/>
            <a:ext cx="73152" cy="914400"/>
          </a:xfrm>
          <a:prstGeom prst="rect">
            <a:avLst/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072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After cleaning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6207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486 rows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62072" y="1984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1,164 columns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325880"/>
            <a:ext cx="73152" cy="91440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Time coverage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7375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Aug 2025 – Mar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1984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baseProductionDate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0840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1325880"/>
            <a:ext cx="73152" cy="9144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Engineered features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8543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26 added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85432" y="1984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pressure / temp / thickness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732520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32520" y="1325880"/>
            <a:ext cx="73152" cy="914400"/>
          </a:xfrm>
          <a:prstGeom prst="rect">
            <a:avLst/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97112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Candidate model set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9711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28 features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97112" y="1984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usable numeric features in latest runs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Data reduction story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41248" y="2980944"/>
            <a:ext cx="3657600" cy="457200"/>
          </a:xfrm>
          <a:prstGeom prst="chevron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30815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</a:rPr>
              <a:t>Raw KSoft extract — 3,128 rows / 1,165 cols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115568" y="3529584"/>
            <a:ext cx="3108960" cy="457200"/>
          </a:xfrm>
          <a:prstGeom prst="chevron">
            <a:avLst/>
          </a:prstGeom>
          <a:solidFill>
            <a:srgbClr val="CFE7F7"/>
          </a:solidFill>
          <a:ln w="12700">
            <a:solidFill>
              <a:srgbClr val="CFE7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0160" y="36301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</a:rPr>
              <a:t>Validation + schema checks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389888" y="4078224"/>
            <a:ext cx="2560320" cy="457200"/>
          </a:xfrm>
          <a:prstGeom prst="chevron">
            <a:avLst/>
          </a:prstGeom>
          <a:solidFill>
            <a:srgbClr val="C8EFE9"/>
          </a:solidFill>
          <a:ln w="12700">
            <a:solidFill>
              <a:srgbClr val="C8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41788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</a:rPr>
              <a:t>Cleaning + high-missing removal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691640" y="4626864"/>
            <a:ext cx="2011680" cy="457200"/>
          </a:xfrm>
          <a:prstGeom prst="chevron">
            <a:avLst/>
          </a:prstGeom>
          <a:solidFill>
            <a:srgbClr val="C8F0D9"/>
          </a:solidFill>
          <a:ln w="12700">
            <a:solidFill>
              <a:srgbClr val="C8F0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0" y="47274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4735"/>
                </a:solidFill>
              </a:rPr>
              <a:t>Usable MDF1 training base — 486 rows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00600" y="2651760"/>
            <a:ext cx="676656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2871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What this means analytically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10912" y="3200400"/>
            <a:ext cx="617220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Data volume is not large, so split strategy and leakage control matter more than brute-force model complexity.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Cleaning removed at least one high-missing feature (operFibresDensity), improving reliability of the modeling base.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The remaining dataset still spans several months of operations, which supports time-based validation rather than random shuffling.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Final presentation should emphasize that model quality comes from disciplined data curation, not only from algorithm choice.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5010912" y="4919472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49469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TIME-BASED SPLIT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73368" y="4919472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3368" y="49469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SMALL BUT GOVERNED DATASET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47888" y="491947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47888" y="494690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324A"/>
                </a:solidFill>
              </a:rPr>
              <a:t>MANUFACTURING SIGNALS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engineering: turning press behavior into learnable signals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important improvement was converting many raw plant readings into stable, interpretable process summaries.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834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4813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15179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6324A"/>
                </a:solidFill>
              </a:rPr>
              <a:t>Pressure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2331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L / C / R means and stds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Global min / max / range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Front / mid / end means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Front-end difference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087368" y="1325880"/>
            <a:ext cx="2834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33672" y="14813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15179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Temperature </a:t>
            </a:r>
            <a:r>
              <a:rPr lang="en-US" sz="1300" b="1" dirty="0" smtClean="0">
                <a:solidFill>
                  <a:srgbClr val="16324A"/>
                </a:solidFill>
              </a:rPr>
              <a:t>group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15968" y="1920240"/>
            <a:ext cx="2331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Global mean and std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Min / max / range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Thermal state summarization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534656" y="1325880"/>
            <a:ext cx="2834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4813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3024" y="15179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Thickness </a:t>
            </a:r>
            <a:r>
              <a:rPr lang="en-US" sz="1300" b="1" dirty="0" smtClean="0">
                <a:solidFill>
                  <a:srgbClr val="16324A"/>
                </a:solidFill>
              </a:rPr>
              <a:t>group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63256" y="1920240"/>
            <a:ext cx="2331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Closed-thickness mean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Std / min / max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Range as board stability signal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77240" y="3529584"/>
            <a:ext cx="10607040" cy="822960"/>
          </a:xfrm>
          <a:prstGeom prst="roundRect">
            <a:avLst>
              <a:gd name="adj" fmla="val 5556"/>
            </a:avLst>
          </a:prstGeom>
          <a:solidFill>
            <a:srgbClr val="EEF5FD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6576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6324A"/>
                </a:solidFill>
              </a:rPr>
              <a:t>Why these engineered features matter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3127248" y="37307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They reduce noisy point-level readings into process-shape indicators that are easier to generalize: distribution across the press, thermal regime, thickness stability, and cross-zone balance.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987552" y="4645152"/>
            <a:ext cx="109728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6954" y="4791456"/>
            <a:ext cx="30004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The signal pattern already seen in results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86954" y="5047488"/>
            <a:ext cx="1073804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5F7388"/>
                </a:solidFill>
              </a:rPr>
              <a:t>Across targets, the most stable driver families are raw/thickness variables, aggregated press-pressure variables, and temperature / process-state variables. </a:t>
            </a:r>
            <a:endParaRPr lang="en-US" sz="1090" dirty="0" smtClean="0">
              <a:solidFill>
                <a:srgbClr val="5F7388"/>
              </a:solidFill>
            </a:endParaRPr>
          </a:p>
          <a:p>
            <a:pPr marL="0" indent="0">
              <a:buNone/>
            </a:pPr>
            <a:r>
              <a:rPr lang="en-US" sz="1090" dirty="0" smtClean="0">
                <a:solidFill>
                  <a:srgbClr val="5F7388"/>
                </a:solidFill>
              </a:rPr>
              <a:t>Example </a:t>
            </a:r>
            <a:r>
              <a:rPr lang="en-US" sz="1090" dirty="0">
                <a:solidFill>
                  <a:srgbClr val="5F7388"/>
                </a:solidFill>
              </a:rPr>
              <a:t>top drivers include rawThickness, pressPressureGlobal_mean, pressPressureC_mean, thicknessClosed_mean, pressPressureMid_mean, and pressPressureFrontEnd_diff.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9198443" y="4021991"/>
            <a:ext cx="1559519" cy="292608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26675" y="4041648"/>
            <a:ext cx="17030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26 ENGINEERED FEATURES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860536" y="5559552"/>
            <a:ext cx="2359152" cy="292608"/>
          </a:xfrm>
          <a:prstGeom prst="roundRect">
            <a:avLst>
              <a:gd name="adj" fmla="val 25000"/>
            </a:avLst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91669" y="561441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DRIVER FAMILIES ARE CONSISTENT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evolution and lessons learned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story is stronger when it shows how unstable experiments were converted into a governed baseline.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728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554480"/>
            <a:ext cx="0" cy="1691640"/>
          </a:xfrm>
          <a:prstGeom prst="line">
            <a:avLst/>
          </a:prstGeom>
          <a:noFill/>
          <a:ln w="12700">
            <a:solidFill>
              <a:srgbClr val="D7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721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What went wrong early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91072" y="14721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What changed in the mature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516636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Some first prototype runs selected unusable fields such as abs24h / vkstockProxy variables and produced warnings about features with no observed values.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One early density run failed during feature-importance export because arrays did not match in length.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Another run failed because XGBoost saw a training / feature-name mismatch.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91072" y="1737360"/>
            <a:ext cx="516636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Usable-feature filters were tightened to exclude nonnumeric, all-null, target, leakage-prone, and irrelevant fields.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Time-based splitting and repeatable artifact naming were standardized.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Training now saves governed bundles and the serving layer reads the exact saved feature order.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5074920" cy="1828800"/>
          </a:xfrm>
          <a:prstGeom prst="roundRect">
            <a:avLst>
              <a:gd name="adj" fmla="val 2500"/>
            </a:avLst>
          </a:prstGeom>
          <a:solidFill>
            <a:srgbClr val="FFF8EF"/>
          </a:solidFill>
          <a:ln w="12700">
            <a:solidFill>
              <a:srgbClr val="F3E3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950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5A17"/>
                </a:solidFill>
              </a:rPr>
              <a:t>Key lesson for the presentation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4261104"/>
            <a:ext cx="44348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7D6841"/>
                </a:solidFill>
              </a:rPr>
              <a:t>Show that the team learned to trust the system only after data filters, split logic, and artifact governance were stabilized. This makes the final ~0.69 served performance more credible than flashy but fragile early numbers.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943600" y="3749040"/>
            <a:ext cx="56692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950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Reporting guidance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4242816"/>
            <a:ext cx="45720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Use three layers of results in the deck: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1) early prototype findings (for learning only),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2) project-wide five-target baseline comparison,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3) current served bundles and API-verified system state.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8001000" y="521208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9790" y="5266944"/>
            <a:ext cx="18014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EARLY RUNS ≠ CURRENT STATE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875520" y="521208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5239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GOVERNED BASELINE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777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Project-wide baseline comparison: five quality targets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broader MDF1 baseline view shows that multiple targets are learnable, but not equally ready for rollout.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07</a:t>
            </a:r>
            <a:endParaRPr lang="en-US" sz="900" dirty="0"/>
          </a:p>
        </p:txBody>
      </p:sp>
      <p:pic>
        <p:nvPicPr>
          <p:cNvPr id="5" name="Image 0" descr="/mnt/data/mdf1_assets/rf_r2_targ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14047"/>
            <a:ext cx="5669280" cy="30355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325880"/>
            <a:ext cx="493776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12280" y="15361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Interpretation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12280" y="1847088"/>
            <a:ext cx="42519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Best current five-target baseline: labSurfaceSoundnessAvg (RF R² = 0.7578).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Strong and consistent performers: labDensityAverage (0.7421) and labBendingAvg (0.7274).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labTensileAvg is still respectable at 0.7079.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labEModulAvg is the weakest of the five at 0.6928 and should be refined later.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812279" y="3401568"/>
            <a:ext cx="27111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Recommended deployment order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12280" y="3675888"/>
            <a:ext cx="278892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Phase 1  Surface soundness + Density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Phase 2  Bending + Tensile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Phase 3  E-Modul after more refinement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10012680" y="365760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12680" y="36850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0012680" y="4005072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12680" y="40325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0012680" y="4352544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12680" y="43799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5800" y="5138928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EEF5FD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526694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6324A"/>
                </a:solidFill>
              </a:rPr>
              <a:t>Stakeholder message: MDF1 is not a one-model story. It is a portfolio of learnable quality targets, with density and surface soundness leading the deployment conversation.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served focus: density and bending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two targets already reflected in the reviewed PredictionService state and current artifact bundles.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08</a:t>
            </a:r>
            <a:endParaRPr lang="en-US" sz="900" dirty="0"/>
          </a:p>
        </p:txBody>
      </p:sp>
      <p:pic>
        <p:nvPicPr>
          <p:cNvPr id="5" name="Image 0" descr="/mnt/data/mdf1_assets/algo_compare_density_b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79055"/>
            <a:ext cx="5760720" cy="31512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46304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20840" y="1463040"/>
            <a:ext cx="73152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5432" y="16002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labDensityAverage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85432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RF R² 0.6905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85432" y="2121408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best current served bundle: labDensityAverage_rf_v1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098280" y="146304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098280" y="1463040"/>
            <a:ext cx="73152" cy="914400"/>
          </a:xfrm>
          <a:prstGeom prst="rect">
            <a:avLst/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62872" y="16002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labBendingAvg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262872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RF R² 0.6923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262872" y="2121408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best current served bundle: labBendingAvg_rf_v1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20840" y="2578608"/>
            <a:ext cx="45720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31152" y="27706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A"/>
                </a:solidFill>
              </a:rPr>
              <a:t>Density signal story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931152" y="3054096"/>
            <a:ext cx="4069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Top drivers repeatedly point to board geometry plus aggregated press-pressure behavior: rawThickness, pressPressureGlobal_mean, pressPressureC_mean.</a:t>
            </a:r>
            <a:endParaRPr lang="en-US" sz="1070" dirty="0"/>
          </a:p>
        </p:txBody>
      </p:sp>
      <p:sp>
        <p:nvSpPr>
          <p:cNvPr id="19" name="Shape 16"/>
          <p:cNvSpPr/>
          <p:nvPr/>
        </p:nvSpPr>
        <p:spPr>
          <a:xfrm>
            <a:off x="6720840" y="3767328"/>
            <a:ext cx="45720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31152" y="39593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A"/>
                </a:solidFill>
              </a:rPr>
              <a:t>Bending signal story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931152" y="4242816"/>
            <a:ext cx="4069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Bending performance is strongly linked to thickness stability and mid-press conditions: rawThickness, thicknessClosed_mean, pressPressureMid_mean.</a:t>
            </a:r>
            <a:endParaRPr lang="en-US" sz="1070" dirty="0"/>
          </a:p>
        </p:txBody>
      </p:sp>
      <p:sp>
        <p:nvSpPr>
          <p:cNvPr id="22" name="Shape 19"/>
          <p:cNvSpPr/>
          <p:nvPr/>
        </p:nvSpPr>
        <p:spPr>
          <a:xfrm>
            <a:off x="685800" y="5138928"/>
            <a:ext cx="10972800" cy="621792"/>
          </a:xfrm>
          <a:prstGeom prst="roundRect">
            <a:avLst>
              <a:gd name="adj" fmla="val 7353"/>
            </a:avLst>
          </a:prstGeom>
          <a:solidFill>
            <a:srgbClr val="F1FAF8"/>
          </a:solidFill>
          <a:ln w="12700">
            <a:solidFill>
              <a:srgbClr val="D4EF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5358384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85A54"/>
                </a:solidFill>
              </a:rPr>
              <a:t>Decision point: RF still edges out XGB and LGBM for both currently served targets, so it remains the strongest practical default for the live bundles reviewed here.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advance is separation of offline training from online prediction, with artifact governance in the middle.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40280" y="2788920"/>
            <a:ext cx="1051560" cy="0"/>
          </a:xfrm>
          <a:prstGeom prst="line">
            <a:avLst/>
          </a:prstGeom>
          <a:noFill/>
          <a:ln w="12700">
            <a:solidFill>
              <a:srgbClr val="8FBD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669280" y="2788920"/>
            <a:ext cx="1005840" cy="0"/>
          </a:xfrm>
          <a:prstGeom prst="line">
            <a:avLst/>
          </a:prstGeom>
          <a:noFill/>
          <a:ln w="12700">
            <a:solidFill>
              <a:srgbClr val="8FBD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0" y="2788920"/>
            <a:ext cx="1097280" cy="0"/>
          </a:xfrm>
          <a:prstGeom prst="line">
            <a:avLst/>
          </a:prstGeom>
          <a:noFill/>
          <a:ln w="12700">
            <a:solidFill>
              <a:srgbClr val="8FBD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98080" y="3657600"/>
            <a:ext cx="0" cy="594360"/>
          </a:xfrm>
          <a:prstGeom prst="line">
            <a:avLst/>
          </a:prstGeom>
          <a:noFill/>
          <a:ln w="12700">
            <a:solidFill>
              <a:srgbClr val="A6C9E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2148840"/>
            <a:ext cx="1554480" cy="1234440"/>
          </a:xfrm>
          <a:prstGeom prst="roundRect">
            <a:avLst>
              <a:gd name="adj" fmla="val 4444"/>
            </a:avLst>
          </a:prstGeom>
          <a:solidFill>
            <a:srgbClr val="EEF5FD"/>
          </a:solidFill>
          <a:ln w="12700">
            <a:solidFill>
              <a:srgbClr val="E7EEF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229514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</a:rPr>
              <a:t>KSoft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2569464"/>
            <a:ext cx="12618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raw production signals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+ quality targets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3337560" y="1965960"/>
            <a:ext cx="2331720" cy="1600200"/>
          </a:xfrm>
          <a:prstGeom prst="roundRect">
            <a:avLst>
              <a:gd name="adj" fmla="val 3429"/>
            </a:avLst>
          </a:prstGeom>
          <a:solidFill>
            <a:srgbClr val="EAF7F4"/>
          </a:solidFill>
          <a:ln w="12700">
            <a:solidFill>
              <a:srgbClr val="E7EEF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47288" y="2112264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</a:rPr>
              <a:t>TrainingService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83864" y="2386584"/>
            <a:ext cx="20391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validation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cleaning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engineered features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time-based split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model training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675120" y="1965960"/>
            <a:ext cx="2468880" cy="1600200"/>
          </a:xfrm>
          <a:prstGeom prst="roundRect">
            <a:avLst>
              <a:gd name="adj" fmla="val 3429"/>
            </a:avLst>
          </a:prstGeom>
          <a:solidFill>
            <a:srgbClr val="F3F7FC"/>
          </a:solidFill>
          <a:ln w="12700">
            <a:solidFill>
              <a:srgbClr val="E7EEF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84848" y="2112264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</a:rPr>
              <a:t>Artifact bundles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21424" y="2386584"/>
            <a:ext cx="217627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model.joblib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features.json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metrics.json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metadata.json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RF feature importance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10241280" y="1965960"/>
            <a:ext cx="1472184" cy="1600200"/>
          </a:xfrm>
          <a:prstGeom prst="roundRect">
            <a:avLst>
              <a:gd name="adj" fmla="val 4138"/>
            </a:avLst>
          </a:prstGeom>
          <a:solidFill>
            <a:srgbClr val="EEF5FD"/>
          </a:solidFill>
          <a:ln w="12700">
            <a:solidFill>
              <a:srgbClr val="E7EEF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351008" y="2112264"/>
            <a:ext cx="1293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</a:rPr>
              <a:t>PredictionService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387584" y="2386584"/>
            <a:ext cx="103327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loads approved models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serves REST predictions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6263640" y="434340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F1FAF8"/>
          </a:solidFill>
          <a:ln w="12700">
            <a:solidFill>
              <a:srgbClr val="E7EEF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73368" y="4489704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</a:rPr>
              <a:t>REST interface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9944" y="4764024"/>
            <a:ext cx="21762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/health  /models  /predict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868680" y="5440680"/>
            <a:ext cx="106984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559552"/>
            <a:ext cx="10195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324A"/>
                </a:solidFill>
              </a:rPr>
              <a:t>Most important architecture point for stakeholders: inference is governed by the exact saved feature list, so serving does not depend on ad-hoc request column order.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753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maturity: what is proven, and what still needs hardening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right frame to avoid overselling while still showing clear progress.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7280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554480"/>
            <a:ext cx="0" cy="3154680"/>
          </a:xfrm>
          <a:prstGeom prst="line">
            <a:avLst/>
          </a:prstGeom>
          <a:noFill/>
          <a:ln w="12700">
            <a:solidFill>
              <a:srgbClr val="D7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721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Already proven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91072" y="14721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Still open before production confidence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5166360" cy="3063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Repeatable data preparation and engineered-feature generation exist for MDF1.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At least five quality targets have been benchmarked with consistent Random Forest baselines.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Artifact bundles are structured and readable by a separate PredictionService.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Reviewed logs show /health success and /predict returning HTTP 200 with live predictions.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Density and bending currently have named RF bundles already treated as the active served state.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91072" y="1737360"/>
            <a:ext cx="5166360" cy="3063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Unify reporting so one official metric view is used across one-pagers, comparison sheets, and served bundles.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Harden API behavior further: default model handling, packaging / Docker, and operational monitoring.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Improve repo / release hygiene around unstaged changes, artifact version control, and promotion flow.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Expand post-deployment monitoring: predicted vs actual drift, retraining cadence, and quality feedback loops.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Collect more data to strengthen generalization, especially for lower-ranked targets.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52120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2395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PROVEN VALUE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0" y="521208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52395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NOT YET FULL PRODUCTION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86200" y="526694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5F7388"/>
                </a:solidFill>
              </a:rPr>
              <a:t>Recommended positioning in the presentation: “operational ML system with verified live inference, not yet a fully hardened production platform.”</a:t>
            </a: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roadmap from current state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closing slide should connect the technical status to a pragmatic rollout path.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3337560" cy="2560320"/>
          </a:xfrm>
          <a:prstGeom prst="roundRect">
            <a:avLst>
              <a:gd name="adj" fmla="val 2143"/>
            </a:avLst>
          </a:prstGeom>
          <a:solidFill>
            <a:srgbClr val="DFF4EA"/>
          </a:solidFill>
          <a:ln w="12700">
            <a:solidFill>
              <a:srgbClr val="CBEA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82880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Phase 1 — validate in operations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212848"/>
            <a:ext cx="29535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Deploy / validate the strongest candidate models first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Use surface soundness and density as initial proof cases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Track prediction vs actual and operator trust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53128" y="1600200"/>
            <a:ext cx="3337560" cy="2560320"/>
          </a:xfrm>
          <a:prstGeom prst="roundRect">
            <a:avLst>
              <a:gd name="adj" fmla="val 2143"/>
            </a:avLst>
          </a:prstGeom>
          <a:solidFill>
            <a:srgbClr val="EEF5FD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182880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Phase 2 — extend the portfolio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54296" y="2212848"/>
            <a:ext cx="29535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Roll bending and tensile after Phase 1 learning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Keep the same governed artifact pattern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Standardize dashboard and monitoring outputs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156448" y="1600200"/>
            <a:ext cx="3337560" cy="2560320"/>
          </a:xfrm>
          <a:prstGeom prst="roundRect">
            <a:avLst>
              <a:gd name="adj" fmla="val 2143"/>
            </a:avLst>
          </a:prstGeom>
          <a:solidFill>
            <a:srgbClr val="FFF6EA"/>
          </a:solidFill>
          <a:ln w="12700">
            <a:solidFill>
              <a:srgbClr val="F3E2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7616" y="182880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Phase 3 — industrialize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57616" y="2212848"/>
            <a:ext cx="29535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Refine lower-ranked targets such as E-Modul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Add packaging, release flow, and monitoring automation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Set retraining cadence and model promotion rules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096512" y="2880360"/>
            <a:ext cx="246888" cy="0"/>
          </a:xfrm>
          <a:prstGeom prst="line">
            <a:avLst/>
          </a:prstGeom>
          <a:noFill/>
          <a:ln w="12700">
            <a:solidFill>
              <a:srgbClr val="9DC2E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99832" y="2880360"/>
            <a:ext cx="246888" cy="0"/>
          </a:xfrm>
          <a:prstGeom prst="line">
            <a:avLst/>
          </a:prstGeom>
          <a:noFill/>
          <a:ln w="12700">
            <a:solidFill>
              <a:srgbClr val="9DC2E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7240" y="4645152"/>
            <a:ext cx="107442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Recommended </a:t>
            </a:r>
            <a:endParaRPr lang="en-US" sz="1300" b="1" dirty="0" smtClean="0">
              <a:solidFill>
                <a:srgbClr val="16324A"/>
              </a:solidFill>
            </a:endParaRPr>
          </a:p>
          <a:p>
            <a:pPr marL="0" indent="0">
              <a:buNone/>
            </a:pPr>
            <a:r>
              <a:rPr lang="en-US" sz="1300" b="1" dirty="0" smtClean="0">
                <a:solidFill>
                  <a:srgbClr val="16324A"/>
                </a:solidFill>
              </a:rPr>
              <a:t>closing </a:t>
            </a:r>
            <a:r>
              <a:rPr lang="en-US" sz="1300" b="1" dirty="0">
                <a:solidFill>
                  <a:srgbClr val="16324A"/>
                </a:solidFill>
              </a:rPr>
              <a:t>message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4754880"/>
            <a:ext cx="7452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MDF1 ML has already crossed the most important threshold: it is no longer just a modeling exercise. It is now an end-to-end ML system with credible baselines, governed artifacts, and verified live inference—ready for disciplined rollout.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2026 Revision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Major improvements integrated across TrainingService, PredictionService, GUIService, and PostgreSQL architecture.</a:t>
            </a:r>
          </a:p>
          <a:p>
            <a:r>
              <a:t>TrainingService now includes modular orchestration, centralized settings, explainability, ensemble evaluation, and production-aware validation.</a:t>
            </a:r>
          </a:p>
          <a:p>
            <a:r>
              <a:t>PredictionService supports registry-driven serving, SHAP explanations, feature governance, ensemble prediction, and PostgreSQL traceability.</a:t>
            </a:r>
          </a:p>
          <a:p>
            <a:r>
              <a:t>GUIService evolved into an operator cockpit with simulation workflows, recommendation rendering, and live monitoring.</a:t>
            </a:r>
          </a:p>
          <a:p>
            <a:r>
              <a:t>PostgreSQL logging expanded into a production diagnostic and traceability layer.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Updated 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TrainingService → Artifact Governance → PredictionService → GUIService → PostgreSQL Traceability</a:t>
            </a:r>
          </a:p>
          <a:p>
            <a:r>
              <a:t>TrainingService publishes governed artifact bundles and best_models_registry.json.</a:t>
            </a:r>
          </a:p>
          <a:p>
            <a:r>
              <a:t>PredictionService synchronizes artifacts and exposes prediction APIs.</a:t>
            </a:r>
          </a:p>
          <a:p>
            <a:r>
              <a:t>GUIService provides manual prediction, simulation, monitoring, and explainability workflows.</a:t>
            </a:r>
          </a:p>
          <a:p>
            <a:r>
              <a:t>Prediction logs persist operational diagnostics and prediction history.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Industrial ML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MDF1 ML platform has evolved into a production-oriented industrial AI architecture.</a:t>
            </a:r>
          </a:p>
          <a:p>
            <a:r>
              <a:t>Time-based validation reduces leakage and better simulates real production deployment.</a:t>
            </a:r>
          </a:p>
          <a:p>
            <a:r>
              <a:t>Explainability combines correlation, ML importance, and SHAP scoring.</a:t>
            </a:r>
          </a:p>
          <a:p>
            <a:r>
              <a:t>PredictionService enforces exact feature-order governance during runtime.</a:t>
            </a:r>
          </a:p>
          <a:p>
            <a:r>
              <a:t>Current focus areas include monitoring, drift tracking, operational rollout, and governance.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2636</Words>
  <Application>Microsoft Office PowerPoint</Application>
  <PresentationFormat>Widescreen</PresentationFormat>
  <Paragraphs>285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MDF1 ML Project — From Zero to Current Situation</dc:title>
  <dc:subject>MDF1 ML project review</dc:subject>
  <dc:creator>OpenAI</dc:creator>
  <cp:lastModifiedBy>Azat, Eda</cp:lastModifiedBy>
  <cp:revision>14</cp:revision>
  <dcterms:created xsi:type="dcterms:W3CDTF">2026-04-21T05:34:32Z</dcterms:created>
  <dcterms:modified xsi:type="dcterms:W3CDTF">2026-05-22T08:26:46Z</dcterms:modified>
</cp:coreProperties>
</file>