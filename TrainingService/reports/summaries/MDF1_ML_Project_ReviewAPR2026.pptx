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3" d="100"/>
          <a:sy n="123" d="100"/>
        </p:scale>
        <p:origin x="96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83622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Reviewed project file: MDF1_ML_System_One_Page_Report.docx (build summary, served bundles, API proof)
- Reviewed project file: MLSummary_with_comparison.xlsx (dataset size, 5-target baseline ranking)
- Reviewed project file: MDF1_Deployment_Recommendation.docx (deployment phasing)
- Generated decorative asset in this session: brain_crop2.png, cropped from an AI-generated image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MDF1_ML_System_One_Page_Report.docx: end-to-end system, API endpoints, verified /predict, served density and bending RF bundles
- MDF1_Deployment_Recommendation.docx: project-wide deployment readiness and phasing
- MLSummary_with_comparison.xlsx: five-target RF ranking and deployment focus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Training log excerpts reviewed: early schema mismatch and missing required columns (Pasted text logs from Mar 31 / Apr 1)
- Training log excerpts reviewed: clean dataset, engineered features, repeated baseline training, and Apr 10 multi-algorithm runs
- MDF1_ML_System_One_Page_Report.docx: current separated TrainingService + PredictionService state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MDF1_Density_OnePager.docx: raw dataset 3,128x1,165, cleaned 486 usable rows, time range Aug 2025–Mar 2026
- Training logs reviewed: cleaned data shape 486x1164, dropped high-missing feature operFibresDensity, candidate feature count 28 in latest runs
- MDF1_ML_System_One_Page_Report.docx: time-based split in system description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Training logs reviewed: explicit list of 26 engineered features added (pressure, temperature, thickness aggregations)
- MLSummary_with_comparison.xlsx: stable driver families across targets are raw/thickness, press-pressure, and temperature/process-state
- MDF1_Density_OnePager.docx and deployment recommendation: top-driver examples and process-learning interpretation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Early prototype logs reviewed: warnings on abs24h features, feature-importance export failure, and schema / feature mismatch issues
- Training/code snippets reviewed: _is_usable_feature logic excludes nonnumeric, all-null, target-like, vkstockProxy, and later abs24h fields
- MDF1_ML_System_One_Page_Report.docx: governed bundle concept and serving-time feature alignment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MLSummary_with_comparison.xlsx: five-target RF R² values, driver families, and deployment notes
- MDF1_Deployment_Recommendation.docx: phased rollout recommendation and risk framing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MDF1_ML_System_One_Page_Report.docx: served RF bundles and current test R² for density and bending
- Apr 10 training logs reviewed: density RF/XGB/LGBM comparison and bending RF/XGB/LGBM comparison
- MDF1_Density_OnePager.docx and MLSummary_with_comparison.xlsx: driver interpretation for density and bending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MDF1_ML_System_One_Page_Report.docx: TrainingService + PredictionService separation, artifact contents, endpoints, and feature governance at inference
- Repo / log snippets reviewed: artifact_sync and sync_artifacts utilities, best_models_registry.json, API route and model loader changes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MDF1_ML_System_One_Page_Report.docx: verified live inference, governed artifacts, next recommended API stabilization steps
- MDF1_Deployment_Recommendation.docx: risk considerations, monitoring requirement, phased rollout
- Repo / git-status logs reviewed: open Dockerfile, artifact registry, route, service, and sync utility changes plus working-tree hygiene issues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MDF1_Deployment_Recommendation.docx: phased deployment concept and monitoring / retraining steps
- MDF1_ML_System_One_Page_Report.docx: next recommended API stabilization and packaging steps
- MLSummary_with_comparison.xlsx: freeze baselines, deploy strongest candidates first, continue refinement in parallel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75520" y="6473952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8C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MDF1 ML PROJECT</a:t>
            </a:r>
            <a:endParaRPr lang="en-US" sz="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248817"/>
            <a:ext cx="12191695" cy="6858000"/>
          </a:xfrm>
          <a:prstGeom prst="rect">
            <a:avLst/>
          </a:prstGeom>
          <a:solidFill>
            <a:srgbClr val="081A2B"/>
          </a:solidFill>
          <a:ln w="12700">
            <a:solidFill>
              <a:srgbClr val="081A2B"/>
            </a:solidFill>
            <a:prstDash val="solid"/>
          </a:ln>
        </p:spPr>
      </p:sp>
      <p:pic>
        <p:nvPicPr>
          <p:cNvPr id="3" name="Image 0" descr="/mnt/data/mdf1_assets/brain_crop2.png"/>
          <p:cNvPicPr>
            <a:picLocks noChangeAspect="1"/>
          </p:cNvPicPr>
          <p:nvPr/>
        </p:nvPicPr>
        <p:blipFill>
          <a:blip r:embed="rId3"/>
          <a:srcRect l="10962" r="10962"/>
          <a:stretch/>
        </p:blipFill>
        <p:spPr>
          <a:xfrm>
            <a:off x="6903720" y="274320"/>
            <a:ext cx="5029200" cy="33375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841248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MDF1 ML PROJECT</a:t>
            </a:r>
            <a:endParaRPr lang="en-US" sz="2900" dirty="0"/>
          </a:p>
        </p:txBody>
      </p:sp>
      <p:sp>
        <p:nvSpPr>
          <p:cNvPr id="5" name="Text 2"/>
          <p:cNvSpPr/>
          <p:nvPr/>
        </p:nvSpPr>
        <p:spPr>
          <a:xfrm>
            <a:off x="658368" y="1481328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A7D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zero to current situation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658368" y="1901952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E7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</a:t>
            </a:r>
            <a:r>
              <a:rPr lang="en-US" sz="1300" dirty="0" smtClean="0">
                <a:solidFill>
                  <a:srgbClr val="D8E7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</a:t>
            </a:r>
            <a:r>
              <a:rPr lang="en-US" sz="1300" dirty="0">
                <a:solidFill>
                  <a:srgbClr val="D8E7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 the MDF1 manufacturing ML program, 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58368" y="2743200"/>
            <a:ext cx="2240280" cy="292608"/>
          </a:xfrm>
          <a:prstGeom prst="roundRect">
            <a:avLst>
              <a:gd name="adj" fmla="val 25000"/>
            </a:avLst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80510" y="2811780"/>
            <a:ext cx="2579635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TRAINING + PREDICTION SERVICES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063240" y="2743200"/>
            <a:ext cx="2547568" cy="292608"/>
          </a:xfrm>
          <a:prstGeom prst="roundRect">
            <a:avLst>
              <a:gd name="adj" fmla="val 25000"/>
            </a:avLst>
          </a:prstGeom>
          <a:solidFill>
            <a:srgbClr val="1FB5A9"/>
          </a:solidFill>
          <a:ln w="12700">
            <a:solidFill>
              <a:srgbClr val="1FB5A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063240" y="2770632"/>
            <a:ext cx="2712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CURRENTLY SERVED: DENSITY + BENDING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40080" y="4800600"/>
            <a:ext cx="10972800" cy="1234440"/>
          </a:xfrm>
          <a:prstGeom prst="roundRect">
            <a:avLst>
              <a:gd name="adj" fmla="val 3704"/>
            </a:avLst>
          </a:prstGeom>
          <a:solidFill>
            <a:srgbClr val="0C243C">
              <a:alpha val="88000"/>
            </a:srgbClr>
          </a:solidFill>
          <a:ln w="12700">
            <a:solidFill>
              <a:srgbClr val="2B4B6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14400" y="5047488"/>
            <a:ext cx="1828800" cy="731520"/>
          </a:xfrm>
          <a:prstGeom prst="roundRect">
            <a:avLst>
              <a:gd name="adj" fmla="val 6250"/>
            </a:avLst>
          </a:prstGeom>
          <a:solidFill>
            <a:srgbClr val="102943"/>
          </a:solidFill>
          <a:ln w="12700">
            <a:solidFill>
              <a:srgbClr val="2B4B6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14400" y="5047488"/>
            <a:ext cx="54864" cy="73152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42416" y="5157216"/>
            <a:ext cx="15910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870" b="1" dirty="0">
                <a:solidFill>
                  <a:srgbClr val="8FB1CD"/>
                </a:solidFill>
              </a:rPr>
              <a:t>Raw dataset</a:t>
            </a:r>
            <a:endParaRPr lang="en-US" sz="870" dirty="0"/>
          </a:p>
        </p:txBody>
      </p:sp>
      <p:sp>
        <p:nvSpPr>
          <p:cNvPr id="15" name="Text 12"/>
          <p:cNvSpPr/>
          <p:nvPr/>
        </p:nvSpPr>
        <p:spPr>
          <a:xfrm>
            <a:off x="1042416" y="5340096"/>
            <a:ext cx="1591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</a:rPr>
              <a:t>3,128 × 1,165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1042416" y="5559552"/>
            <a:ext cx="15910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8FB1CD"/>
                </a:solidFill>
              </a:rPr>
              <a:t>KSoft source data</a:t>
            </a:r>
            <a:endParaRPr lang="en-US" sz="770" dirty="0"/>
          </a:p>
        </p:txBody>
      </p:sp>
      <p:sp>
        <p:nvSpPr>
          <p:cNvPr id="17" name="Shape 14"/>
          <p:cNvSpPr/>
          <p:nvPr/>
        </p:nvSpPr>
        <p:spPr>
          <a:xfrm>
            <a:off x="2880360" y="5047488"/>
            <a:ext cx="1828800" cy="731520"/>
          </a:xfrm>
          <a:prstGeom prst="roundRect">
            <a:avLst>
              <a:gd name="adj" fmla="val 6250"/>
            </a:avLst>
          </a:prstGeom>
          <a:solidFill>
            <a:srgbClr val="102943"/>
          </a:solidFill>
          <a:ln w="12700">
            <a:solidFill>
              <a:srgbClr val="2B4B6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880360" y="5047488"/>
            <a:ext cx="54864" cy="731520"/>
          </a:xfrm>
          <a:prstGeom prst="rect">
            <a:avLst/>
          </a:prstGeom>
          <a:solidFill>
            <a:srgbClr val="1FB5A9"/>
          </a:solidFill>
          <a:ln w="12700">
            <a:solidFill>
              <a:srgbClr val="1FB5A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008376" y="5157216"/>
            <a:ext cx="15910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870" b="1" dirty="0">
                <a:solidFill>
                  <a:srgbClr val="8FB1CD"/>
                </a:solidFill>
              </a:rPr>
              <a:t>Clean usable rows</a:t>
            </a:r>
            <a:endParaRPr lang="en-US" sz="870" dirty="0"/>
          </a:p>
        </p:txBody>
      </p:sp>
      <p:sp>
        <p:nvSpPr>
          <p:cNvPr id="20" name="Text 17"/>
          <p:cNvSpPr/>
          <p:nvPr/>
        </p:nvSpPr>
        <p:spPr>
          <a:xfrm>
            <a:off x="3008376" y="5340096"/>
            <a:ext cx="1591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</a:rPr>
              <a:t>486</a:t>
            </a:r>
            <a:endParaRPr lang="en-US" sz="1650" dirty="0"/>
          </a:p>
        </p:txBody>
      </p:sp>
      <p:sp>
        <p:nvSpPr>
          <p:cNvPr id="21" name="Text 18"/>
          <p:cNvSpPr/>
          <p:nvPr/>
        </p:nvSpPr>
        <p:spPr>
          <a:xfrm>
            <a:off x="3008376" y="5559552"/>
            <a:ext cx="15910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8FB1CD"/>
                </a:solidFill>
              </a:rPr>
              <a:t>after validation + cleaning</a:t>
            </a:r>
            <a:endParaRPr lang="en-US" sz="770" dirty="0"/>
          </a:p>
        </p:txBody>
      </p:sp>
      <p:sp>
        <p:nvSpPr>
          <p:cNvPr id="22" name="Shape 19"/>
          <p:cNvSpPr/>
          <p:nvPr/>
        </p:nvSpPr>
        <p:spPr>
          <a:xfrm>
            <a:off x="4846320" y="5047488"/>
            <a:ext cx="1828800" cy="731520"/>
          </a:xfrm>
          <a:prstGeom prst="roundRect">
            <a:avLst>
              <a:gd name="adj" fmla="val 6250"/>
            </a:avLst>
          </a:prstGeom>
          <a:solidFill>
            <a:srgbClr val="102943"/>
          </a:solidFill>
          <a:ln w="12700">
            <a:solidFill>
              <a:srgbClr val="2B4B68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846320" y="5047488"/>
            <a:ext cx="54864" cy="731520"/>
          </a:xfrm>
          <a:prstGeom prst="rect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974336" y="5157216"/>
            <a:ext cx="15910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870" b="1" dirty="0">
                <a:solidFill>
                  <a:srgbClr val="8FB1CD"/>
                </a:solidFill>
              </a:rPr>
              <a:t>Engineered features</a:t>
            </a:r>
            <a:endParaRPr lang="en-US" sz="870" dirty="0"/>
          </a:p>
        </p:txBody>
      </p:sp>
      <p:sp>
        <p:nvSpPr>
          <p:cNvPr id="25" name="Text 22"/>
          <p:cNvSpPr/>
          <p:nvPr/>
        </p:nvSpPr>
        <p:spPr>
          <a:xfrm>
            <a:off x="4974336" y="5340096"/>
            <a:ext cx="1591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650" b="1" dirty="0" smtClean="0">
                <a:solidFill>
                  <a:srgbClr val="FFFFFF"/>
                </a:solidFill>
              </a:rPr>
              <a:t>28</a:t>
            </a:r>
            <a:endParaRPr lang="en-US" sz="1650" dirty="0"/>
          </a:p>
        </p:txBody>
      </p:sp>
      <p:sp>
        <p:nvSpPr>
          <p:cNvPr id="26" name="Text 23"/>
          <p:cNvSpPr/>
          <p:nvPr/>
        </p:nvSpPr>
        <p:spPr>
          <a:xfrm>
            <a:off x="4974336" y="5559552"/>
            <a:ext cx="15910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8FB1CD"/>
                </a:solidFill>
              </a:rPr>
              <a:t>pressure / temp / thickness</a:t>
            </a:r>
            <a:endParaRPr lang="en-US" sz="770" dirty="0"/>
          </a:p>
        </p:txBody>
      </p:sp>
      <p:sp>
        <p:nvSpPr>
          <p:cNvPr id="27" name="Shape 24"/>
          <p:cNvSpPr/>
          <p:nvPr/>
        </p:nvSpPr>
        <p:spPr>
          <a:xfrm>
            <a:off x="6812280" y="5047488"/>
            <a:ext cx="1828800" cy="731520"/>
          </a:xfrm>
          <a:prstGeom prst="roundRect">
            <a:avLst>
              <a:gd name="adj" fmla="val 6250"/>
            </a:avLst>
          </a:prstGeom>
          <a:solidFill>
            <a:srgbClr val="102943"/>
          </a:solidFill>
          <a:ln w="12700">
            <a:solidFill>
              <a:srgbClr val="2B4B68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812280" y="5047488"/>
            <a:ext cx="54864" cy="731520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940296" y="5157216"/>
            <a:ext cx="15910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870" b="1" dirty="0">
                <a:solidFill>
                  <a:srgbClr val="8FB1CD"/>
                </a:solidFill>
              </a:rPr>
              <a:t>Served model R²</a:t>
            </a:r>
            <a:endParaRPr lang="en-US" sz="870" dirty="0"/>
          </a:p>
        </p:txBody>
      </p:sp>
      <p:sp>
        <p:nvSpPr>
          <p:cNvPr id="30" name="Text 27"/>
          <p:cNvSpPr/>
          <p:nvPr/>
        </p:nvSpPr>
        <p:spPr>
          <a:xfrm>
            <a:off x="6940296" y="5340096"/>
            <a:ext cx="1591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</a:rPr>
              <a:t>~0.69</a:t>
            </a:r>
            <a:endParaRPr lang="en-US" sz="1650" dirty="0"/>
          </a:p>
        </p:txBody>
      </p:sp>
      <p:sp>
        <p:nvSpPr>
          <p:cNvPr id="31" name="Text 28"/>
          <p:cNvSpPr/>
          <p:nvPr/>
        </p:nvSpPr>
        <p:spPr>
          <a:xfrm>
            <a:off x="6940296" y="5559552"/>
            <a:ext cx="15910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8FB1CD"/>
                </a:solidFill>
              </a:rPr>
              <a:t>density &amp; bending RF bundles</a:t>
            </a:r>
            <a:endParaRPr lang="en-US" sz="770" dirty="0"/>
          </a:p>
        </p:txBody>
      </p:sp>
      <p:sp>
        <p:nvSpPr>
          <p:cNvPr id="32" name="Shape 29"/>
          <p:cNvSpPr/>
          <p:nvPr/>
        </p:nvSpPr>
        <p:spPr>
          <a:xfrm>
            <a:off x="8778240" y="5047488"/>
            <a:ext cx="1828800" cy="731520"/>
          </a:xfrm>
          <a:prstGeom prst="roundRect">
            <a:avLst>
              <a:gd name="adj" fmla="val 6250"/>
            </a:avLst>
          </a:prstGeom>
          <a:solidFill>
            <a:srgbClr val="102943"/>
          </a:solidFill>
          <a:ln w="12700">
            <a:solidFill>
              <a:srgbClr val="2B4B68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8778240" y="5047488"/>
            <a:ext cx="54864" cy="731520"/>
          </a:xfrm>
          <a:prstGeom prst="rect">
            <a:avLst/>
          </a:prstGeom>
          <a:solidFill>
            <a:srgbClr val="1E9E63"/>
          </a:solidFill>
          <a:ln w="12700">
            <a:solidFill>
              <a:srgbClr val="1E9E63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906256" y="5157216"/>
            <a:ext cx="15910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870" b="1" dirty="0">
                <a:solidFill>
                  <a:srgbClr val="8FB1CD"/>
                </a:solidFill>
              </a:rPr>
              <a:t>Five-target best RF R²</a:t>
            </a:r>
            <a:endParaRPr lang="en-US" sz="870" dirty="0"/>
          </a:p>
        </p:txBody>
      </p:sp>
      <p:sp>
        <p:nvSpPr>
          <p:cNvPr id="35" name="Text 32"/>
          <p:cNvSpPr/>
          <p:nvPr/>
        </p:nvSpPr>
        <p:spPr>
          <a:xfrm>
            <a:off x="8906256" y="5340096"/>
            <a:ext cx="1591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</a:rPr>
              <a:t>0.758</a:t>
            </a:r>
            <a:endParaRPr lang="en-US" sz="1650" dirty="0"/>
          </a:p>
        </p:txBody>
      </p:sp>
      <p:sp>
        <p:nvSpPr>
          <p:cNvPr id="36" name="Text 33"/>
          <p:cNvSpPr/>
          <p:nvPr/>
        </p:nvSpPr>
        <p:spPr>
          <a:xfrm>
            <a:off x="8906256" y="5559552"/>
            <a:ext cx="15910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8FB1CD"/>
                </a:solidFill>
              </a:rPr>
              <a:t>surface soundness baseline</a:t>
            </a:r>
            <a:endParaRPr lang="en-US" sz="770" dirty="0"/>
          </a:p>
        </p:txBody>
      </p:sp>
      <p:sp>
        <p:nvSpPr>
          <p:cNvPr id="37" name="Text 34"/>
          <p:cNvSpPr/>
          <p:nvPr/>
        </p:nvSpPr>
        <p:spPr>
          <a:xfrm>
            <a:off x="749808" y="6254496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BED4"/>
                </a:solidFill>
              </a:rPr>
              <a:t>Reviewed source base: MDF1 system one-pager, density one-pager, deployment recommendation, comparison workbook, and training / repo logs.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9784080" y="623620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A5BC"/>
                </a:solidFill>
              </a:rPr>
              <a:t>April 2026 review </a:t>
            </a:r>
            <a:r>
              <a:rPr lang="en-US" sz="850" dirty="0" smtClean="0">
                <a:solidFill>
                  <a:srgbClr val="8CA5BC"/>
                </a:solidFill>
              </a:rPr>
              <a:t>check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11247120" y="62179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A5BC"/>
                </a:solidFill>
              </a:rPr>
              <a:t>01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Executive snapshot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7132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73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project is solving, what exists now, and what the current position really is.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1393424" y="25603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A4B5"/>
                </a:solidFill>
              </a:rPr>
              <a:t>02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1188720"/>
            <a:ext cx="3730752" cy="18288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7EE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37160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324A"/>
                </a:solidFill>
              </a:rPr>
              <a:t>Business objective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41248" y="1664208"/>
            <a:ext cx="320040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5F7388"/>
                </a:solidFill>
              </a:rPr>
              <a:t>Predict MDF1 quality targets from KSoft production </a:t>
            </a:r>
            <a:r>
              <a:rPr lang="en-US" sz="1120" dirty="0" smtClean="0">
                <a:solidFill>
                  <a:srgbClr val="5F7388"/>
                </a:solidFill>
              </a:rPr>
              <a:t>signals so </a:t>
            </a:r>
            <a:r>
              <a:rPr lang="en-US" sz="1120" dirty="0">
                <a:solidFill>
                  <a:srgbClr val="5F7388"/>
                </a:solidFill>
              </a:rPr>
              <a:t>the </a:t>
            </a:r>
            <a:r>
              <a:rPr lang="en-US" sz="1120" dirty="0" smtClean="0">
                <a:solidFill>
                  <a:srgbClr val="5F7388"/>
                </a:solidFill>
              </a:rPr>
              <a:t>organization </a:t>
            </a:r>
            <a:r>
              <a:rPr lang="en-US" sz="1120" dirty="0">
                <a:solidFill>
                  <a:srgbClr val="5F7388"/>
                </a:solidFill>
              </a:rPr>
              <a:t>can move from reactive inspection to earlier, data-driven quality decisions.</a:t>
            </a:r>
            <a:endParaRPr lang="en-US" sz="1120" dirty="0"/>
          </a:p>
        </p:txBody>
      </p:sp>
      <p:sp>
        <p:nvSpPr>
          <p:cNvPr id="8" name="Shape 6"/>
          <p:cNvSpPr/>
          <p:nvPr/>
        </p:nvSpPr>
        <p:spPr>
          <a:xfrm>
            <a:off x="841248" y="2651760"/>
            <a:ext cx="1389888" cy="292608"/>
          </a:xfrm>
          <a:prstGeom prst="roundRect">
            <a:avLst>
              <a:gd name="adj" fmla="val 25000"/>
            </a:avLst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2679192"/>
            <a:ext cx="1389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MANUFACTURING ML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53712" y="1188720"/>
            <a:ext cx="3255264" cy="18288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7EE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79" y="1371600"/>
            <a:ext cx="287756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324A"/>
                </a:solidFill>
              </a:rPr>
              <a:t>What is </a:t>
            </a:r>
            <a:r>
              <a:rPr lang="en-US" sz="1300" b="1" dirty="0" smtClean="0">
                <a:solidFill>
                  <a:srgbClr val="16324A"/>
                </a:solidFill>
              </a:rPr>
              <a:t>built as 1</a:t>
            </a:r>
            <a:r>
              <a:rPr lang="en-US" sz="1300" b="1" baseline="30000" dirty="0" smtClean="0">
                <a:solidFill>
                  <a:srgbClr val="16324A"/>
                </a:solidFill>
              </a:rPr>
              <a:t>st</a:t>
            </a:r>
            <a:r>
              <a:rPr lang="en-US" sz="1300" b="1" dirty="0" smtClean="0">
                <a:solidFill>
                  <a:srgbClr val="16324A"/>
                </a:solidFill>
              </a:rPr>
              <a:t> phase of ML Training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54880" y="1645920"/>
            <a:ext cx="2697480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5F7388"/>
                </a:solidFill>
              </a:rPr>
              <a:t>• Offline training pipeline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5F7388"/>
                </a:solidFill>
              </a:rPr>
              <a:t>• Governed artifact bundles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5F7388"/>
                </a:solidFill>
              </a:rPr>
              <a:t>• FastAPI prediction service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5F7388"/>
                </a:solidFill>
              </a:rPr>
              <a:t>• /health, /models and /predict endpoints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5F7388"/>
                </a:solidFill>
              </a:rPr>
              <a:t>• Feature-order alignment at inference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7991856" y="1188720"/>
            <a:ext cx="3547872" cy="1828800"/>
          </a:xfrm>
          <a:prstGeom prst="roundRect">
            <a:avLst>
              <a:gd name="adj" fmla="val 2500"/>
            </a:avLst>
          </a:prstGeom>
          <a:solidFill>
            <a:srgbClr val="EDF8F3"/>
          </a:solidFill>
          <a:ln w="12700">
            <a:solidFill>
              <a:srgbClr val="D7F0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93024" y="137160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9E63"/>
                </a:solidFill>
              </a:rPr>
              <a:t>Current proven status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193024" y="1664208"/>
            <a:ext cx="2971800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2B5B48"/>
                </a:solidFill>
              </a:rPr>
              <a:t>PredictionService loads approved bundles, health checks pass, and /predict has already returned HTTP 200 with real prediction responses.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8193024" y="2542032"/>
            <a:ext cx="822960" cy="292608"/>
          </a:xfrm>
          <a:prstGeom prst="roundRect">
            <a:avLst>
              <a:gd name="adj" fmla="val 25000"/>
            </a:avLst>
          </a:prstGeom>
          <a:solidFill>
            <a:srgbClr val="1E9E63"/>
          </a:solidFill>
          <a:ln w="12700">
            <a:solidFill>
              <a:srgbClr val="1E9E6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93024" y="2569464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VERIFIED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40080" y="3246120"/>
            <a:ext cx="6812280" cy="251460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E7EE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046220" y="3474720"/>
            <a:ext cx="0" cy="2057400"/>
          </a:xfrm>
          <a:prstGeom prst="line">
            <a:avLst/>
          </a:prstGeom>
          <a:noFill/>
          <a:ln w="12700">
            <a:solidFill>
              <a:srgbClr val="D7E2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1248" y="3392424"/>
            <a:ext cx="30861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324A"/>
                </a:solidFill>
              </a:rPr>
              <a:t>Current strongest story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210812" y="3392424"/>
            <a:ext cx="30861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324A"/>
                </a:solidFill>
              </a:rPr>
              <a:t>Most important caveats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41248" y="3657600"/>
            <a:ext cx="3086100" cy="1965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F7388"/>
                </a:solidFill>
              </a:rPr>
              <a:t>• Project has moved beyond experimentation into an end-to-end ML system with separated training and serving services.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F7388"/>
                </a:solidFill>
              </a:rPr>
              <a:t>• For the currently served MDF1 bundles, Random Forest remains the strongest practical choice for density and bending (~0.69 test R²).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F7388"/>
                </a:solidFill>
              </a:rPr>
              <a:t>• Across the broader five-target baseline set, surface soundness and density are the most deployment-ready candidates.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210812" y="3657600"/>
            <a:ext cx="3086100" cy="1965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F7388"/>
                </a:solidFill>
              </a:rPr>
              <a:t>• Dataset is still relatively small after cleaning (486 usable rows).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F7388"/>
                </a:solidFill>
              </a:rPr>
              <a:t>• Some metrics differ between project-wide summaries and currently served bundles, so reporting needs one agreed reference view.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F7388"/>
                </a:solidFill>
              </a:rPr>
              <a:t>• </a:t>
            </a:r>
            <a:r>
              <a:rPr lang="en-US" sz="1100" i="1" dirty="0">
                <a:solidFill>
                  <a:srgbClr val="5F7388"/>
                </a:solidFill>
              </a:rPr>
              <a:t>API hardening, packaging, monitoring, and release hygiene are still open before calling the system production-ready.</a:t>
            </a:r>
            <a:endParaRPr lang="en-US" sz="1100" i="1" dirty="0"/>
          </a:p>
        </p:txBody>
      </p:sp>
      <p:sp>
        <p:nvSpPr>
          <p:cNvPr id="24" name="Shape 22"/>
          <p:cNvSpPr/>
          <p:nvPr/>
        </p:nvSpPr>
        <p:spPr>
          <a:xfrm>
            <a:off x="7680960" y="3246120"/>
            <a:ext cx="178308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7EE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680960" y="3246120"/>
            <a:ext cx="73152" cy="100584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845552" y="338328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F7388"/>
                </a:solidFill>
              </a:rPr>
              <a:t>Served density RF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845552" y="363016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6324A"/>
                </a:solidFill>
              </a:rPr>
              <a:t>R² 0.6905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845552" y="3995928"/>
            <a:ext cx="1527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A4B5"/>
                </a:solidFill>
              </a:rPr>
              <a:t>labDensityAverage_rf_v1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9555480" y="3246120"/>
            <a:ext cx="178308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7EEF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555480" y="3246120"/>
            <a:ext cx="73152" cy="1005840"/>
          </a:xfrm>
          <a:prstGeom prst="rect">
            <a:avLst/>
          </a:prstGeom>
          <a:solidFill>
            <a:srgbClr val="1FB5A9"/>
          </a:solidFill>
          <a:ln w="12700">
            <a:solidFill>
              <a:srgbClr val="1FB5A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720072" y="338328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F7388"/>
                </a:solidFill>
              </a:rPr>
              <a:t>Served bending RF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720072" y="363016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6324A"/>
                </a:solidFill>
              </a:rPr>
              <a:t>R² 0.6923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9720072" y="3995928"/>
            <a:ext cx="1527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A4B5"/>
                </a:solidFill>
              </a:rPr>
              <a:t>labBendingAvg_rf_v1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680960" y="4407408"/>
            <a:ext cx="178308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7EEF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680960" y="4407408"/>
            <a:ext cx="73152" cy="1005840"/>
          </a:xfrm>
          <a:prstGeom prst="rect">
            <a:avLst/>
          </a:prstGeom>
          <a:solidFill>
            <a:srgbClr val="1E9E63"/>
          </a:solidFill>
          <a:ln w="12700">
            <a:solidFill>
              <a:srgbClr val="1E9E6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845552" y="4544568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F7388"/>
                </a:solidFill>
              </a:rPr>
              <a:t>Best 5-target RF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845552" y="479145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6324A"/>
                </a:solidFill>
              </a:rPr>
              <a:t>R² 0.7578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7845552" y="5157216"/>
            <a:ext cx="1527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A4B5"/>
                </a:solidFill>
              </a:rPr>
              <a:t>labSurfaceSoundnessAvg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9555480" y="4407408"/>
            <a:ext cx="178308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7EEF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555480" y="4407408"/>
            <a:ext cx="73152" cy="1005840"/>
          </a:xfrm>
          <a:prstGeom prst="rect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720072" y="4544568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F7388"/>
                </a:solidFill>
              </a:rPr>
              <a:t>Time range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9656064" y="4787973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A"/>
                </a:solidFill>
              </a:rPr>
              <a:t>Aug 2025 – Mar 2026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9720072" y="5157216"/>
            <a:ext cx="1527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A4B5"/>
                </a:solidFill>
              </a:rPr>
              <a:t>baseProductionDate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zero to now: project journey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7132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73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project matured through several concrete engineering steps, not a single model-training event.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1393424" y="25603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A4B5"/>
                </a:solidFill>
              </a:rPr>
              <a:t>03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14400" y="3063240"/>
            <a:ext cx="10241280" cy="0"/>
          </a:xfrm>
          <a:prstGeom prst="line">
            <a:avLst/>
          </a:prstGeom>
          <a:noFill/>
          <a:ln w="12700">
            <a:solidFill>
              <a:srgbClr val="8FBD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788920"/>
            <a:ext cx="548640" cy="548640"/>
          </a:xfrm>
          <a:prstGeom prst="ellipse">
            <a:avLst/>
          </a:prstGeom>
          <a:solidFill>
            <a:srgbClr val="D65A5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3520440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324A"/>
                </a:solidFill>
              </a:rPr>
              <a:t>1. Schema reality check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58368" y="3977640"/>
            <a:ext cx="192024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960" dirty="0">
                <a:solidFill>
                  <a:srgbClr val="5F7388"/>
                </a:solidFill>
              </a:rPr>
              <a:t>Initial runs exposed schema mismatch issues and missing required columns.</a:t>
            </a:r>
            <a:endParaRPr lang="en-US" sz="960" dirty="0"/>
          </a:p>
        </p:txBody>
      </p:sp>
      <p:sp>
        <p:nvSpPr>
          <p:cNvPr id="9" name="Shape 7"/>
          <p:cNvSpPr/>
          <p:nvPr/>
        </p:nvSpPr>
        <p:spPr>
          <a:xfrm>
            <a:off x="868680" y="2231136"/>
            <a:ext cx="640080" cy="292608"/>
          </a:xfrm>
          <a:prstGeom prst="roundRect">
            <a:avLst>
              <a:gd name="adj" fmla="val 25000"/>
            </a:avLst>
          </a:prstGeom>
          <a:solidFill>
            <a:srgbClr val="D65A59"/>
          </a:solidFill>
          <a:ln w="12700">
            <a:solidFill>
              <a:srgbClr val="D65A5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25856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EARLY START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017520" y="2788920"/>
            <a:ext cx="548640" cy="548640"/>
          </a:xfrm>
          <a:prstGeom prst="ellipse">
            <a:avLst/>
          </a:prstGeom>
          <a:solidFill>
            <a:srgbClr val="1E88E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71800" y="3520440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324A"/>
                </a:solidFill>
              </a:rPr>
              <a:t>2. Clean MDF1 base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761488" y="3977640"/>
            <a:ext cx="192024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960" dirty="0">
                <a:solidFill>
                  <a:srgbClr val="5F7388"/>
                </a:solidFill>
              </a:rPr>
              <a:t>Raw KSoft data was validated and reduced to 486 usable rows.</a:t>
            </a:r>
            <a:endParaRPr lang="en-US" sz="960" dirty="0"/>
          </a:p>
        </p:txBody>
      </p:sp>
      <p:sp>
        <p:nvSpPr>
          <p:cNvPr id="14" name="Shape 12"/>
          <p:cNvSpPr/>
          <p:nvPr/>
        </p:nvSpPr>
        <p:spPr>
          <a:xfrm>
            <a:off x="2971800" y="2231136"/>
            <a:ext cx="640080" cy="292608"/>
          </a:xfrm>
          <a:prstGeom prst="roundRect">
            <a:avLst>
              <a:gd name="adj" fmla="val 25000"/>
            </a:avLst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08507" y="2272284"/>
            <a:ext cx="76666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DATA FOUNDATION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120640" y="2788920"/>
            <a:ext cx="548640" cy="548640"/>
          </a:xfrm>
          <a:prstGeom prst="ellipse">
            <a:avLst/>
          </a:prstGeom>
          <a:solidFill>
            <a:srgbClr val="1FB5A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74920" y="3520440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324A"/>
                </a:solidFill>
              </a:rPr>
              <a:t>3. Engineer process signals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864608" y="3977640"/>
            <a:ext cx="192024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960" dirty="0" smtClean="0">
                <a:solidFill>
                  <a:srgbClr val="5F7388"/>
                </a:solidFill>
              </a:rPr>
              <a:t>28 </a:t>
            </a:r>
            <a:r>
              <a:rPr lang="en-US" sz="960" dirty="0">
                <a:solidFill>
                  <a:srgbClr val="5F7388"/>
                </a:solidFill>
              </a:rPr>
              <a:t>aggregated features were added for pressure, temperature and thickness behavior.</a:t>
            </a:r>
            <a:endParaRPr lang="en-US" sz="960" dirty="0"/>
          </a:p>
        </p:txBody>
      </p:sp>
      <p:sp>
        <p:nvSpPr>
          <p:cNvPr id="19" name="Shape 17"/>
          <p:cNvSpPr/>
          <p:nvPr/>
        </p:nvSpPr>
        <p:spPr>
          <a:xfrm>
            <a:off x="5074920" y="2231136"/>
            <a:ext cx="640080" cy="292608"/>
          </a:xfrm>
          <a:prstGeom prst="roundRect">
            <a:avLst>
              <a:gd name="adj" fmla="val 25000"/>
            </a:avLst>
          </a:prstGeom>
          <a:solidFill>
            <a:srgbClr val="1FB5A9"/>
          </a:solidFill>
          <a:ln w="12700">
            <a:solidFill>
              <a:srgbClr val="1FB5A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74920" y="225856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SIGNAL DESIGN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223760" y="2788920"/>
            <a:ext cx="548640" cy="548640"/>
          </a:xfrm>
          <a:prstGeom prst="ellipse">
            <a:avLst/>
          </a:prstGeom>
          <a:solidFill>
            <a:srgbClr val="F0A02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78040" y="3520440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324A"/>
                </a:solidFill>
              </a:rPr>
              <a:t>4. Stabilize modeling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967728" y="3977640"/>
            <a:ext cx="192024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960" dirty="0">
                <a:solidFill>
                  <a:srgbClr val="5F7388"/>
                </a:solidFill>
              </a:rPr>
              <a:t>Bad feature selections and feature-importance errors were filtered out; time-based training became repeatable.</a:t>
            </a:r>
            <a:endParaRPr lang="en-US" sz="960" dirty="0"/>
          </a:p>
        </p:txBody>
      </p:sp>
      <p:sp>
        <p:nvSpPr>
          <p:cNvPr id="24" name="Shape 22"/>
          <p:cNvSpPr/>
          <p:nvPr/>
        </p:nvSpPr>
        <p:spPr>
          <a:xfrm>
            <a:off x="7178040" y="2231136"/>
            <a:ext cx="640080" cy="292608"/>
          </a:xfrm>
          <a:prstGeom prst="roundRect">
            <a:avLst>
              <a:gd name="adj" fmla="val 25000"/>
            </a:avLst>
          </a:prstGeom>
          <a:solidFill>
            <a:srgbClr val="F0A020"/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78040" y="225856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PIPELINE FIXES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326880" y="2788920"/>
            <a:ext cx="548640" cy="548640"/>
          </a:xfrm>
          <a:prstGeom prst="ellipse">
            <a:avLst/>
          </a:prstGeom>
          <a:solidFill>
            <a:srgbClr val="1E9E6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281160" y="3520440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324A"/>
                </a:solidFill>
              </a:rPr>
              <a:t>5. Systemize serving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070848" y="3977640"/>
            <a:ext cx="192024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960" dirty="0">
                <a:solidFill>
                  <a:srgbClr val="5F7388"/>
                </a:solidFill>
              </a:rPr>
              <a:t>TrainingService artifacts now feed a separate PredictionService with live REST predictions.</a:t>
            </a:r>
            <a:endParaRPr lang="en-US" sz="960" dirty="0"/>
          </a:p>
        </p:txBody>
      </p:sp>
      <p:sp>
        <p:nvSpPr>
          <p:cNvPr id="29" name="Shape 27"/>
          <p:cNvSpPr/>
          <p:nvPr/>
        </p:nvSpPr>
        <p:spPr>
          <a:xfrm>
            <a:off x="9281160" y="2231136"/>
            <a:ext cx="640080" cy="292608"/>
          </a:xfrm>
          <a:prstGeom prst="roundRect">
            <a:avLst>
              <a:gd name="adj" fmla="val 25000"/>
            </a:avLst>
          </a:prstGeom>
          <a:solidFill>
            <a:srgbClr val="1E9E63"/>
          </a:solidFill>
          <a:ln w="12700">
            <a:solidFill>
              <a:srgbClr val="1E9E6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281160" y="225856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CURRENT STATE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777240" y="1234440"/>
            <a:ext cx="3200400" cy="713232"/>
          </a:xfrm>
          <a:prstGeom prst="roundRect">
            <a:avLst>
              <a:gd name="adj" fmla="val 6410"/>
            </a:avLst>
          </a:prstGeom>
          <a:solidFill>
            <a:srgbClr val="FFF5F5"/>
          </a:solidFill>
          <a:ln w="12700">
            <a:solidFill>
              <a:srgbClr val="F2D4D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32688" y="1426464"/>
            <a:ext cx="288036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7A3A3A"/>
                </a:solidFill>
              </a:rPr>
              <a:t>Early friction was real: schema mismatches, unusable fields, and unstable prototype outputs had to be solved before reliable baseline reporting was possible.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279392" y="1234440"/>
            <a:ext cx="2926080" cy="713232"/>
          </a:xfrm>
          <a:prstGeom prst="roundRect">
            <a:avLst>
              <a:gd name="adj" fmla="val 6410"/>
            </a:avLst>
          </a:prstGeom>
          <a:solidFill>
            <a:srgbClr val="F1FAF8"/>
          </a:solidFill>
          <a:ln w="12700">
            <a:solidFill>
              <a:srgbClr val="D4EF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443984" y="1426464"/>
            <a:ext cx="2615184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75D57"/>
                </a:solidFill>
              </a:rPr>
              <a:t>The big shift was moving from “can a model train?” to “can the whole system train, save, load, and predict safely?”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7452360" y="1234440"/>
            <a:ext cx="3703320" cy="713232"/>
          </a:xfrm>
          <a:prstGeom prst="roundRect">
            <a:avLst>
              <a:gd name="adj" fmla="val 6410"/>
            </a:avLst>
          </a:prstGeom>
          <a:solidFill>
            <a:srgbClr val="EEF5FD"/>
          </a:solidFill>
          <a:ln w="12700">
            <a:solidFill>
              <a:srgbClr val="DCE8F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16952" y="1426464"/>
            <a:ext cx="3401568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6324A"/>
                </a:solidFill>
              </a:rPr>
              <a:t>By the latest reviewed state, the project supports governed artifacts, model listing, and live API inference—clear evidence of an operational ML product direction.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841248" y="5285232"/>
            <a:ext cx="1092708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E7EEF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78992" y="5513832"/>
            <a:ext cx="10424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16324A"/>
                </a:solidFill>
              </a:rPr>
              <a:t>Narrative for stakeholders: the MDF1 work should be presented as a staged engineering journey—schema fixing → data governance → feature design → </a:t>
            </a:r>
            <a:endParaRPr lang="en-US" sz="1120" dirty="0" smtClean="0">
              <a:solidFill>
                <a:srgbClr val="16324A"/>
              </a:solidFill>
            </a:endParaRPr>
          </a:p>
          <a:p>
            <a:pPr marL="0" indent="0">
              <a:buNone/>
            </a:pPr>
            <a:r>
              <a:rPr lang="en-US" sz="1120" dirty="0" smtClean="0">
                <a:solidFill>
                  <a:srgbClr val="16324A"/>
                </a:solidFill>
              </a:rPr>
              <a:t>baseline </a:t>
            </a:r>
            <a:r>
              <a:rPr lang="en-US" sz="1120" dirty="0">
                <a:solidFill>
                  <a:srgbClr val="16324A"/>
                </a:solidFill>
              </a:rPr>
              <a:t>benchmarking → artifact governance → live prediction service.</a:t>
            </a:r>
            <a:endParaRPr lang="en-US" sz="112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foundation and preparation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79" y="804672"/>
            <a:ext cx="735936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73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core signal base comes from KSoft production data and becomes much smaller—but much more usable—after cleaning.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1393424" y="25603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A4B5"/>
                </a:solidFill>
              </a:rPr>
              <a:t>04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85800" y="1325880"/>
            <a:ext cx="19202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E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325880"/>
            <a:ext cx="73152" cy="91440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146304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F7388"/>
                </a:solidFill>
              </a:rPr>
              <a:t>Raw source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50392" y="17099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A"/>
                </a:solidFill>
              </a:rPr>
              <a:t>3,128 rows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50392" y="1984248"/>
            <a:ext cx="1664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A4B5"/>
                </a:solidFill>
              </a:rPr>
              <a:t>1,165 columns from KSoft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697480" y="1325880"/>
            <a:ext cx="19202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E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97480" y="1325880"/>
            <a:ext cx="73152" cy="914400"/>
          </a:xfrm>
          <a:prstGeom prst="rect">
            <a:avLst/>
          </a:prstGeom>
          <a:solidFill>
            <a:srgbClr val="1FB5A9"/>
          </a:solidFill>
          <a:ln w="12700">
            <a:solidFill>
              <a:srgbClr val="1FB5A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62072" y="146304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F7388"/>
                </a:solidFill>
              </a:rPr>
              <a:t>After cleaning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862072" y="17099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A"/>
                </a:solidFill>
              </a:rPr>
              <a:t>486 rows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862072" y="1984248"/>
            <a:ext cx="1664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A4B5"/>
                </a:solidFill>
              </a:rPr>
              <a:t>1,164 columns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09160" y="1325880"/>
            <a:ext cx="19202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E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09160" y="1325880"/>
            <a:ext cx="73152" cy="914400"/>
          </a:xfrm>
          <a:prstGeom prst="rect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73752" y="146304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F7388"/>
                </a:solidFill>
              </a:rPr>
              <a:t>Time coverage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73752" y="17099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A"/>
                </a:solidFill>
              </a:rPr>
              <a:t>Aug 2025 – Mar 2026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73752" y="1984248"/>
            <a:ext cx="1664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A4B5"/>
                </a:solidFill>
              </a:rPr>
              <a:t>baseProductionDate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720840" y="1325880"/>
            <a:ext cx="19202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E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20840" y="1325880"/>
            <a:ext cx="73152" cy="914400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85432" y="146304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F7388"/>
                </a:solidFill>
              </a:rPr>
              <a:t>Engineered features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85432" y="17099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A"/>
                </a:solidFill>
              </a:rPr>
              <a:t>26 added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85432" y="1984248"/>
            <a:ext cx="1664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A4B5"/>
                </a:solidFill>
              </a:rPr>
              <a:t>pressure / temp / thickness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8732520" y="1325880"/>
            <a:ext cx="19202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EF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732520" y="1325880"/>
            <a:ext cx="73152" cy="914400"/>
          </a:xfrm>
          <a:prstGeom prst="rect">
            <a:avLst/>
          </a:prstGeom>
          <a:solidFill>
            <a:srgbClr val="1E9E63"/>
          </a:solidFill>
          <a:ln w="12700">
            <a:solidFill>
              <a:srgbClr val="1E9E6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897112" y="146304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F7388"/>
                </a:solidFill>
              </a:rPr>
              <a:t>Candidate model set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897112" y="17099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A"/>
                </a:solidFill>
              </a:rPr>
              <a:t>28 features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897112" y="1984248"/>
            <a:ext cx="1664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A4B5"/>
                </a:solidFill>
              </a:rPr>
              <a:t>usable numeric features in latest runs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49808" y="26517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324A"/>
                </a:solidFill>
              </a:rPr>
              <a:t>Data reduction story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841248" y="2980944"/>
            <a:ext cx="3657600" cy="457200"/>
          </a:xfrm>
          <a:prstGeom prst="chevron">
            <a:avLst/>
          </a:prstGeom>
          <a:solidFill>
            <a:srgbClr val="DCEBFA"/>
          </a:solidFill>
          <a:ln w="12700">
            <a:solidFill>
              <a:srgbClr val="DCEBF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05840" y="3081528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324A"/>
                </a:solidFill>
              </a:rPr>
              <a:t>Raw KSoft extract — 3,128 rows / 1,165 cols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1115568" y="3529584"/>
            <a:ext cx="3108960" cy="457200"/>
          </a:xfrm>
          <a:prstGeom prst="chevron">
            <a:avLst/>
          </a:prstGeom>
          <a:solidFill>
            <a:srgbClr val="CFE7F7"/>
          </a:solidFill>
          <a:ln w="12700">
            <a:solidFill>
              <a:srgbClr val="CFE7F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280160" y="3630168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324A"/>
                </a:solidFill>
              </a:rPr>
              <a:t>Validation + schema checks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1389888" y="4078224"/>
            <a:ext cx="2560320" cy="457200"/>
          </a:xfrm>
          <a:prstGeom prst="chevron">
            <a:avLst/>
          </a:prstGeom>
          <a:solidFill>
            <a:srgbClr val="C8EFE9"/>
          </a:solidFill>
          <a:ln w="12700">
            <a:solidFill>
              <a:srgbClr val="C8EFE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554480" y="417880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324A"/>
                </a:solidFill>
              </a:rPr>
              <a:t>Cleaning + high-missing removal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1691640" y="4626864"/>
            <a:ext cx="2011680" cy="457200"/>
          </a:xfrm>
          <a:prstGeom prst="chevron">
            <a:avLst/>
          </a:prstGeom>
          <a:solidFill>
            <a:srgbClr val="C8F0D9"/>
          </a:solidFill>
          <a:ln w="12700">
            <a:solidFill>
              <a:srgbClr val="C8F0D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828800" y="4727448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84735"/>
                </a:solidFill>
              </a:rPr>
              <a:t>Usable MDF1 training base — 486 rows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800600" y="2651760"/>
            <a:ext cx="6766560" cy="2834640"/>
          </a:xfrm>
          <a:prstGeom prst="roundRect">
            <a:avLst>
              <a:gd name="adj" fmla="val 1613"/>
            </a:avLst>
          </a:prstGeom>
          <a:solidFill>
            <a:srgbClr val="FFFFFF"/>
          </a:solidFill>
          <a:ln w="12700">
            <a:solidFill>
              <a:srgbClr val="E7EEF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10912" y="2871216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324A"/>
                </a:solidFill>
              </a:rPr>
              <a:t>What this means analytically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010912" y="3200400"/>
            <a:ext cx="6172200" cy="1691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5F7388"/>
                </a:solidFill>
              </a:rPr>
              <a:t>• Data volume is not large, so split strategy and leakage control matter more than brute-force model complexity.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5F7388"/>
                </a:solidFill>
              </a:rPr>
              <a:t>• Cleaning removed at least one high-missing feature (operFibresDensity), improving reliability of the modeling base.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5F7388"/>
                </a:solidFill>
              </a:rPr>
              <a:t>• The remaining dataset still spans several months of operations, which supports time-based validation rather than random shuffling.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5F7388"/>
                </a:solidFill>
              </a:rPr>
              <a:t>• Final presentation should emphasize that model quality comes from disciplined data curation, not only from algorithm choice.</a:t>
            </a:r>
            <a:endParaRPr lang="en-US" sz="1080" dirty="0"/>
          </a:p>
        </p:txBody>
      </p:sp>
      <p:sp>
        <p:nvSpPr>
          <p:cNvPr id="42" name="Shape 40"/>
          <p:cNvSpPr/>
          <p:nvPr/>
        </p:nvSpPr>
        <p:spPr>
          <a:xfrm>
            <a:off x="5010912" y="4919472"/>
            <a:ext cx="1234440" cy="292608"/>
          </a:xfrm>
          <a:prstGeom prst="roundRect">
            <a:avLst>
              <a:gd name="adj" fmla="val 25000"/>
            </a:avLst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10912" y="4946904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TIME-BASED SPLIT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373368" y="4919472"/>
            <a:ext cx="1737360" cy="292608"/>
          </a:xfrm>
          <a:prstGeom prst="roundRect">
            <a:avLst>
              <a:gd name="adj" fmla="val 25000"/>
            </a:avLst>
          </a:prstGeom>
          <a:solidFill>
            <a:srgbClr val="1FB5A9"/>
          </a:solidFill>
          <a:ln w="12700">
            <a:solidFill>
              <a:srgbClr val="1FB5A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73368" y="494690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SMALL BUT GOVERNED DATASET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8247888" y="4919472"/>
            <a:ext cx="1417320" cy="292608"/>
          </a:xfrm>
          <a:prstGeom prst="roundRect">
            <a:avLst>
              <a:gd name="adj" fmla="val 25000"/>
            </a:avLst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247888" y="4946904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6324A"/>
                </a:solidFill>
              </a:rPr>
              <a:t>MANUFACTURING SIGNALS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Feature engineering: turning press behavior into learnable signals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7132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73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most important improvement was converting many raw plant readings into stable, interpretable process summaries.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1393424" y="25603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A4B5"/>
                </a:solidFill>
              </a:rPr>
              <a:t>05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283464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E7EE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6384" y="148132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98448" y="1517904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 smtClean="0">
                <a:solidFill>
                  <a:srgbClr val="16324A"/>
                </a:solidFill>
              </a:rPr>
              <a:t>Pressure group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1920240"/>
            <a:ext cx="233172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5F7388"/>
                </a:solidFill>
              </a:rPr>
              <a:t>• L / C / R means and stds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5F7388"/>
                </a:solidFill>
              </a:rPr>
              <a:t>• Global min / max / range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5F7388"/>
                </a:solidFill>
              </a:rPr>
              <a:t>• Front / mid / end means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5F7388"/>
                </a:solidFill>
              </a:rPr>
              <a:t>• Front-end difference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4087368" y="1325880"/>
            <a:ext cx="283464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E7EE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33672" y="148132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FB5A9"/>
          </a:solidFill>
          <a:ln w="12700">
            <a:solidFill>
              <a:srgbClr val="1FB5A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45736" y="1517904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324A"/>
                </a:solidFill>
              </a:rPr>
              <a:t>Temperature </a:t>
            </a:r>
            <a:r>
              <a:rPr lang="en-US" sz="1300" b="1" dirty="0" smtClean="0">
                <a:solidFill>
                  <a:srgbClr val="16324A"/>
                </a:solidFill>
              </a:rPr>
              <a:t>group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315968" y="1920240"/>
            <a:ext cx="233172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5F7388"/>
                </a:solidFill>
              </a:rPr>
              <a:t>• Global mean and std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5F7388"/>
                </a:solidFill>
              </a:rPr>
              <a:t>• Min / max / range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5F7388"/>
                </a:solidFill>
              </a:rPr>
              <a:t>• Thermal state summarization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7534656" y="1325880"/>
            <a:ext cx="283464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E7EE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680960" y="148132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93024" y="1517904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324A"/>
                </a:solidFill>
              </a:rPr>
              <a:t>Thickness </a:t>
            </a:r>
            <a:r>
              <a:rPr lang="en-US" sz="1300" b="1" dirty="0" smtClean="0">
                <a:solidFill>
                  <a:srgbClr val="16324A"/>
                </a:solidFill>
              </a:rPr>
              <a:t>group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763256" y="1920240"/>
            <a:ext cx="233172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5F7388"/>
                </a:solidFill>
              </a:rPr>
              <a:t>• Closed-thickness mean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5F7388"/>
                </a:solidFill>
              </a:rPr>
              <a:t>• Std / min / max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5F7388"/>
                </a:solidFill>
              </a:rPr>
              <a:t>• Range as board stability signal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777240" y="3529584"/>
            <a:ext cx="10607040" cy="822960"/>
          </a:xfrm>
          <a:prstGeom prst="roundRect">
            <a:avLst>
              <a:gd name="adj" fmla="val 5556"/>
            </a:avLst>
          </a:prstGeom>
          <a:solidFill>
            <a:srgbClr val="EEF5FD"/>
          </a:solidFill>
          <a:ln w="12700">
            <a:solidFill>
              <a:srgbClr val="DCE8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87552" y="365760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b="1" dirty="0">
                <a:solidFill>
                  <a:srgbClr val="16324A"/>
                </a:solidFill>
              </a:rPr>
              <a:t>Why these engineered features matter</a:t>
            </a:r>
            <a:endParaRPr lang="en-US" sz="1280" dirty="0"/>
          </a:p>
        </p:txBody>
      </p:sp>
      <p:sp>
        <p:nvSpPr>
          <p:cNvPr id="19" name="Text 17"/>
          <p:cNvSpPr/>
          <p:nvPr/>
        </p:nvSpPr>
        <p:spPr>
          <a:xfrm>
            <a:off x="3127248" y="373075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70" dirty="0">
                <a:solidFill>
                  <a:srgbClr val="5F7388"/>
                </a:solidFill>
              </a:rPr>
              <a:t>They reduce noisy point-level readings into process-shape indicators that are easier to generalize: distribution across the press, thermal regime, thickness stability, and cross-zone balance.</a:t>
            </a:r>
            <a:endParaRPr lang="en-US" sz="1070" dirty="0"/>
          </a:p>
        </p:txBody>
      </p:sp>
      <p:sp>
        <p:nvSpPr>
          <p:cNvPr id="20" name="Shape 18"/>
          <p:cNvSpPr/>
          <p:nvPr/>
        </p:nvSpPr>
        <p:spPr>
          <a:xfrm>
            <a:off x="987552" y="4645152"/>
            <a:ext cx="1097280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7EE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86954" y="4791456"/>
            <a:ext cx="300041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324A"/>
                </a:solidFill>
              </a:rPr>
              <a:t>The signal pattern already seen in results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86954" y="5047488"/>
            <a:ext cx="10738042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090" dirty="0">
                <a:solidFill>
                  <a:srgbClr val="5F7388"/>
                </a:solidFill>
              </a:rPr>
              <a:t>Across targets, the most stable driver families are raw/thickness variables, aggregated press-pressure variables, and temperature / process-state variables. </a:t>
            </a:r>
            <a:endParaRPr lang="en-US" sz="1090" dirty="0" smtClean="0">
              <a:solidFill>
                <a:srgbClr val="5F7388"/>
              </a:solidFill>
            </a:endParaRPr>
          </a:p>
          <a:p>
            <a:pPr marL="0" indent="0">
              <a:buNone/>
            </a:pPr>
            <a:r>
              <a:rPr lang="en-US" sz="1090" dirty="0" smtClean="0">
                <a:solidFill>
                  <a:srgbClr val="5F7388"/>
                </a:solidFill>
              </a:rPr>
              <a:t>Example </a:t>
            </a:r>
            <a:r>
              <a:rPr lang="en-US" sz="1090" dirty="0">
                <a:solidFill>
                  <a:srgbClr val="5F7388"/>
                </a:solidFill>
              </a:rPr>
              <a:t>top drivers include rawThickness, pressPressureGlobal_mean, pressPressureC_mean, thicknessClosed_mean, pressPressureMid_mean, and pressPressureFrontEnd_diff.</a:t>
            </a:r>
            <a:endParaRPr lang="en-US" sz="1090" dirty="0"/>
          </a:p>
        </p:txBody>
      </p:sp>
      <p:sp>
        <p:nvSpPr>
          <p:cNvPr id="23" name="Shape 21"/>
          <p:cNvSpPr/>
          <p:nvPr/>
        </p:nvSpPr>
        <p:spPr>
          <a:xfrm>
            <a:off x="9198443" y="4021991"/>
            <a:ext cx="1559519" cy="292608"/>
          </a:xfrm>
          <a:prstGeom prst="roundRect">
            <a:avLst>
              <a:gd name="adj" fmla="val 25000"/>
            </a:avLst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26675" y="4041648"/>
            <a:ext cx="170305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26 ENGINEERED FEATURES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860536" y="5559552"/>
            <a:ext cx="2359152" cy="292608"/>
          </a:xfrm>
          <a:prstGeom prst="roundRect">
            <a:avLst>
              <a:gd name="adj" fmla="val 25000"/>
            </a:avLst>
          </a:prstGeom>
          <a:solidFill>
            <a:srgbClr val="1E9E63"/>
          </a:solidFill>
          <a:ln w="12700">
            <a:solidFill>
              <a:srgbClr val="1E9E6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891669" y="5614416"/>
            <a:ext cx="2359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DRIVER FAMILIES ARE CONSISTENT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Modeling evolution and lessons learned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7132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73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final story is stronger when it shows how unstable experiments were converted into a governed baseline.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1393424" y="25603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A4B5"/>
                </a:solidFill>
              </a:rPr>
              <a:t>06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10972800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E7EE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26480" y="1554480"/>
            <a:ext cx="0" cy="1691640"/>
          </a:xfrm>
          <a:prstGeom prst="line">
            <a:avLst/>
          </a:prstGeom>
          <a:noFill/>
          <a:ln w="12700">
            <a:solidFill>
              <a:srgbClr val="D7E2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472184"/>
            <a:ext cx="5166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324A"/>
                </a:solidFill>
              </a:rPr>
              <a:t>What went wrong early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91072" y="1472184"/>
            <a:ext cx="5166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324A"/>
                </a:solidFill>
              </a:rPr>
              <a:t>What changed in the mature pipeline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41248" y="1737360"/>
            <a:ext cx="5166360" cy="1600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F7388"/>
                </a:solidFill>
              </a:rPr>
              <a:t>• Some first prototype runs selected unusable fields such as abs24h / vkstockProxy variables and produced warnings about features with no observed values.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F7388"/>
                </a:solidFill>
              </a:rPr>
              <a:t>• One early density run failed during feature-importance export because arrays did not match in length.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F7388"/>
                </a:solidFill>
              </a:rPr>
              <a:t>• Another run failed because XGBoost saw a training / feature-name mismatch.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291072" y="1737360"/>
            <a:ext cx="5166360" cy="1600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F7388"/>
                </a:solidFill>
              </a:rPr>
              <a:t>• Usable-feature filters were tightened to exclude nonnumeric, all-null, target, leakage-prone, and irrelevant fields.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F7388"/>
                </a:solidFill>
              </a:rPr>
              <a:t>• Time-based splitting and repeatable artifact naming were standardized.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F7388"/>
                </a:solidFill>
              </a:rPr>
              <a:t>• Training now saves governed bundles and the serving layer reads the exact saved feature order.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3749040"/>
            <a:ext cx="5074920" cy="1828800"/>
          </a:xfrm>
          <a:prstGeom prst="roundRect">
            <a:avLst>
              <a:gd name="adj" fmla="val 2500"/>
            </a:avLst>
          </a:prstGeom>
          <a:solidFill>
            <a:srgbClr val="FFF8EF"/>
          </a:solidFill>
          <a:ln w="12700">
            <a:solidFill>
              <a:srgbClr val="F3E3C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3950208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D5A17"/>
                </a:solidFill>
              </a:rPr>
              <a:t>Key lesson for the presentation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41248" y="4261104"/>
            <a:ext cx="443484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090" dirty="0">
                <a:solidFill>
                  <a:srgbClr val="7D6841"/>
                </a:solidFill>
              </a:rPr>
              <a:t>Show that the team learned to trust the system only after data filters, split logic, and artifact governance were stabilized. This makes the final ~0.69 served performance more credible than flashy but fragile early numbers.</a:t>
            </a:r>
            <a:endParaRPr lang="en-US" sz="1090" dirty="0"/>
          </a:p>
        </p:txBody>
      </p:sp>
      <p:sp>
        <p:nvSpPr>
          <p:cNvPr id="14" name="Shape 12"/>
          <p:cNvSpPr/>
          <p:nvPr/>
        </p:nvSpPr>
        <p:spPr>
          <a:xfrm>
            <a:off x="5943600" y="3749040"/>
            <a:ext cx="5669280" cy="18288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7EE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72200" y="395020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324A"/>
                </a:solidFill>
              </a:rPr>
              <a:t>Reporting guidance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72200" y="4242816"/>
            <a:ext cx="4572000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070" dirty="0">
                <a:solidFill>
                  <a:srgbClr val="5F7388"/>
                </a:solidFill>
              </a:rPr>
              <a:t>Use three layers of results in the deck:</a:t>
            </a:r>
            <a:endParaRPr lang="en-US" sz="1070" dirty="0"/>
          </a:p>
          <a:p>
            <a:pPr marL="0" indent="0">
              <a:buNone/>
            </a:pPr>
            <a:r>
              <a:rPr lang="en-US" sz="1070" dirty="0">
                <a:solidFill>
                  <a:srgbClr val="5F7388"/>
                </a:solidFill>
              </a:rPr>
              <a:t>1) early prototype findings (for learning only),</a:t>
            </a:r>
            <a:endParaRPr lang="en-US" sz="1070" dirty="0"/>
          </a:p>
          <a:p>
            <a:pPr marL="0" indent="0">
              <a:buNone/>
            </a:pPr>
            <a:r>
              <a:rPr lang="en-US" sz="1070" dirty="0">
                <a:solidFill>
                  <a:srgbClr val="5F7388"/>
                </a:solidFill>
              </a:rPr>
              <a:t>2) project-wide five-target baseline comparison,</a:t>
            </a:r>
            <a:endParaRPr lang="en-US" sz="1070" dirty="0"/>
          </a:p>
          <a:p>
            <a:pPr marL="0" indent="0">
              <a:buNone/>
            </a:pPr>
            <a:r>
              <a:rPr lang="en-US" sz="1070" dirty="0">
                <a:solidFill>
                  <a:srgbClr val="5F7388"/>
                </a:solidFill>
              </a:rPr>
              <a:t>3) current served bundles and API-verified system state.</a:t>
            </a:r>
            <a:endParaRPr lang="en-US" sz="1070" dirty="0"/>
          </a:p>
        </p:txBody>
      </p:sp>
      <p:sp>
        <p:nvSpPr>
          <p:cNvPr id="17" name="Shape 15"/>
          <p:cNvSpPr/>
          <p:nvPr/>
        </p:nvSpPr>
        <p:spPr>
          <a:xfrm>
            <a:off x="8001000" y="5212080"/>
            <a:ext cx="1737360" cy="292608"/>
          </a:xfrm>
          <a:prstGeom prst="roundRect">
            <a:avLst>
              <a:gd name="adj" fmla="val 25000"/>
            </a:avLst>
          </a:prstGeom>
          <a:solidFill>
            <a:srgbClr val="F0A020"/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59790" y="5266944"/>
            <a:ext cx="180143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EARLY RUNS ≠ CURRENT STATE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875520" y="5212080"/>
            <a:ext cx="1325880" cy="292608"/>
          </a:xfrm>
          <a:prstGeom prst="roundRect">
            <a:avLst>
              <a:gd name="adj" fmla="val 25000"/>
            </a:avLst>
          </a:prstGeom>
          <a:solidFill>
            <a:srgbClr val="1E9E63"/>
          </a:solidFill>
          <a:ln w="12700">
            <a:solidFill>
              <a:srgbClr val="1E9E6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875520" y="5239512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GOVERNED BASELINE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7776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Project-wide baseline comparison: five quality targets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7132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73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broader MDF1 baseline view shows that multiple targets are learnable, but not equally ready for rollout.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1393424" y="25603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A4B5"/>
                </a:solidFill>
              </a:rPr>
              <a:t>07</a:t>
            </a:r>
            <a:endParaRPr lang="en-US" sz="900" dirty="0"/>
          </a:p>
        </p:txBody>
      </p:sp>
      <p:pic>
        <p:nvPicPr>
          <p:cNvPr id="5" name="Image 0" descr="/mnt/data/mdf1_assets/rf_r2_targe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14047"/>
            <a:ext cx="5669280" cy="303554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583680" y="1325880"/>
            <a:ext cx="4937760" cy="3611880"/>
          </a:xfrm>
          <a:prstGeom prst="roundRect">
            <a:avLst>
              <a:gd name="adj" fmla="val 1266"/>
            </a:avLst>
          </a:prstGeom>
          <a:solidFill>
            <a:srgbClr val="FFFFFF"/>
          </a:solidFill>
          <a:ln w="12700">
            <a:solidFill>
              <a:srgbClr val="E7EEF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812280" y="153619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324A"/>
                </a:solidFill>
              </a:rPr>
              <a:t>Interpretation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812280" y="1847088"/>
            <a:ext cx="425196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5F7388"/>
                </a:solidFill>
              </a:rPr>
              <a:t>• Best current five-target baseline: labSurfaceSoundnessAvg (RF R² = 0.7578).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5F7388"/>
                </a:solidFill>
              </a:rPr>
              <a:t>• Strong and consistent performers: labDensityAverage (0.7421) and labBendingAvg (0.7274).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5F7388"/>
                </a:solidFill>
              </a:rPr>
              <a:t>• labTensileAvg is still respectable at 0.7079.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5F7388"/>
                </a:solidFill>
              </a:rPr>
              <a:t>• labEModulAvg is the weakest of the five at 0.6928 and should be refined later.</a:t>
            </a:r>
            <a:endParaRPr lang="en-US" sz="1080" dirty="0"/>
          </a:p>
        </p:txBody>
      </p:sp>
      <p:sp>
        <p:nvSpPr>
          <p:cNvPr id="9" name="Text 6"/>
          <p:cNvSpPr/>
          <p:nvPr/>
        </p:nvSpPr>
        <p:spPr>
          <a:xfrm>
            <a:off x="6812279" y="3401568"/>
            <a:ext cx="271116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324A"/>
                </a:solidFill>
              </a:rPr>
              <a:t>Recommended deployment order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812280" y="3675888"/>
            <a:ext cx="2788920" cy="8595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070" dirty="0">
                <a:solidFill>
                  <a:srgbClr val="5F7388"/>
                </a:solidFill>
              </a:rPr>
              <a:t>Phase 1  Surface soundness + Density</a:t>
            </a:r>
            <a:endParaRPr lang="en-US" sz="1070" dirty="0"/>
          </a:p>
          <a:p>
            <a:pPr marL="0" indent="0">
              <a:buNone/>
            </a:pPr>
            <a:r>
              <a:rPr lang="en-US" sz="1070" dirty="0">
                <a:solidFill>
                  <a:srgbClr val="5F7388"/>
                </a:solidFill>
              </a:rPr>
              <a:t>Phase 2  Bending + Tensile</a:t>
            </a:r>
            <a:endParaRPr lang="en-US" sz="1070" dirty="0"/>
          </a:p>
          <a:p>
            <a:pPr marL="0" indent="0">
              <a:buNone/>
            </a:pPr>
            <a:r>
              <a:rPr lang="en-US" sz="1070" dirty="0">
                <a:solidFill>
                  <a:srgbClr val="5F7388"/>
                </a:solidFill>
              </a:rPr>
              <a:t>Phase 3  E-Modul after more refinement</a:t>
            </a:r>
            <a:endParaRPr lang="en-US" sz="1070" dirty="0"/>
          </a:p>
        </p:txBody>
      </p:sp>
      <p:sp>
        <p:nvSpPr>
          <p:cNvPr id="11" name="Shape 8"/>
          <p:cNvSpPr/>
          <p:nvPr/>
        </p:nvSpPr>
        <p:spPr>
          <a:xfrm>
            <a:off x="10012680" y="3657600"/>
            <a:ext cx="822960" cy="292608"/>
          </a:xfrm>
          <a:prstGeom prst="roundRect">
            <a:avLst>
              <a:gd name="adj" fmla="val 25000"/>
            </a:avLst>
          </a:prstGeom>
          <a:solidFill>
            <a:srgbClr val="1E9E63"/>
          </a:solidFill>
          <a:ln w="12700">
            <a:solidFill>
              <a:srgbClr val="1E9E6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012680" y="368503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PHASE 1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10012680" y="4005072"/>
            <a:ext cx="822960" cy="292608"/>
          </a:xfrm>
          <a:prstGeom prst="roundRect">
            <a:avLst>
              <a:gd name="adj" fmla="val 25000"/>
            </a:avLst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012680" y="4032504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PHASE 2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10012680" y="4352544"/>
            <a:ext cx="822960" cy="292608"/>
          </a:xfrm>
          <a:prstGeom prst="roundRect">
            <a:avLst>
              <a:gd name="adj" fmla="val 25000"/>
            </a:avLst>
          </a:prstGeom>
          <a:solidFill>
            <a:srgbClr val="F0A020"/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012680" y="437997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PHASE 3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685800" y="5138928"/>
            <a:ext cx="10607040" cy="621792"/>
          </a:xfrm>
          <a:prstGeom prst="roundRect">
            <a:avLst>
              <a:gd name="adj" fmla="val 7353"/>
            </a:avLst>
          </a:prstGeom>
          <a:solidFill>
            <a:srgbClr val="EEF5FD"/>
          </a:solidFill>
          <a:ln w="12700">
            <a:solidFill>
              <a:srgbClr val="DCE8F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85800" y="5266944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16324A"/>
                </a:solidFill>
              </a:rPr>
              <a:t>Stakeholder message: MDF1 is not a one-model story. It is a portfolio of learnable quality targets, with density and surface soundness leading the deployment conversation.</a:t>
            </a:r>
            <a:endParaRPr lang="en-US" sz="11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Current served focus: density and bending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7132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73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These are the two targets already reflected in the reviewed PredictionService state and current artifact bundles.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1393424" y="25603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A4B5"/>
                </a:solidFill>
              </a:rPr>
              <a:t>08</a:t>
            </a:r>
            <a:endParaRPr lang="en-US" sz="900" dirty="0"/>
          </a:p>
        </p:txBody>
      </p:sp>
      <p:pic>
        <p:nvPicPr>
          <p:cNvPr id="5" name="Image 0" descr="/mnt/data/mdf1_assets/algo_compare_density_bend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579055"/>
            <a:ext cx="5760720" cy="315125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720840" y="1463040"/>
            <a:ext cx="21488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EF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720840" y="1463040"/>
            <a:ext cx="73152" cy="91440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85432" y="160020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F7388"/>
                </a:solidFill>
              </a:rPr>
              <a:t>labDensityAverage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885432" y="184708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24A"/>
                </a:solidFill>
              </a:rPr>
              <a:t>RF R² 0.6905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885432" y="2121408"/>
            <a:ext cx="1892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A4B5"/>
                </a:solidFill>
              </a:rPr>
              <a:t>best current served bundle: labDensityAverage_rf_v1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9098280" y="1463040"/>
            <a:ext cx="21488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EF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098280" y="1463040"/>
            <a:ext cx="73152" cy="914400"/>
          </a:xfrm>
          <a:prstGeom prst="rect">
            <a:avLst/>
          </a:prstGeom>
          <a:solidFill>
            <a:srgbClr val="1FB5A9"/>
          </a:solidFill>
          <a:ln w="12700">
            <a:solidFill>
              <a:srgbClr val="1FB5A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262872" y="160020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F7388"/>
                </a:solidFill>
              </a:rPr>
              <a:t>labBendingAvg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9262872" y="184708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24A"/>
                </a:solidFill>
              </a:rPr>
              <a:t>RF R² 0.6923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9262872" y="2121408"/>
            <a:ext cx="1892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A4B5"/>
                </a:solidFill>
              </a:rPr>
              <a:t>best current served bundle: labBendingAvg_rf_v1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720840" y="2578608"/>
            <a:ext cx="4572000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7EEF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931152" y="277063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324A"/>
                </a:solidFill>
              </a:rPr>
              <a:t>Density signal story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931152" y="3054096"/>
            <a:ext cx="40690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070" dirty="0">
                <a:solidFill>
                  <a:srgbClr val="5F7388"/>
                </a:solidFill>
              </a:rPr>
              <a:t>Top drivers repeatedly point to board geometry plus aggregated press-pressure behavior: rawThickness, pressPressureGlobal_mean, pressPressureC_mean.</a:t>
            </a:r>
            <a:endParaRPr lang="en-US" sz="1070" dirty="0"/>
          </a:p>
        </p:txBody>
      </p:sp>
      <p:sp>
        <p:nvSpPr>
          <p:cNvPr id="19" name="Shape 16"/>
          <p:cNvSpPr/>
          <p:nvPr/>
        </p:nvSpPr>
        <p:spPr>
          <a:xfrm>
            <a:off x="6720840" y="3767328"/>
            <a:ext cx="4572000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7EEF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931152" y="395935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324A"/>
                </a:solidFill>
              </a:rPr>
              <a:t>Bending signal story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6931152" y="4242816"/>
            <a:ext cx="40690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070" dirty="0">
                <a:solidFill>
                  <a:srgbClr val="5F7388"/>
                </a:solidFill>
              </a:rPr>
              <a:t>Bending performance is strongly linked to thickness stability and mid-press conditions: rawThickness, thicknessClosed_mean, pressPressureMid_mean.</a:t>
            </a:r>
            <a:endParaRPr lang="en-US" sz="1070" dirty="0"/>
          </a:p>
        </p:txBody>
      </p:sp>
      <p:sp>
        <p:nvSpPr>
          <p:cNvPr id="22" name="Shape 19"/>
          <p:cNvSpPr/>
          <p:nvPr/>
        </p:nvSpPr>
        <p:spPr>
          <a:xfrm>
            <a:off x="685800" y="5138928"/>
            <a:ext cx="10972800" cy="621792"/>
          </a:xfrm>
          <a:prstGeom prst="roundRect">
            <a:avLst>
              <a:gd name="adj" fmla="val 7353"/>
            </a:avLst>
          </a:prstGeom>
          <a:solidFill>
            <a:srgbClr val="F1FAF8"/>
          </a:solidFill>
          <a:ln w="12700">
            <a:solidFill>
              <a:srgbClr val="D4EFE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14400" y="5358384"/>
            <a:ext cx="10469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285A54"/>
                </a:solidFill>
              </a:rPr>
              <a:t>Decision point: RF still edges out XGB and LGBM for both currently served targets, so it remains the strongest practical default for the live bundles reviewed here.</a:t>
            </a:r>
            <a:endParaRPr lang="en-US" sz="11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System architecture today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7132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73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key advance is separation of offline training from online prediction, with artifact governance in the middle.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1393424" y="25603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A4B5"/>
                </a:solidFill>
              </a:rPr>
              <a:t>09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240280" y="2788920"/>
            <a:ext cx="1051560" cy="0"/>
          </a:xfrm>
          <a:prstGeom prst="line">
            <a:avLst/>
          </a:prstGeom>
          <a:noFill/>
          <a:ln w="12700">
            <a:solidFill>
              <a:srgbClr val="8FBDEB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5669280" y="2788920"/>
            <a:ext cx="1005840" cy="0"/>
          </a:xfrm>
          <a:prstGeom prst="line">
            <a:avLst/>
          </a:prstGeom>
          <a:noFill/>
          <a:ln w="12700">
            <a:solidFill>
              <a:srgbClr val="8FBDEB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9144000" y="2788920"/>
            <a:ext cx="1097280" cy="0"/>
          </a:xfrm>
          <a:prstGeom prst="line">
            <a:avLst/>
          </a:prstGeom>
          <a:noFill/>
          <a:ln w="12700">
            <a:solidFill>
              <a:srgbClr val="8FBDEB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7498080" y="3657600"/>
            <a:ext cx="0" cy="594360"/>
          </a:xfrm>
          <a:prstGeom prst="line">
            <a:avLst/>
          </a:prstGeom>
          <a:noFill/>
          <a:ln w="12700">
            <a:solidFill>
              <a:srgbClr val="A6C9EA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31520" y="2148840"/>
            <a:ext cx="1554480" cy="1234440"/>
          </a:xfrm>
          <a:prstGeom prst="roundRect">
            <a:avLst>
              <a:gd name="adj" fmla="val 4444"/>
            </a:avLst>
          </a:prstGeom>
          <a:solidFill>
            <a:srgbClr val="EEF5FD"/>
          </a:solidFill>
          <a:ln w="12700">
            <a:solidFill>
              <a:srgbClr val="E7EEF6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41248" y="2295144"/>
            <a:ext cx="1335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324A"/>
                </a:solidFill>
              </a:rPr>
              <a:t>KSoft data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77824" y="2569464"/>
            <a:ext cx="1261872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40" dirty="0">
                <a:solidFill>
                  <a:srgbClr val="5F7388"/>
                </a:solidFill>
              </a:rPr>
              <a:t>raw production signals</a:t>
            </a:r>
            <a:endParaRPr lang="en-US" sz="1040" dirty="0"/>
          </a:p>
          <a:p>
            <a:pPr marL="0" indent="0" algn="ctr">
              <a:buNone/>
            </a:pPr>
            <a:r>
              <a:rPr lang="en-US" sz="1040" dirty="0">
                <a:solidFill>
                  <a:srgbClr val="5F7388"/>
                </a:solidFill>
              </a:rPr>
              <a:t>+ quality targets</a:t>
            </a:r>
            <a:endParaRPr lang="en-US" sz="1040" dirty="0"/>
          </a:p>
        </p:txBody>
      </p:sp>
      <p:sp>
        <p:nvSpPr>
          <p:cNvPr id="12" name="Shape 10"/>
          <p:cNvSpPr/>
          <p:nvPr/>
        </p:nvSpPr>
        <p:spPr>
          <a:xfrm>
            <a:off x="3337560" y="1965960"/>
            <a:ext cx="2331720" cy="1600200"/>
          </a:xfrm>
          <a:prstGeom prst="roundRect">
            <a:avLst>
              <a:gd name="adj" fmla="val 3429"/>
            </a:avLst>
          </a:prstGeom>
          <a:solidFill>
            <a:srgbClr val="EAF7F4"/>
          </a:solidFill>
          <a:ln w="12700">
            <a:solidFill>
              <a:srgbClr val="E7EEF6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447288" y="2112264"/>
            <a:ext cx="2112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324A"/>
                </a:solidFill>
              </a:rPr>
              <a:t>TrainingService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83864" y="2386584"/>
            <a:ext cx="2039112" cy="10698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40" dirty="0">
                <a:solidFill>
                  <a:srgbClr val="5F7388"/>
                </a:solidFill>
              </a:rPr>
              <a:t>validation</a:t>
            </a:r>
            <a:endParaRPr lang="en-US" sz="1040" dirty="0"/>
          </a:p>
          <a:p>
            <a:pPr marL="0" indent="0" algn="ctr">
              <a:buNone/>
            </a:pPr>
            <a:r>
              <a:rPr lang="en-US" sz="1040" dirty="0">
                <a:solidFill>
                  <a:srgbClr val="5F7388"/>
                </a:solidFill>
              </a:rPr>
              <a:t>cleaning</a:t>
            </a:r>
            <a:endParaRPr lang="en-US" sz="1040" dirty="0"/>
          </a:p>
          <a:p>
            <a:pPr marL="0" indent="0" algn="ctr">
              <a:buNone/>
            </a:pPr>
            <a:r>
              <a:rPr lang="en-US" sz="1040" dirty="0">
                <a:solidFill>
                  <a:srgbClr val="5F7388"/>
                </a:solidFill>
              </a:rPr>
              <a:t>engineered features</a:t>
            </a:r>
            <a:endParaRPr lang="en-US" sz="1040" dirty="0"/>
          </a:p>
          <a:p>
            <a:pPr marL="0" indent="0" algn="ctr">
              <a:buNone/>
            </a:pPr>
            <a:r>
              <a:rPr lang="en-US" sz="1040" dirty="0">
                <a:solidFill>
                  <a:srgbClr val="5F7388"/>
                </a:solidFill>
              </a:rPr>
              <a:t>time-based split</a:t>
            </a:r>
            <a:endParaRPr lang="en-US" sz="1040" dirty="0"/>
          </a:p>
          <a:p>
            <a:pPr marL="0" indent="0" algn="ctr">
              <a:buNone/>
            </a:pPr>
            <a:r>
              <a:rPr lang="en-US" sz="1040" dirty="0">
                <a:solidFill>
                  <a:srgbClr val="5F7388"/>
                </a:solidFill>
              </a:rPr>
              <a:t>model training</a:t>
            </a:r>
            <a:endParaRPr lang="en-US" sz="1040" dirty="0"/>
          </a:p>
        </p:txBody>
      </p:sp>
      <p:sp>
        <p:nvSpPr>
          <p:cNvPr id="15" name="Shape 13"/>
          <p:cNvSpPr/>
          <p:nvPr/>
        </p:nvSpPr>
        <p:spPr>
          <a:xfrm>
            <a:off x="6675120" y="1965960"/>
            <a:ext cx="2468880" cy="1600200"/>
          </a:xfrm>
          <a:prstGeom prst="roundRect">
            <a:avLst>
              <a:gd name="adj" fmla="val 3429"/>
            </a:avLst>
          </a:prstGeom>
          <a:solidFill>
            <a:srgbClr val="F3F7FC"/>
          </a:solidFill>
          <a:ln w="12700">
            <a:solidFill>
              <a:srgbClr val="E7EEF6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784848" y="2112264"/>
            <a:ext cx="2249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324A"/>
                </a:solidFill>
              </a:rPr>
              <a:t>Artifact bundles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821424" y="2386584"/>
            <a:ext cx="2176272" cy="10698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40" dirty="0">
                <a:solidFill>
                  <a:srgbClr val="5F7388"/>
                </a:solidFill>
              </a:rPr>
              <a:t>model.joblib</a:t>
            </a:r>
            <a:endParaRPr lang="en-US" sz="1040" dirty="0"/>
          </a:p>
          <a:p>
            <a:pPr marL="0" indent="0" algn="ctr">
              <a:buNone/>
            </a:pPr>
            <a:r>
              <a:rPr lang="en-US" sz="1040" dirty="0">
                <a:solidFill>
                  <a:srgbClr val="5F7388"/>
                </a:solidFill>
              </a:rPr>
              <a:t>features.json</a:t>
            </a:r>
            <a:endParaRPr lang="en-US" sz="1040" dirty="0"/>
          </a:p>
          <a:p>
            <a:pPr marL="0" indent="0" algn="ctr">
              <a:buNone/>
            </a:pPr>
            <a:r>
              <a:rPr lang="en-US" sz="1040" dirty="0">
                <a:solidFill>
                  <a:srgbClr val="5F7388"/>
                </a:solidFill>
              </a:rPr>
              <a:t>metrics.json</a:t>
            </a:r>
            <a:endParaRPr lang="en-US" sz="1040" dirty="0"/>
          </a:p>
          <a:p>
            <a:pPr marL="0" indent="0" algn="ctr">
              <a:buNone/>
            </a:pPr>
            <a:r>
              <a:rPr lang="en-US" sz="1040" dirty="0">
                <a:solidFill>
                  <a:srgbClr val="5F7388"/>
                </a:solidFill>
              </a:rPr>
              <a:t>metadata.json</a:t>
            </a:r>
            <a:endParaRPr lang="en-US" sz="1040" dirty="0"/>
          </a:p>
          <a:p>
            <a:pPr marL="0" indent="0" algn="ctr">
              <a:buNone/>
            </a:pPr>
            <a:r>
              <a:rPr lang="en-US" sz="1040" dirty="0">
                <a:solidFill>
                  <a:srgbClr val="5F7388"/>
                </a:solidFill>
              </a:rPr>
              <a:t>RF feature importance</a:t>
            </a:r>
            <a:endParaRPr lang="en-US" sz="1040" dirty="0"/>
          </a:p>
        </p:txBody>
      </p:sp>
      <p:sp>
        <p:nvSpPr>
          <p:cNvPr id="18" name="Shape 16"/>
          <p:cNvSpPr/>
          <p:nvPr/>
        </p:nvSpPr>
        <p:spPr>
          <a:xfrm>
            <a:off x="10241280" y="1965960"/>
            <a:ext cx="1472184" cy="1600200"/>
          </a:xfrm>
          <a:prstGeom prst="roundRect">
            <a:avLst>
              <a:gd name="adj" fmla="val 4138"/>
            </a:avLst>
          </a:prstGeom>
          <a:solidFill>
            <a:srgbClr val="EEF5FD"/>
          </a:solidFill>
          <a:ln w="12700">
            <a:solidFill>
              <a:srgbClr val="E7EEF6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0351008" y="2112264"/>
            <a:ext cx="12935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324A"/>
                </a:solidFill>
              </a:rPr>
              <a:t>PredictionService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387584" y="2386584"/>
            <a:ext cx="1033272" cy="10698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40" dirty="0">
                <a:solidFill>
                  <a:srgbClr val="5F7388"/>
                </a:solidFill>
              </a:rPr>
              <a:t>loads approved models</a:t>
            </a:r>
            <a:endParaRPr lang="en-US" sz="1040" dirty="0"/>
          </a:p>
          <a:p>
            <a:pPr marL="0" indent="0" algn="ctr">
              <a:buNone/>
            </a:pPr>
            <a:r>
              <a:rPr lang="en-US" sz="1040" dirty="0">
                <a:solidFill>
                  <a:srgbClr val="5F7388"/>
                </a:solidFill>
              </a:rPr>
              <a:t>serves REST predictions</a:t>
            </a:r>
            <a:endParaRPr lang="en-US" sz="1040" dirty="0"/>
          </a:p>
        </p:txBody>
      </p:sp>
      <p:sp>
        <p:nvSpPr>
          <p:cNvPr id="21" name="Shape 19"/>
          <p:cNvSpPr/>
          <p:nvPr/>
        </p:nvSpPr>
        <p:spPr>
          <a:xfrm>
            <a:off x="6263640" y="4343400"/>
            <a:ext cx="2468880" cy="1051560"/>
          </a:xfrm>
          <a:prstGeom prst="roundRect">
            <a:avLst>
              <a:gd name="adj" fmla="val 5217"/>
            </a:avLst>
          </a:prstGeom>
          <a:solidFill>
            <a:srgbClr val="F1FAF8"/>
          </a:solidFill>
          <a:ln w="12700">
            <a:solidFill>
              <a:srgbClr val="E7EEF6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373368" y="4489704"/>
            <a:ext cx="2249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324A"/>
                </a:solidFill>
              </a:rPr>
              <a:t>REST interface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9944" y="4764024"/>
            <a:ext cx="2176272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40" dirty="0">
                <a:solidFill>
                  <a:srgbClr val="5F7388"/>
                </a:solidFill>
              </a:rPr>
              <a:t>/health  /models  /predict</a:t>
            </a:r>
            <a:endParaRPr lang="en-US" sz="1040" dirty="0"/>
          </a:p>
        </p:txBody>
      </p:sp>
      <p:sp>
        <p:nvSpPr>
          <p:cNvPr id="24" name="Shape 22"/>
          <p:cNvSpPr/>
          <p:nvPr/>
        </p:nvSpPr>
        <p:spPr>
          <a:xfrm>
            <a:off x="868680" y="5440680"/>
            <a:ext cx="1069848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7EE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97280" y="5559552"/>
            <a:ext cx="10195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16324A"/>
                </a:solidFill>
              </a:rPr>
              <a:t>Most important architecture point for stakeholders: inference is governed by the exact saved feature list, so serving does not depend on ad-hoc request column order.</a:t>
            </a:r>
            <a:endParaRPr lang="en-US" sz="10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753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Current maturity: what is proven, and what still needs hardening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7132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73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the right frame to avoid overselling while still showing clear progress.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1393424" y="25603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A4B5"/>
                </a:solidFill>
              </a:rPr>
              <a:t>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10972800" cy="3611880"/>
          </a:xfrm>
          <a:prstGeom prst="roundRect">
            <a:avLst>
              <a:gd name="adj" fmla="val 1266"/>
            </a:avLst>
          </a:prstGeom>
          <a:solidFill>
            <a:srgbClr val="FFFFFF"/>
          </a:solidFill>
          <a:ln w="12700">
            <a:solidFill>
              <a:srgbClr val="E7EE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26480" y="1554480"/>
            <a:ext cx="0" cy="3154680"/>
          </a:xfrm>
          <a:prstGeom prst="line">
            <a:avLst/>
          </a:prstGeom>
          <a:noFill/>
          <a:ln w="12700">
            <a:solidFill>
              <a:srgbClr val="D7E2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472184"/>
            <a:ext cx="5166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324A"/>
                </a:solidFill>
              </a:rPr>
              <a:t>Already proven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91072" y="1472184"/>
            <a:ext cx="5166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324A"/>
                </a:solidFill>
              </a:rPr>
              <a:t>Still open before production confidence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41248" y="1737360"/>
            <a:ext cx="5166360" cy="3063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F7388"/>
                </a:solidFill>
              </a:rPr>
              <a:t>• Repeatable data preparation and engineered-feature generation exist for MDF1.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F7388"/>
                </a:solidFill>
              </a:rPr>
              <a:t>• At least five quality targets have been benchmarked with consistent Random Forest baselines.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F7388"/>
                </a:solidFill>
              </a:rPr>
              <a:t>• Artifact bundles are structured and readable by a separate PredictionService.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F7388"/>
                </a:solidFill>
              </a:rPr>
              <a:t>• Reviewed logs show /health success and /predict returning HTTP 200 with live predictions.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F7388"/>
                </a:solidFill>
              </a:rPr>
              <a:t>• Density and bending currently have named RF bundles already treated as the active served state.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291072" y="1737360"/>
            <a:ext cx="5166360" cy="3063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F7388"/>
                </a:solidFill>
              </a:rPr>
              <a:t>• Unify reporting so one official metric view is used across one-pagers, comparison sheets, and served bundles.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F7388"/>
                </a:solidFill>
              </a:rPr>
              <a:t>• Harden API behavior further: default model handling, packaging / Docker, and operational monitoring.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F7388"/>
                </a:solidFill>
              </a:rPr>
              <a:t>• Improve repo / release hygiene around unstaged changes, artifact version control, and promotion flow.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F7388"/>
                </a:solidFill>
              </a:rPr>
              <a:t>• Expand post-deployment monitoring: predicted vs actual drift, retraining cadence, and quality feedback loops.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F7388"/>
                </a:solidFill>
              </a:rPr>
              <a:t>• Collect more data to strengthen generalization, especially for lower-ranked targets.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68680" y="5212080"/>
            <a:ext cx="1005840" cy="292608"/>
          </a:xfrm>
          <a:prstGeom prst="roundRect">
            <a:avLst>
              <a:gd name="adj" fmla="val 25000"/>
            </a:avLst>
          </a:prstGeom>
          <a:solidFill>
            <a:srgbClr val="1E9E63"/>
          </a:solidFill>
          <a:ln w="12700">
            <a:solidFill>
              <a:srgbClr val="1E9E6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523951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PROVEN VALUE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011680" y="5212080"/>
            <a:ext cx="1645920" cy="292608"/>
          </a:xfrm>
          <a:prstGeom prst="roundRect">
            <a:avLst>
              <a:gd name="adj" fmla="val 25000"/>
            </a:avLst>
          </a:prstGeom>
          <a:solidFill>
            <a:srgbClr val="F0A020"/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11680" y="523951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NOT YET FULL PRODUCTION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886200" y="5266944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90" dirty="0">
                <a:solidFill>
                  <a:srgbClr val="5F7388"/>
                </a:solidFill>
              </a:rPr>
              <a:t>Recommended positioning in the presentation: “operational ML system with verified live inference, not yet a fully hardened production platform.”</a:t>
            </a:r>
            <a:endParaRPr lang="en-US" sz="109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Recommended roadmap from current state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7132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73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strong closing slide should connect the technical status to a pragmatic rollout path.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1393424" y="25603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A4B5"/>
                </a:solidFill>
              </a:rPr>
              <a:t>11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49808" y="1600200"/>
            <a:ext cx="3337560" cy="2560320"/>
          </a:xfrm>
          <a:prstGeom prst="roundRect">
            <a:avLst>
              <a:gd name="adj" fmla="val 2143"/>
            </a:avLst>
          </a:prstGeom>
          <a:solidFill>
            <a:srgbClr val="DFF4EA"/>
          </a:solidFill>
          <a:ln w="12700">
            <a:solidFill>
              <a:srgbClr val="CBEA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0976" y="1828800"/>
            <a:ext cx="2935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24A"/>
                </a:solidFill>
              </a:rPr>
              <a:t>Phase 1 — validate in operations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50976" y="2212848"/>
            <a:ext cx="2953512" cy="1481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5F7388"/>
                </a:solidFill>
              </a:rPr>
              <a:t>• Deploy / validate the strongest candidate models first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5F7388"/>
                </a:solidFill>
              </a:rPr>
              <a:t>• Use surface soundness and density as initial proof cases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5F7388"/>
                </a:solidFill>
              </a:rPr>
              <a:t>• Track prediction vs actual and operator trust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4453128" y="1600200"/>
            <a:ext cx="3337560" cy="2560320"/>
          </a:xfrm>
          <a:prstGeom prst="roundRect">
            <a:avLst>
              <a:gd name="adj" fmla="val 2143"/>
            </a:avLst>
          </a:prstGeom>
          <a:solidFill>
            <a:srgbClr val="EEF5FD"/>
          </a:solidFill>
          <a:ln w="12700">
            <a:solidFill>
              <a:srgbClr val="DCE8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54296" y="1828800"/>
            <a:ext cx="2935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24A"/>
                </a:solidFill>
              </a:rPr>
              <a:t>Phase 2 — extend the portfolio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54296" y="2212848"/>
            <a:ext cx="2953512" cy="1481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5F7388"/>
                </a:solidFill>
              </a:rPr>
              <a:t>• Roll bending and tensile after Phase 1 learning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5F7388"/>
                </a:solidFill>
              </a:rPr>
              <a:t>• Keep the same governed artifact pattern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5F7388"/>
                </a:solidFill>
              </a:rPr>
              <a:t>• Standardize dashboard and monitoring outputs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8156448" y="1600200"/>
            <a:ext cx="3337560" cy="2560320"/>
          </a:xfrm>
          <a:prstGeom prst="roundRect">
            <a:avLst>
              <a:gd name="adj" fmla="val 2143"/>
            </a:avLst>
          </a:prstGeom>
          <a:solidFill>
            <a:srgbClr val="FFF6EA"/>
          </a:solidFill>
          <a:ln w="12700">
            <a:solidFill>
              <a:srgbClr val="F3E2C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57616" y="1828800"/>
            <a:ext cx="2935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24A"/>
                </a:solidFill>
              </a:rPr>
              <a:t>Phase 3 — industrialize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57616" y="2212848"/>
            <a:ext cx="2953512" cy="1481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5F7388"/>
                </a:solidFill>
              </a:rPr>
              <a:t>• Refine lower-ranked targets such as E-Modul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5F7388"/>
                </a:solidFill>
              </a:rPr>
              <a:t>• Add packaging, release flow, and monitoring automation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5F7388"/>
                </a:solidFill>
              </a:rPr>
              <a:t>• Set retraining cadence and model promotion rules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4096512" y="2880360"/>
            <a:ext cx="246888" cy="0"/>
          </a:xfrm>
          <a:prstGeom prst="line">
            <a:avLst/>
          </a:prstGeom>
          <a:noFill/>
          <a:ln w="12700">
            <a:solidFill>
              <a:srgbClr val="9DC2E8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799832" y="2880360"/>
            <a:ext cx="246888" cy="0"/>
          </a:xfrm>
          <a:prstGeom prst="line">
            <a:avLst/>
          </a:prstGeom>
          <a:noFill/>
          <a:ln w="12700">
            <a:solidFill>
              <a:srgbClr val="9DC2E8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77240" y="4645152"/>
            <a:ext cx="1074420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7EE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477316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324A"/>
                </a:solidFill>
              </a:rPr>
              <a:t>Recommended </a:t>
            </a:r>
            <a:endParaRPr lang="en-US" sz="1300" b="1" dirty="0" smtClean="0">
              <a:solidFill>
                <a:srgbClr val="16324A"/>
              </a:solidFill>
            </a:endParaRPr>
          </a:p>
          <a:p>
            <a:pPr marL="0" indent="0">
              <a:buNone/>
            </a:pPr>
            <a:r>
              <a:rPr lang="en-US" sz="1300" b="1" dirty="0" smtClean="0">
                <a:solidFill>
                  <a:srgbClr val="16324A"/>
                </a:solidFill>
              </a:rPr>
              <a:t>closing </a:t>
            </a:r>
            <a:r>
              <a:rPr lang="en-US" sz="1300" b="1" dirty="0">
                <a:solidFill>
                  <a:srgbClr val="16324A"/>
                </a:solidFill>
              </a:rPr>
              <a:t>message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401568" y="4754880"/>
            <a:ext cx="7452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5F7388"/>
                </a:solidFill>
              </a:rPr>
              <a:t>MDF1 ML has already crossed the most important threshold: it is no longer just a modeling exercise. It is now an end-to-end ML system with credible baselines, governed artifacts, and verified live inference—ready for disciplined rollout.</a:t>
            </a:r>
            <a:endParaRPr lang="en-US" sz="10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2441</Words>
  <Application>Microsoft Office PowerPoint</Application>
  <PresentationFormat>Widescreen</PresentationFormat>
  <Paragraphs>267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MDF1 ML Project — From Zero to Current Situation</dc:title>
  <dc:subject>MDF1 ML project review</dc:subject>
  <dc:creator>OpenAI</dc:creator>
  <cp:lastModifiedBy>Azat, Eda</cp:lastModifiedBy>
  <cp:revision>14</cp:revision>
  <dcterms:created xsi:type="dcterms:W3CDTF">2026-04-21T05:34:32Z</dcterms:created>
  <dcterms:modified xsi:type="dcterms:W3CDTF">2026-05-05T12:26:58Z</dcterms:modified>
</cp:coreProperties>
</file>