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3" d="100"/>
          <a:sy n="123" d="100"/>
        </p:scale>
        <p:origin x="96"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5052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4F8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A2C"/>
        </a:solidFill>
        <a:effectLst/>
      </p:bgPr>
    </p:bg>
    <p:spTree>
      <p:nvGrpSpPr>
        <p:cNvPr id="1" name=""/>
        <p:cNvGrpSpPr/>
        <p:nvPr/>
      </p:nvGrpSpPr>
      <p:grpSpPr>
        <a:xfrm>
          <a:off x="0" y="0"/>
          <a:ext cx="0" cy="0"/>
          <a:chOff x="0" y="0"/>
          <a:chExt cx="0" cy="0"/>
        </a:xfrm>
      </p:grpSpPr>
      <p:sp>
        <p:nvSpPr>
          <p:cNvPr id="2" name="Text 0"/>
          <p:cNvSpPr/>
          <p:nvPr/>
        </p:nvSpPr>
        <p:spPr>
          <a:xfrm>
            <a:off x="594360" y="658368"/>
            <a:ext cx="4120709" cy="365760"/>
          </a:xfrm>
          <a:prstGeom prst="rect">
            <a:avLst/>
          </a:prstGeom>
          <a:noFill/>
          <a:ln/>
        </p:spPr>
        <p:txBody>
          <a:bodyPr wrap="square" lIns="0" tIns="0" rIns="0" bIns="0" rtlCol="0" anchor="ctr"/>
          <a:lstStyle/>
          <a:p>
            <a:r>
              <a:rPr lang="en-GB" sz="2400" dirty="0">
                <a:solidFill>
                  <a:schemeClr val="bg1">
                    <a:lumMod val="95000"/>
                  </a:schemeClr>
                </a:solidFill>
              </a:rPr>
              <a:t>MDF1 AI Production System – From Data to Decision</a:t>
            </a:r>
            <a:endParaRPr lang="en-US" sz="2200" dirty="0">
              <a:solidFill>
                <a:schemeClr val="bg1">
                  <a:lumMod val="95000"/>
                </a:schemeClr>
              </a:solidFill>
            </a:endParaRPr>
          </a:p>
        </p:txBody>
      </p:sp>
      <p:sp>
        <p:nvSpPr>
          <p:cNvPr id="3" name="Text 1"/>
          <p:cNvSpPr/>
          <p:nvPr/>
        </p:nvSpPr>
        <p:spPr>
          <a:xfrm>
            <a:off x="594360" y="1239013"/>
            <a:ext cx="5760720" cy="228600"/>
          </a:xfrm>
          <a:prstGeom prst="rect">
            <a:avLst/>
          </a:prstGeom>
          <a:noFill/>
          <a:ln/>
        </p:spPr>
        <p:txBody>
          <a:bodyPr wrap="square" lIns="0" tIns="0" rIns="0" bIns="0" rtlCol="0" anchor="ctr"/>
          <a:lstStyle/>
          <a:p>
            <a:pPr marL="0" indent="0">
              <a:buNone/>
            </a:pPr>
            <a:r>
              <a:rPr lang="en-US" sz="1050" dirty="0">
                <a:solidFill>
                  <a:srgbClr val="BFD3E5"/>
                </a:solidFill>
              </a:rPr>
              <a:t>From zero to current situation — updated project review</a:t>
            </a:r>
            <a:endParaRPr lang="en-US" sz="1050" dirty="0"/>
          </a:p>
        </p:txBody>
      </p:sp>
      <p:sp>
        <p:nvSpPr>
          <p:cNvPr id="4" name="Text 2"/>
          <p:cNvSpPr/>
          <p:nvPr/>
        </p:nvSpPr>
        <p:spPr>
          <a:xfrm>
            <a:off x="612648" y="1645919"/>
            <a:ext cx="2286000" cy="362183"/>
          </a:xfrm>
          <a:prstGeom prst="roundRect">
            <a:avLst>
              <a:gd name="adj" fmla="val 22727"/>
            </a:avLst>
          </a:prstGeom>
          <a:solidFill>
            <a:srgbClr val="1E90F3"/>
          </a:solidFill>
          <a:ln>
            <a:solidFill>
              <a:srgbClr val="1E90F3"/>
            </a:solidFill>
          </a:ln>
        </p:spPr>
        <p:txBody>
          <a:bodyPr wrap="square" lIns="254" tIns="254" rIns="254" bIns="254" rtlCol="0" anchor="ctr"/>
          <a:lstStyle/>
          <a:p>
            <a:pPr marL="0" indent="0" algn="ctr">
              <a:buNone/>
            </a:pPr>
            <a:r>
              <a:rPr lang="en-US" sz="630" b="1" dirty="0">
                <a:solidFill>
                  <a:srgbClr val="FFFFFF"/>
                </a:solidFill>
              </a:rPr>
              <a:t>TRAINING + PREDICTION + GUI SERVICES</a:t>
            </a:r>
            <a:endParaRPr lang="en-US" sz="630" dirty="0"/>
          </a:p>
        </p:txBody>
      </p:sp>
      <p:sp>
        <p:nvSpPr>
          <p:cNvPr id="5" name="Text 3"/>
          <p:cNvSpPr/>
          <p:nvPr/>
        </p:nvSpPr>
        <p:spPr>
          <a:xfrm>
            <a:off x="3035807" y="1645920"/>
            <a:ext cx="2375947" cy="362182"/>
          </a:xfrm>
          <a:prstGeom prst="roundRect">
            <a:avLst>
              <a:gd name="adj" fmla="val 22727"/>
            </a:avLst>
          </a:prstGeom>
          <a:solidFill>
            <a:srgbClr val="18B996"/>
          </a:solidFill>
          <a:ln>
            <a:solidFill>
              <a:srgbClr val="18B996"/>
            </a:solidFill>
          </a:ln>
        </p:spPr>
        <p:txBody>
          <a:bodyPr wrap="square" lIns="254" tIns="254" rIns="254" bIns="254" rtlCol="0" anchor="ctr"/>
          <a:lstStyle/>
          <a:p>
            <a:pPr marL="0" indent="0" algn="ctr">
              <a:buNone/>
            </a:pPr>
            <a:r>
              <a:rPr lang="en-US" sz="630" b="1" dirty="0">
                <a:solidFill>
                  <a:srgbClr val="FFFFFF"/>
                </a:solidFill>
              </a:rPr>
              <a:t>CURRENTLY SERVED: DENSITY + BENDING</a:t>
            </a:r>
            <a:endParaRPr lang="en-US" sz="630" dirty="0"/>
          </a:p>
        </p:txBody>
      </p:sp>
      <p:sp>
        <p:nvSpPr>
          <p:cNvPr id="6" name="Text 4"/>
          <p:cNvSpPr/>
          <p:nvPr/>
        </p:nvSpPr>
        <p:spPr>
          <a:xfrm>
            <a:off x="594360" y="2337287"/>
            <a:ext cx="2834640" cy="372913"/>
          </a:xfrm>
          <a:prstGeom prst="roundRect">
            <a:avLst>
              <a:gd name="adj" fmla="val 22727"/>
            </a:avLst>
          </a:prstGeom>
          <a:solidFill>
            <a:srgbClr val="F5A623"/>
          </a:solidFill>
          <a:ln>
            <a:solidFill>
              <a:srgbClr val="F5A623"/>
            </a:solidFill>
          </a:ln>
        </p:spPr>
        <p:txBody>
          <a:bodyPr wrap="square" lIns="254" tIns="254" rIns="254" bIns="254" rtlCol="0" anchor="ctr"/>
          <a:lstStyle/>
          <a:p>
            <a:pPr marL="0" indent="0" algn="ctr">
              <a:buNone/>
            </a:pPr>
            <a:r>
              <a:rPr lang="en-US" sz="630" b="1" dirty="0">
                <a:solidFill>
                  <a:srgbClr val="0F2942"/>
                </a:solidFill>
              </a:rPr>
              <a:t>NEXT: DB LOGGING + COCKPIT HARDENING</a:t>
            </a:r>
            <a:endParaRPr lang="en-US" sz="630" dirty="0"/>
          </a:p>
        </p:txBody>
      </p:sp>
      <p:pic>
        <p:nvPicPr>
          <p:cNvPr id="7" name="Image 0" descr="/mnt/data/ppt_media/ppt/media/image1.png"/>
          <p:cNvPicPr>
            <a:picLocks noChangeAspect="1"/>
          </p:cNvPicPr>
          <p:nvPr/>
        </p:nvPicPr>
        <p:blipFill>
          <a:blip r:embed="rId3"/>
          <a:srcRect t="3885" b="3885"/>
          <a:stretch/>
        </p:blipFill>
        <p:spPr>
          <a:xfrm>
            <a:off x="6446520" y="320040"/>
            <a:ext cx="5166360" cy="2468880"/>
          </a:xfrm>
          <a:prstGeom prst="rect">
            <a:avLst/>
          </a:prstGeom>
        </p:spPr>
      </p:pic>
      <p:sp>
        <p:nvSpPr>
          <p:cNvPr id="8" name="Shape 5"/>
          <p:cNvSpPr/>
          <p:nvPr/>
        </p:nvSpPr>
        <p:spPr>
          <a:xfrm>
            <a:off x="612648" y="4919472"/>
            <a:ext cx="1965960" cy="640080"/>
          </a:xfrm>
          <a:prstGeom prst="roundRect">
            <a:avLst>
              <a:gd name="adj" fmla="val 7143"/>
            </a:avLst>
          </a:prstGeom>
          <a:solidFill>
            <a:srgbClr val="FFFFFF"/>
          </a:solidFill>
          <a:ln w="8890">
            <a:solidFill>
              <a:srgbClr val="CADBE9"/>
            </a:solidFill>
            <a:prstDash val="solid"/>
          </a:ln>
        </p:spPr>
      </p:sp>
      <p:sp>
        <p:nvSpPr>
          <p:cNvPr id="9" name="Text 6"/>
          <p:cNvSpPr/>
          <p:nvPr/>
        </p:nvSpPr>
        <p:spPr>
          <a:xfrm>
            <a:off x="685800" y="4992624"/>
            <a:ext cx="181965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Raw dataset</a:t>
            </a:r>
            <a:endParaRPr lang="en-US" sz="620" dirty="0"/>
          </a:p>
        </p:txBody>
      </p:sp>
      <p:sp>
        <p:nvSpPr>
          <p:cNvPr id="10" name="Text 7"/>
          <p:cNvSpPr/>
          <p:nvPr/>
        </p:nvSpPr>
        <p:spPr>
          <a:xfrm>
            <a:off x="685800" y="5184648"/>
            <a:ext cx="181965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3,128 × 1,165</a:t>
            </a:r>
            <a:endParaRPr lang="en-US" sz="1400" dirty="0"/>
          </a:p>
        </p:txBody>
      </p:sp>
      <p:sp>
        <p:nvSpPr>
          <p:cNvPr id="11" name="Text 8"/>
          <p:cNvSpPr/>
          <p:nvPr/>
        </p:nvSpPr>
        <p:spPr>
          <a:xfrm>
            <a:off x="685800" y="5422392"/>
            <a:ext cx="181965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KSoft source data</a:t>
            </a:r>
            <a:endParaRPr lang="en-US" sz="580" dirty="0"/>
          </a:p>
        </p:txBody>
      </p:sp>
      <p:sp>
        <p:nvSpPr>
          <p:cNvPr id="12" name="Shape 9"/>
          <p:cNvSpPr/>
          <p:nvPr/>
        </p:nvSpPr>
        <p:spPr>
          <a:xfrm>
            <a:off x="2871216" y="4919472"/>
            <a:ext cx="1965960" cy="640080"/>
          </a:xfrm>
          <a:prstGeom prst="roundRect">
            <a:avLst>
              <a:gd name="adj" fmla="val 7143"/>
            </a:avLst>
          </a:prstGeom>
          <a:solidFill>
            <a:srgbClr val="FFFFFF"/>
          </a:solidFill>
          <a:ln w="8890">
            <a:solidFill>
              <a:srgbClr val="CADBE9"/>
            </a:solidFill>
            <a:prstDash val="solid"/>
          </a:ln>
        </p:spPr>
      </p:sp>
      <p:sp>
        <p:nvSpPr>
          <p:cNvPr id="13" name="Text 10"/>
          <p:cNvSpPr/>
          <p:nvPr/>
        </p:nvSpPr>
        <p:spPr>
          <a:xfrm>
            <a:off x="2944368" y="4992624"/>
            <a:ext cx="181965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Clean usable rows</a:t>
            </a:r>
            <a:endParaRPr lang="en-US" sz="620" dirty="0"/>
          </a:p>
        </p:txBody>
      </p:sp>
      <p:sp>
        <p:nvSpPr>
          <p:cNvPr id="14" name="Text 11"/>
          <p:cNvSpPr/>
          <p:nvPr/>
        </p:nvSpPr>
        <p:spPr>
          <a:xfrm>
            <a:off x="2944368" y="5184648"/>
            <a:ext cx="181965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486</a:t>
            </a:r>
            <a:endParaRPr lang="en-US" sz="1400" dirty="0"/>
          </a:p>
        </p:txBody>
      </p:sp>
      <p:sp>
        <p:nvSpPr>
          <p:cNvPr id="15" name="Text 12"/>
          <p:cNvSpPr/>
          <p:nvPr/>
        </p:nvSpPr>
        <p:spPr>
          <a:xfrm>
            <a:off x="2944368" y="5422392"/>
            <a:ext cx="181965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after validation + cleaning</a:t>
            </a:r>
            <a:endParaRPr lang="en-US" sz="580" dirty="0"/>
          </a:p>
        </p:txBody>
      </p:sp>
      <p:sp>
        <p:nvSpPr>
          <p:cNvPr id="16" name="Shape 13"/>
          <p:cNvSpPr/>
          <p:nvPr/>
        </p:nvSpPr>
        <p:spPr>
          <a:xfrm>
            <a:off x="5129784" y="4919472"/>
            <a:ext cx="1965960" cy="640080"/>
          </a:xfrm>
          <a:prstGeom prst="roundRect">
            <a:avLst>
              <a:gd name="adj" fmla="val 7143"/>
            </a:avLst>
          </a:prstGeom>
          <a:solidFill>
            <a:srgbClr val="FFFFFF"/>
          </a:solidFill>
          <a:ln w="8890">
            <a:solidFill>
              <a:srgbClr val="CADBE9"/>
            </a:solidFill>
            <a:prstDash val="solid"/>
          </a:ln>
        </p:spPr>
      </p:sp>
      <p:sp>
        <p:nvSpPr>
          <p:cNvPr id="17" name="Text 14"/>
          <p:cNvSpPr/>
          <p:nvPr/>
        </p:nvSpPr>
        <p:spPr>
          <a:xfrm>
            <a:off x="5202936" y="4992624"/>
            <a:ext cx="181965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Engineered features</a:t>
            </a:r>
            <a:endParaRPr lang="en-US" sz="620" dirty="0"/>
          </a:p>
        </p:txBody>
      </p:sp>
      <p:sp>
        <p:nvSpPr>
          <p:cNvPr id="18" name="Text 15"/>
          <p:cNvSpPr/>
          <p:nvPr/>
        </p:nvSpPr>
        <p:spPr>
          <a:xfrm>
            <a:off x="5202936" y="5184648"/>
            <a:ext cx="181965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26–28</a:t>
            </a:r>
            <a:endParaRPr lang="en-US" sz="1400" dirty="0"/>
          </a:p>
        </p:txBody>
      </p:sp>
      <p:sp>
        <p:nvSpPr>
          <p:cNvPr id="19" name="Text 16"/>
          <p:cNvSpPr/>
          <p:nvPr/>
        </p:nvSpPr>
        <p:spPr>
          <a:xfrm>
            <a:off x="5202936" y="5422392"/>
            <a:ext cx="181965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pressure / temp / thickness</a:t>
            </a:r>
            <a:endParaRPr lang="en-US" sz="580" dirty="0"/>
          </a:p>
        </p:txBody>
      </p:sp>
      <p:sp>
        <p:nvSpPr>
          <p:cNvPr id="20" name="Shape 17"/>
          <p:cNvSpPr/>
          <p:nvPr/>
        </p:nvSpPr>
        <p:spPr>
          <a:xfrm>
            <a:off x="7388352" y="4919472"/>
            <a:ext cx="1965960" cy="640080"/>
          </a:xfrm>
          <a:prstGeom prst="roundRect">
            <a:avLst>
              <a:gd name="adj" fmla="val 7143"/>
            </a:avLst>
          </a:prstGeom>
          <a:solidFill>
            <a:srgbClr val="FFFFFF"/>
          </a:solidFill>
          <a:ln w="8890">
            <a:solidFill>
              <a:srgbClr val="CADBE9"/>
            </a:solidFill>
            <a:prstDash val="solid"/>
          </a:ln>
        </p:spPr>
      </p:sp>
      <p:sp>
        <p:nvSpPr>
          <p:cNvPr id="21" name="Text 18"/>
          <p:cNvSpPr/>
          <p:nvPr/>
        </p:nvSpPr>
        <p:spPr>
          <a:xfrm>
            <a:off x="7461504" y="4992624"/>
            <a:ext cx="181965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Served model R²</a:t>
            </a:r>
            <a:endParaRPr lang="en-US" sz="620" dirty="0"/>
          </a:p>
        </p:txBody>
      </p:sp>
      <p:sp>
        <p:nvSpPr>
          <p:cNvPr id="22" name="Text 19"/>
          <p:cNvSpPr/>
          <p:nvPr/>
        </p:nvSpPr>
        <p:spPr>
          <a:xfrm>
            <a:off x="7461504" y="5184648"/>
            <a:ext cx="181965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~0.69</a:t>
            </a:r>
            <a:endParaRPr lang="en-US" sz="1400" dirty="0"/>
          </a:p>
        </p:txBody>
      </p:sp>
      <p:sp>
        <p:nvSpPr>
          <p:cNvPr id="23" name="Text 20"/>
          <p:cNvSpPr/>
          <p:nvPr/>
        </p:nvSpPr>
        <p:spPr>
          <a:xfrm>
            <a:off x="7461504" y="5422392"/>
            <a:ext cx="181965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density &amp; bending RF bundles</a:t>
            </a:r>
            <a:endParaRPr lang="en-US" sz="580" dirty="0"/>
          </a:p>
        </p:txBody>
      </p:sp>
      <p:sp>
        <p:nvSpPr>
          <p:cNvPr id="24" name="Shape 21"/>
          <p:cNvSpPr/>
          <p:nvPr/>
        </p:nvSpPr>
        <p:spPr>
          <a:xfrm>
            <a:off x="9646920" y="4919472"/>
            <a:ext cx="1965960" cy="640080"/>
          </a:xfrm>
          <a:prstGeom prst="roundRect">
            <a:avLst>
              <a:gd name="adj" fmla="val 7143"/>
            </a:avLst>
          </a:prstGeom>
          <a:solidFill>
            <a:srgbClr val="FFFFFF"/>
          </a:solidFill>
          <a:ln w="8890">
            <a:solidFill>
              <a:srgbClr val="CADBE9"/>
            </a:solidFill>
            <a:prstDash val="solid"/>
          </a:ln>
        </p:spPr>
      </p:sp>
      <p:sp>
        <p:nvSpPr>
          <p:cNvPr id="25" name="Text 22"/>
          <p:cNvSpPr/>
          <p:nvPr/>
        </p:nvSpPr>
        <p:spPr>
          <a:xfrm>
            <a:off x="9720072" y="4992624"/>
            <a:ext cx="181965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GUI direction</a:t>
            </a:r>
            <a:endParaRPr lang="en-US" sz="620" dirty="0"/>
          </a:p>
        </p:txBody>
      </p:sp>
      <p:sp>
        <p:nvSpPr>
          <p:cNvPr id="26" name="Text 23"/>
          <p:cNvSpPr/>
          <p:nvPr/>
        </p:nvSpPr>
        <p:spPr>
          <a:xfrm>
            <a:off x="9720072" y="5184648"/>
            <a:ext cx="181965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Cockpit</a:t>
            </a:r>
            <a:endParaRPr lang="en-US" sz="1400" dirty="0"/>
          </a:p>
        </p:txBody>
      </p:sp>
      <p:sp>
        <p:nvSpPr>
          <p:cNvPr id="27" name="Text 24"/>
          <p:cNvSpPr/>
          <p:nvPr/>
        </p:nvSpPr>
        <p:spPr>
          <a:xfrm>
            <a:off x="9720072" y="5422392"/>
            <a:ext cx="181965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prediction history + operations view</a:t>
            </a:r>
            <a:endParaRPr lang="en-US" sz="580" dirty="0"/>
          </a:p>
        </p:txBody>
      </p:sp>
      <p:sp>
        <p:nvSpPr>
          <p:cNvPr id="28" name="Text 25"/>
          <p:cNvSpPr/>
          <p:nvPr/>
        </p:nvSpPr>
        <p:spPr>
          <a:xfrm>
            <a:off x="621792" y="6236208"/>
            <a:ext cx="8503920" cy="146304"/>
          </a:xfrm>
          <a:prstGeom prst="rect">
            <a:avLst/>
          </a:prstGeom>
          <a:noFill/>
          <a:ln/>
        </p:spPr>
        <p:txBody>
          <a:bodyPr wrap="square" lIns="0" tIns="0" rIns="0" bIns="0" rtlCol="0" anchor="ctr"/>
          <a:lstStyle/>
          <a:p>
            <a:pPr marL="0" indent="0">
              <a:buNone/>
            </a:pPr>
            <a:r>
              <a:rPr lang="en-US" sz="650" dirty="0">
                <a:solidFill>
                  <a:srgbClr val="AFC3D8"/>
                </a:solidFill>
              </a:rPr>
              <a:t>Reviewed source base: uploaded project deck, model summaries, training / repo notes, current GUIService direction, and April 2026 build status.</a:t>
            </a:r>
            <a:endParaRPr lang="en-US" sz="650" dirty="0"/>
          </a:p>
        </p:txBody>
      </p:sp>
      <p:sp>
        <p:nvSpPr>
          <p:cNvPr id="29" name="Text 26"/>
          <p:cNvSpPr/>
          <p:nvPr/>
        </p:nvSpPr>
        <p:spPr>
          <a:xfrm>
            <a:off x="9966960" y="6236208"/>
            <a:ext cx="1645920" cy="146304"/>
          </a:xfrm>
          <a:prstGeom prst="rect">
            <a:avLst/>
          </a:prstGeom>
          <a:noFill/>
          <a:ln/>
        </p:spPr>
        <p:txBody>
          <a:bodyPr wrap="square" lIns="0" tIns="0" rIns="0" bIns="0" rtlCol="0" anchor="ctr"/>
          <a:lstStyle/>
          <a:p>
            <a:pPr marL="0" indent="0" algn="r">
              <a:buNone/>
            </a:pPr>
            <a:r>
              <a:rPr lang="en-US" sz="650" dirty="0">
                <a:solidFill>
                  <a:srgbClr val="AFC3D8"/>
                </a:solidFill>
              </a:rPr>
              <a:t>April </a:t>
            </a:r>
            <a:r>
              <a:rPr lang="en-US" sz="650" dirty="0" smtClean="0">
                <a:solidFill>
                  <a:srgbClr val="AFC3D8"/>
                </a:solidFill>
              </a:rPr>
              <a:t>30, 2026 </a:t>
            </a:r>
            <a:r>
              <a:rPr lang="en-US" sz="650" dirty="0">
                <a:solidFill>
                  <a:srgbClr val="AFC3D8"/>
                </a:solidFill>
              </a:rPr>
              <a:t>review update</a:t>
            </a:r>
            <a:endParaRPr lang="en-US" sz="650" dirty="0"/>
          </a:p>
        </p:txBody>
      </p:sp>
      <p:sp>
        <p:nvSpPr>
          <p:cNvPr id="30" name="Text 27"/>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9DB4C6"/>
                </a:solidFill>
                <a:latin typeface="Aptos" pitchFamily="34" charset="0"/>
                <a:ea typeface="Aptos" pitchFamily="34" charset="-122"/>
                <a:cs typeface="Aptos" pitchFamily="34" charset="-120"/>
              </a:rPr>
              <a:t>MDF1 ML PROJECT</a:t>
            </a:r>
            <a:endParaRPr lang="en-US" sz="550" dirty="0"/>
          </a:p>
        </p:txBody>
      </p:sp>
      <p:sp>
        <p:nvSpPr>
          <p:cNvPr id="31" name="Text 28"/>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9DB4C6"/>
                </a:solidFill>
              </a:rPr>
              <a:t>01</a:t>
            </a:r>
            <a:endParaRPr lang="en-US" sz="5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Executive snapshot</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What exists now, what changed in this update, and how the current position should be communicated.</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02</a:t>
            </a:r>
            <a:endParaRPr lang="en-US" sz="550" dirty="0"/>
          </a:p>
        </p:txBody>
      </p:sp>
      <p:sp>
        <p:nvSpPr>
          <p:cNvPr id="7" name="Shape 5"/>
          <p:cNvSpPr/>
          <p:nvPr/>
        </p:nvSpPr>
        <p:spPr>
          <a:xfrm>
            <a:off x="502919" y="1143000"/>
            <a:ext cx="3540345" cy="1051560"/>
          </a:xfrm>
          <a:prstGeom prst="roundRect">
            <a:avLst>
              <a:gd name="adj" fmla="val 5217"/>
            </a:avLst>
          </a:prstGeom>
          <a:solidFill>
            <a:srgbClr val="FFFFFF"/>
          </a:solidFill>
          <a:ln w="8890">
            <a:solidFill>
              <a:srgbClr val="D8E4EE"/>
            </a:solidFill>
            <a:prstDash val="solid"/>
          </a:ln>
        </p:spPr>
      </p:sp>
      <p:sp>
        <p:nvSpPr>
          <p:cNvPr id="8" name="Text 6"/>
          <p:cNvSpPr/>
          <p:nvPr/>
        </p:nvSpPr>
        <p:spPr>
          <a:xfrm>
            <a:off x="630936" y="1280160"/>
            <a:ext cx="308152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Business objective</a:t>
            </a:r>
            <a:endParaRPr lang="en-US" sz="930" dirty="0"/>
          </a:p>
        </p:txBody>
      </p:sp>
      <p:sp>
        <p:nvSpPr>
          <p:cNvPr id="9" name="Text 7"/>
          <p:cNvSpPr/>
          <p:nvPr/>
        </p:nvSpPr>
        <p:spPr>
          <a:xfrm>
            <a:off x="630936" y="1600200"/>
            <a:ext cx="3081528" cy="484632"/>
          </a:xfrm>
          <a:prstGeom prst="rect">
            <a:avLst/>
          </a:prstGeom>
          <a:noFill/>
          <a:ln/>
        </p:spPr>
        <p:txBody>
          <a:bodyPr wrap="square" lIns="0" tIns="0" rIns="0" bIns="0" rtlCol="0" anchor="ctr">
            <a:normAutofit/>
          </a:bodyPr>
          <a:lstStyle/>
          <a:p>
            <a:r>
              <a:rPr lang="en-US" sz="780" dirty="0">
                <a:solidFill>
                  <a:srgbClr val="60758B"/>
                </a:solidFill>
              </a:rPr>
              <a:t>Predict MDF1 quality targets from KSoft production signals so the organization can move </a:t>
            </a:r>
            <a:r>
              <a:rPr lang="en-US" sz="780" dirty="0" smtClean="0">
                <a:solidFill>
                  <a:srgbClr val="60758B"/>
                </a:solidFill>
              </a:rPr>
              <a:t/>
            </a:r>
            <a:br>
              <a:rPr lang="en-US" sz="780" dirty="0" smtClean="0">
                <a:solidFill>
                  <a:srgbClr val="60758B"/>
                </a:solidFill>
              </a:rPr>
            </a:br>
            <a:r>
              <a:rPr lang="en-GB" sz="780" dirty="0" smtClean="0">
                <a:solidFill>
                  <a:srgbClr val="60758B"/>
                </a:solidFill>
              </a:rPr>
              <a:t>From </a:t>
            </a:r>
            <a:r>
              <a:rPr lang="en-GB" sz="780" dirty="0">
                <a:solidFill>
                  <a:srgbClr val="60758B"/>
                </a:solidFill>
              </a:rPr>
              <a:t>reactive lab checks → to early, data-driven quality decisions.</a:t>
            </a:r>
            <a:endParaRPr lang="en-US" sz="780" dirty="0"/>
          </a:p>
        </p:txBody>
      </p:sp>
      <p:sp>
        <p:nvSpPr>
          <p:cNvPr id="10" name="Shape 8"/>
          <p:cNvSpPr/>
          <p:nvPr/>
        </p:nvSpPr>
        <p:spPr>
          <a:xfrm>
            <a:off x="502920" y="1143000"/>
            <a:ext cx="36576" cy="1051560"/>
          </a:xfrm>
          <a:prstGeom prst="rect">
            <a:avLst/>
          </a:prstGeom>
          <a:solidFill>
            <a:srgbClr val="1E90F3"/>
          </a:solidFill>
          <a:ln w="12700">
            <a:solidFill>
              <a:srgbClr val="1E90F3"/>
            </a:solidFill>
            <a:prstDash val="solid"/>
          </a:ln>
        </p:spPr>
      </p:sp>
      <p:sp>
        <p:nvSpPr>
          <p:cNvPr id="11" name="Shape 9"/>
          <p:cNvSpPr/>
          <p:nvPr/>
        </p:nvSpPr>
        <p:spPr>
          <a:xfrm>
            <a:off x="4267200" y="1143000"/>
            <a:ext cx="3210384" cy="1051560"/>
          </a:xfrm>
          <a:prstGeom prst="roundRect">
            <a:avLst>
              <a:gd name="adj" fmla="val 5217"/>
            </a:avLst>
          </a:prstGeom>
          <a:solidFill>
            <a:srgbClr val="E9F4FF"/>
          </a:solidFill>
          <a:ln w="8890">
            <a:solidFill>
              <a:srgbClr val="D8E4EE"/>
            </a:solidFill>
            <a:prstDash val="solid"/>
          </a:ln>
        </p:spPr>
      </p:sp>
      <p:sp>
        <p:nvSpPr>
          <p:cNvPr id="12" name="Text 10"/>
          <p:cNvSpPr/>
          <p:nvPr/>
        </p:nvSpPr>
        <p:spPr>
          <a:xfrm>
            <a:off x="4289904" y="1292912"/>
            <a:ext cx="308152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What is built now</a:t>
            </a:r>
            <a:endParaRPr lang="en-US" sz="930" dirty="0"/>
          </a:p>
        </p:txBody>
      </p:sp>
      <p:sp>
        <p:nvSpPr>
          <p:cNvPr id="13" name="Text 11"/>
          <p:cNvSpPr/>
          <p:nvPr/>
        </p:nvSpPr>
        <p:spPr>
          <a:xfrm>
            <a:off x="4333696" y="1593669"/>
            <a:ext cx="3081528" cy="484632"/>
          </a:xfrm>
          <a:prstGeom prst="rect">
            <a:avLst/>
          </a:prstGeom>
          <a:noFill/>
          <a:ln/>
        </p:spPr>
        <p:txBody>
          <a:bodyPr wrap="square" lIns="0" tIns="0" rIns="0" bIns="0" rtlCol="0" anchor="ctr">
            <a:normAutofit/>
          </a:bodyPr>
          <a:lstStyle/>
          <a:p>
            <a:pPr marL="0" indent="0">
              <a:buNone/>
            </a:pPr>
            <a:r>
              <a:rPr lang="en-US" sz="780" dirty="0">
                <a:solidFill>
                  <a:srgbClr val="60758B"/>
                </a:solidFill>
              </a:rPr>
              <a:t>Offline TrainingService, governed artifacts, FastAPI PredictionService, and first GUIService cockpit layer for human-facing prediction review.</a:t>
            </a:r>
            <a:endParaRPr lang="en-US" sz="780" dirty="0"/>
          </a:p>
        </p:txBody>
      </p:sp>
      <p:sp>
        <p:nvSpPr>
          <p:cNvPr id="14" name="Shape 12"/>
          <p:cNvSpPr/>
          <p:nvPr/>
        </p:nvSpPr>
        <p:spPr>
          <a:xfrm>
            <a:off x="4224528" y="1138335"/>
            <a:ext cx="36576" cy="1051560"/>
          </a:xfrm>
          <a:prstGeom prst="rect">
            <a:avLst/>
          </a:prstGeom>
          <a:solidFill>
            <a:srgbClr val="18B996"/>
          </a:solidFill>
          <a:ln w="12700">
            <a:solidFill>
              <a:srgbClr val="18B996"/>
            </a:solidFill>
            <a:prstDash val="solid"/>
          </a:ln>
        </p:spPr>
      </p:sp>
      <p:sp>
        <p:nvSpPr>
          <p:cNvPr id="15" name="Shape 13"/>
          <p:cNvSpPr/>
          <p:nvPr/>
        </p:nvSpPr>
        <p:spPr>
          <a:xfrm>
            <a:off x="7569024" y="1170681"/>
            <a:ext cx="4263312" cy="1051560"/>
          </a:xfrm>
          <a:prstGeom prst="roundRect">
            <a:avLst>
              <a:gd name="adj" fmla="val 5217"/>
            </a:avLst>
          </a:prstGeom>
          <a:solidFill>
            <a:srgbClr val="E9F8F2"/>
          </a:solidFill>
          <a:ln w="8890">
            <a:solidFill>
              <a:srgbClr val="CFEBDD"/>
            </a:solidFill>
            <a:prstDash val="solid"/>
          </a:ln>
        </p:spPr>
      </p:sp>
      <p:sp>
        <p:nvSpPr>
          <p:cNvPr id="16" name="Text 14"/>
          <p:cNvSpPr/>
          <p:nvPr/>
        </p:nvSpPr>
        <p:spPr>
          <a:xfrm>
            <a:off x="7708392" y="1280160"/>
            <a:ext cx="349300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Current proven status</a:t>
            </a:r>
            <a:endParaRPr lang="en-US" sz="930" dirty="0"/>
          </a:p>
        </p:txBody>
      </p:sp>
      <p:sp>
        <p:nvSpPr>
          <p:cNvPr id="17" name="Text 15"/>
          <p:cNvSpPr/>
          <p:nvPr/>
        </p:nvSpPr>
        <p:spPr>
          <a:xfrm>
            <a:off x="7708392" y="1600200"/>
            <a:ext cx="3493008" cy="484632"/>
          </a:xfrm>
          <a:prstGeom prst="rect">
            <a:avLst/>
          </a:prstGeom>
          <a:noFill/>
          <a:ln/>
        </p:spPr>
        <p:txBody>
          <a:bodyPr wrap="square" lIns="0" tIns="0" rIns="0" bIns="0" rtlCol="0" anchor="ctr">
            <a:normAutofit/>
          </a:bodyPr>
          <a:lstStyle/>
          <a:p>
            <a:pPr marL="0" indent="0">
              <a:buNone/>
            </a:pPr>
            <a:r>
              <a:rPr lang="en-US" sz="780" dirty="0">
                <a:solidFill>
                  <a:srgbClr val="60758B"/>
                </a:solidFill>
              </a:rPr>
              <a:t>Approved bundles load successfully; /health, /models, /predict and /predict-all patterns are established; GUI is becoming the operator-facing layer.</a:t>
            </a:r>
            <a:endParaRPr lang="en-US" sz="780" dirty="0"/>
          </a:p>
        </p:txBody>
      </p:sp>
      <p:sp>
        <p:nvSpPr>
          <p:cNvPr id="18" name="Shape 16"/>
          <p:cNvSpPr/>
          <p:nvPr/>
        </p:nvSpPr>
        <p:spPr>
          <a:xfrm>
            <a:off x="7580376" y="1143000"/>
            <a:ext cx="36576" cy="1051560"/>
          </a:xfrm>
          <a:prstGeom prst="rect">
            <a:avLst/>
          </a:prstGeom>
          <a:solidFill>
            <a:srgbClr val="16A05D"/>
          </a:solidFill>
          <a:ln w="12700">
            <a:solidFill>
              <a:srgbClr val="16A05D"/>
            </a:solidFill>
            <a:prstDash val="solid"/>
          </a:ln>
        </p:spPr>
      </p:sp>
      <p:sp>
        <p:nvSpPr>
          <p:cNvPr id="19" name="Shape 17"/>
          <p:cNvSpPr/>
          <p:nvPr/>
        </p:nvSpPr>
        <p:spPr>
          <a:xfrm>
            <a:off x="502920" y="2514600"/>
            <a:ext cx="5349240" cy="1828800"/>
          </a:xfrm>
          <a:prstGeom prst="roundRect">
            <a:avLst>
              <a:gd name="adj" fmla="val 3000"/>
            </a:avLst>
          </a:prstGeom>
          <a:solidFill>
            <a:srgbClr val="FFFFFF"/>
          </a:solidFill>
          <a:ln w="8890">
            <a:solidFill>
              <a:srgbClr val="D8E4EE"/>
            </a:solidFill>
            <a:prstDash val="solid"/>
          </a:ln>
        </p:spPr>
      </p:sp>
      <p:sp>
        <p:nvSpPr>
          <p:cNvPr id="20" name="Text 18"/>
          <p:cNvSpPr/>
          <p:nvPr/>
        </p:nvSpPr>
        <p:spPr>
          <a:xfrm>
            <a:off x="630936" y="2651760"/>
            <a:ext cx="509320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Current strongest story</a:t>
            </a:r>
            <a:endParaRPr lang="en-US" sz="930" dirty="0"/>
          </a:p>
        </p:txBody>
      </p:sp>
      <p:sp>
        <p:nvSpPr>
          <p:cNvPr id="21" name="Text 19"/>
          <p:cNvSpPr/>
          <p:nvPr/>
        </p:nvSpPr>
        <p:spPr>
          <a:xfrm>
            <a:off x="630936" y="2971800"/>
            <a:ext cx="5093208" cy="1261872"/>
          </a:xfrm>
          <a:prstGeom prst="rect">
            <a:avLst/>
          </a:prstGeom>
          <a:noFill/>
          <a:ln/>
        </p:spPr>
        <p:txBody>
          <a:bodyPr wrap="square" lIns="0" tIns="0" rIns="0" bIns="0" rtlCol="0" anchor="ctr">
            <a:normAutofit/>
          </a:bodyPr>
          <a:lstStyle/>
          <a:p>
            <a:pPr marL="0" indent="0">
              <a:buNone/>
            </a:pPr>
            <a:r>
              <a:rPr lang="en-US" sz="780" dirty="0">
                <a:solidFill>
                  <a:srgbClr val="60758B"/>
                </a:solidFill>
              </a:rPr>
              <a:t>• End-to-end ML system, </a:t>
            </a:r>
            <a:endParaRPr lang="en-US" sz="780" dirty="0" smtClean="0">
              <a:solidFill>
                <a:srgbClr val="60758B"/>
              </a:solidFill>
            </a:endParaRPr>
          </a:p>
          <a:p>
            <a:pPr marL="0" indent="0">
              <a:buNone/>
            </a:pPr>
            <a:r>
              <a:rPr lang="en-US" sz="780" dirty="0" smtClean="0">
                <a:solidFill>
                  <a:srgbClr val="60758B"/>
                </a:solidFill>
              </a:rPr>
              <a:t>• </a:t>
            </a:r>
            <a:r>
              <a:rPr lang="en-US" sz="780" dirty="0">
                <a:solidFill>
                  <a:srgbClr val="60758B"/>
                </a:solidFill>
              </a:rPr>
              <a:t>Training and serving are separated</a:t>
            </a:r>
            <a:endParaRPr lang="en-US" sz="780" dirty="0"/>
          </a:p>
          <a:p>
            <a:pPr marL="0" indent="0">
              <a:buNone/>
            </a:pPr>
            <a:r>
              <a:rPr lang="en-US" sz="780" dirty="0">
                <a:solidFill>
                  <a:srgbClr val="60758B"/>
                </a:solidFill>
              </a:rPr>
              <a:t>• RF remains strongest practical default for served density and </a:t>
            </a:r>
            <a:r>
              <a:rPr lang="en-US" sz="780" dirty="0" smtClean="0">
                <a:solidFill>
                  <a:srgbClr val="60758B"/>
                </a:solidFill>
              </a:rPr>
              <a:t>bending ( these two multi targets for now)</a:t>
            </a:r>
            <a:endParaRPr lang="en-US" sz="780" dirty="0"/>
          </a:p>
          <a:p>
            <a:pPr marL="0" indent="0">
              <a:buNone/>
            </a:pPr>
            <a:r>
              <a:rPr lang="en-US" sz="780" dirty="0">
                <a:solidFill>
                  <a:srgbClr val="60758B"/>
                </a:solidFill>
              </a:rPr>
              <a:t>• Architecture now supports GUI + DB logging direction</a:t>
            </a:r>
            <a:endParaRPr lang="en-US" sz="780" dirty="0"/>
          </a:p>
        </p:txBody>
      </p:sp>
      <p:sp>
        <p:nvSpPr>
          <p:cNvPr id="22" name="Shape 20"/>
          <p:cNvSpPr/>
          <p:nvPr/>
        </p:nvSpPr>
        <p:spPr>
          <a:xfrm>
            <a:off x="502920" y="2514600"/>
            <a:ext cx="36576" cy="1828800"/>
          </a:xfrm>
          <a:prstGeom prst="rect">
            <a:avLst/>
          </a:prstGeom>
          <a:solidFill>
            <a:srgbClr val="1E90F3"/>
          </a:solidFill>
          <a:ln w="12700">
            <a:solidFill>
              <a:srgbClr val="1E90F3"/>
            </a:solidFill>
            <a:prstDash val="solid"/>
          </a:ln>
        </p:spPr>
      </p:sp>
      <p:sp>
        <p:nvSpPr>
          <p:cNvPr id="23" name="Shape 21"/>
          <p:cNvSpPr/>
          <p:nvPr/>
        </p:nvSpPr>
        <p:spPr>
          <a:xfrm>
            <a:off x="6080759" y="2514600"/>
            <a:ext cx="5751577" cy="1828800"/>
          </a:xfrm>
          <a:prstGeom prst="roundRect">
            <a:avLst>
              <a:gd name="adj" fmla="val 3000"/>
            </a:avLst>
          </a:prstGeom>
          <a:solidFill>
            <a:srgbClr val="FFFFFF"/>
          </a:solidFill>
          <a:ln w="8890">
            <a:solidFill>
              <a:srgbClr val="D8E4EE"/>
            </a:solidFill>
            <a:prstDash val="solid"/>
          </a:ln>
        </p:spPr>
      </p:sp>
      <p:sp>
        <p:nvSpPr>
          <p:cNvPr id="24" name="Text 22"/>
          <p:cNvSpPr/>
          <p:nvPr/>
        </p:nvSpPr>
        <p:spPr>
          <a:xfrm>
            <a:off x="6208776" y="2651760"/>
            <a:ext cx="50017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Most important </a:t>
            </a:r>
            <a:r>
              <a:rPr lang="en-US" sz="930" b="1" dirty="0" smtClean="0">
                <a:solidFill>
                  <a:srgbClr val="0F2942"/>
                </a:solidFill>
              </a:rPr>
              <a:t>considerations</a:t>
            </a:r>
            <a:endParaRPr lang="en-US" sz="930" dirty="0"/>
          </a:p>
        </p:txBody>
      </p:sp>
      <p:sp>
        <p:nvSpPr>
          <p:cNvPr id="25" name="Text 23"/>
          <p:cNvSpPr/>
          <p:nvPr/>
        </p:nvSpPr>
        <p:spPr>
          <a:xfrm>
            <a:off x="6208775" y="2971800"/>
            <a:ext cx="5623561" cy="1261872"/>
          </a:xfrm>
          <a:prstGeom prst="rect">
            <a:avLst/>
          </a:prstGeom>
          <a:noFill/>
          <a:ln/>
        </p:spPr>
        <p:txBody>
          <a:bodyPr wrap="square" lIns="0" tIns="0" rIns="0" bIns="0" rtlCol="0" anchor="ctr">
            <a:normAutofit/>
          </a:bodyPr>
          <a:lstStyle/>
          <a:p>
            <a:r>
              <a:rPr lang="en-US" sz="780" dirty="0">
                <a:solidFill>
                  <a:srgbClr val="60758B"/>
                </a:solidFill>
              </a:rPr>
              <a:t>• Dataset is still small after </a:t>
            </a:r>
            <a:r>
              <a:rPr lang="en-US" sz="780" dirty="0" smtClean="0">
                <a:solidFill>
                  <a:srgbClr val="60758B"/>
                </a:solidFill>
              </a:rPr>
              <a:t>cleaning =&gt; </a:t>
            </a:r>
            <a:r>
              <a:rPr lang="en-GB" sz="780" dirty="0">
                <a:solidFill>
                  <a:srgbClr val="60758B"/>
                </a:solidFill>
              </a:rPr>
              <a:t>more data = more reliable </a:t>
            </a:r>
            <a:r>
              <a:rPr lang="en-GB" sz="780" dirty="0" smtClean="0">
                <a:solidFill>
                  <a:srgbClr val="60758B"/>
                </a:solidFill>
              </a:rPr>
              <a:t>models</a:t>
            </a:r>
          </a:p>
          <a:p>
            <a:endParaRPr lang="en-US" sz="780" dirty="0"/>
          </a:p>
          <a:p>
            <a:r>
              <a:rPr lang="en-US" sz="780" dirty="0">
                <a:solidFill>
                  <a:srgbClr val="60758B"/>
                </a:solidFill>
              </a:rPr>
              <a:t>• Reporting needs one official reference metric </a:t>
            </a:r>
            <a:r>
              <a:rPr lang="en-US" sz="780" dirty="0" smtClean="0">
                <a:solidFill>
                  <a:srgbClr val="60758B"/>
                </a:solidFill>
              </a:rPr>
              <a:t>view =&gt; </a:t>
            </a:r>
            <a:r>
              <a:rPr lang="en-GB" sz="780" dirty="0">
                <a:solidFill>
                  <a:srgbClr val="60758B"/>
                </a:solidFill>
              </a:rPr>
              <a:t>We need one standardized report as the official </a:t>
            </a:r>
            <a:r>
              <a:rPr lang="en-GB" sz="780" dirty="0" smtClean="0">
                <a:solidFill>
                  <a:srgbClr val="60758B"/>
                </a:solidFill>
              </a:rPr>
              <a:t>reference</a:t>
            </a:r>
          </a:p>
          <a:p>
            <a:endParaRPr lang="en-US" sz="780" dirty="0"/>
          </a:p>
          <a:p>
            <a:r>
              <a:rPr lang="en-US" sz="780" dirty="0">
                <a:solidFill>
                  <a:srgbClr val="60758B"/>
                </a:solidFill>
              </a:rPr>
              <a:t>• API packaging, monitoring and release hygiene are still </a:t>
            </a:r>
            <a:r>
              <a:rPr lang="en-US" sz="780" dirty="0" smtClean="0">
                <a:solidFill>
                  <a:srgbClr val="60758B"/>
                </a:solidFill>
              </a:rPr>
              <a:t>open =&gt; </a:t>
            </a:r>
            <a:r>
              <a:rPr lang="en-GB" sz="780" dirty="0">
                <a:solidFill>
                  <a:srgbClr val="60758B"/>
                </a:solidFill>
              </a:rPr>
              <a:t>System works technically, but not </a:t>
            </a:r>
            <a:r>
              <a:rPr lang="en-GB" sz="780" dirty="0" smtClean="0">
                <a:solidFill>
                  <a:srgbClr val="60758B"/>
                </a:solidFill>
              </a:rPr>
              <a:t>test on real production</a:t>
            </a:r>
          </a:p>
          <a:p>
            <a:endParaRPr lang="en-US" sz="780" dirty="0"/>
          </a:p>
          <a:p>
            <a:r>
              <a:rPr lang="en-US" sz="780" dirty="0">
                <a:solidFill>
                  <a:srgbClr val="60758B"/>
                </a:solidFill>
              </a:rPr>
              <a:t>• GUI/DB layer is prototype-to-hardening, not final </a:t>
            </a:r>
            <a:r>
              <a:rPr lang="en-US" sz="780" dirty="0" smtClean="0">
                <a:solidFill>
                  <a:srgbClr val="60758B"/>
                </a:solidFill>
              </a:rPr>
              <a:t>production =&gt; </a:t>
            </a:r>
            <a:r>
              <a:rPr lang="en-GB" sz="780" dirty="0">
                <a:solidFill>
                  <a:srgbClr val="60758B"/>
                </a:solidFill>
              </a:rPr>
              <a:t>It’s a working prototype, now moving toward a stable “cockpit”</a:t>
            </a:r>
            <a:endParaRPr lang="en-US" sz="780" dirty="0"/>
          </a:p>
        </p:txBody>
      </p:sp>
      <p:sp>
        <p:nvSpPr>
          <p:cNvPr id="26" name="Shape 24"/>
          <p:cNvSpPr/>
          <p:nvPr/>
        </p:nvSpPr>
        <p:spPr>
          <a:xfrm>
            <a:off x="6080760" y="2514600"/>
            <a:ext cx="36576" cy="1828800"/>
          </a:xfrm>
          <a:prstGeom prst="rect">
            <a:avLst/>
          </a:prstGeom>
          <a:solidFill>
            <a:srgbClr val="F5A623"/>
          </a:solidFill>
          <a:ln w="12700">
            <a:solidFill>
              <a:srgbClr val="F5A623"/>
            </a:solidFill>
            <a:prstDash val="solid"/>
          </a:ln>
        </p:spPr>
      </p:sp>
      <p:sp>
        <p:nvSpPr>
          <p:cNvPr id="27" name="Shape 25"/>
          <p:cNvSpPr/>
          <p:nvPr/>
        </p:nvSpPr>
        <p:spPr>
          <a:xfrm>
            <a:off x="685800" y="4892040"/>
            <a:ext cx="2011680" cy="640080"/>
          </a:xfrm>
          <a:prstGeom prst="roundRect">
            <a:avLst>
              <a:gd name="adj" fmla="val 7143"/>
            </a:avLst>
          </a:prstGeom>
          <a:solidFill>
            <a:srgbClr val="FFFFFF"/>
          </a:solidFill>
          <a:ln w="8890">
            <a:solidFill>
              <a:srgbClr val="CADBE9"/>
            </a:solidFill>
            <a:prstDash val="solid"/>
          </a:ln>
        </p:spPr>
      </p:sp>
      <p:sp>
        <p:nvSpPr>
          <p:cNvPr id="28" name="Text 26"/>
          <p:cNvSpPr/>
          <p:nvPr/>
        </p:nvSpPr>
        <p:spPr>
          <a:xfrm>
            <a:off x="758952" y="4965192"/>
            <a:ext cx="186537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Served density RF</a:t>
            </a:r>
            <a:endParaRPr lang="en-US" sz="620" dirty="0"/>
          </a:p>
        </p:txBody>
      </p:sp>
      <p:sp>
        <p:nvSpPr>
          <p:cNvPr id="29" name="Text 27"/>
          <p:cNvSpPr/>
          <p:nvPr/>
        </p:nvSpPr>
        <p:spPr>
          <a:xfrm>
            <a:off x="758952" y="5157216"/>
            <a:ext cx="186537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R² 0.6905</a:t>
            </a:r>
            <a:endParaRPr lang="en-US" sz="1400" dirty="0"/>
          </a:p>
        </p:txBody>
      </p:sp>
      <p:sp>
        <p:nvSpPr>
          <p:cNvPr id="30" name="Text 28"/>
          <p:cNvSpPr/>
          <p:nvPr/>
        </p:nvSpPr>
        <p:spPr>
          <a:xfrm>
            <a:off x="758952" y="5394960"/>
            <a:ext cx="186537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labDensityAverage_rf_v1</a:t>
            </a:r>
            <a:endParaRPr lang="en-US" sz="580" dirty="0"/>
          </a:p>
        </p:txBody>
      </p:sp>
      <p:sp>
        <p:nvSpPr>
          <p:cNvPr id="31" name="Shape 29"/>
          <p:cNvSpPr/>
          <p:nvPr/>
        </p:nvSpPr>
        <p:spPr>
          <a:xfrm>
            <a:off x="2880360" y="4892040"/>
            <a:ext cx="2011680" cy="640080"/>
          </a:xfrm>
          <a:prstGeom prst="roundRect">
            <a:avLst>
              <a:gd name="adj" fmla="val 7143"/>
            </a:avLst>
          </a:prstGeom>
          <a:solidFill>
            <a:srgbClr val="FFFFFF"/>
          </a:solidFill>
          <a:ln w="8890">
            <a:solidFill>
              <a:srgbClr val="CADBE9"/>
            </a:solidFill>
            <a:prstDash val="solid"/>
          </a:ln>
        </p:spPr>
      </p:sp>
      <p:sp>
        <p:nvSpPr>
          <p:cNvPr id="32" name="Text 30"/>
          <p:cNvSpPr/>
          <p:nvPr/>
        </p:nvSpPr>
        <p:spPr>
          <a:xfrm>
            <a:off x="2953512" y="4965192"/>
            <a:ext cx="186537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Served bending RF</a:t>
            </a:r>
            <a:endParaRPr lang="en-US" sz="620" dirty="0"/>
          </a:p>
        </p:txBody>
      </p:sp>
      <p:sp>
        <p:nvSpPr>
          <p:cNvPr id="33" name="Text 31"/>
          <p:cNvSpPr/>
          <p:nvPr/>
        </p:nvSpPr>
        <p:spPr>
          <a:xfrm>
            <a:off x="2953512" y="5157216"/>
            <a:ext cx="186537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R² 0.6923</a:t>
            </a:r>
            <a:endParaRPr lang="en-US" sz="1400" dirty="0"/>
          </a:p>
        </p:txBody>
      </p:sp>
      <p:sp>
        <p:nvSpPr>
          <p:cNvPr id="34" name="Text 32"/>
          <p:cNvSpPr/>
          <p:nvPr/>
        </p:nvSpPr>
        <p:spPr>
          <a:xfrm>
            <a:off x="2953512" y="5394960"/>
            <a:ext cx="186537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labBendingAvg_rf_v1</a:t>
            </a:r>
            <a:endParaRPr lang="en-US" sz="580" dirty="0"/>
          </a:p>
        </p:txBody>
      </p:sp>
      <p:sp>
        <p:nvSpPr>
          <p:cNvPr id="35" name="Shape 33"/>
          <p:cNvSpPr/>
          <p:nvPr/>
        </p:nvSpPr>
        <p:spPr>
          <a:xfrm>
            <a:off x="5074920" y="4892040"/>
            <a:ext cx="2011680" cy="640080"/>
          </a:xfrm>
          <a:prstGeom prst="roundRect">
            <a:avLst>
              <a:gd name="adj" fmla="val 7143"/>
            </a:avLst>
          </a:prstGeom>
          <a:solidFill>
            <a:srgbClr val="FFFFFF"/>
          </a:solidFill>
          <a:ln w="8890">
            <a:solidFill>
              <a:srgbClr val="CADBE9"/>
            </a:solidFill>
            <a:prstDash val="solid"/>
          </a:ln>
        </p:spPr>
      </p:sp>
      <p:sp>
        <p:nvSpPr>
          <p:cNvPr id="36" name="Text 34"/>
          <p:cNvSpPr/>
          <p:nvPr/>
        </p:nvSpPr>
        <p:spPr>
          <a:xfrm>
            <a:off x="5148072" y="4965192"/>
            <a:ext cx="186537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Best 5-target RF</a:t>
            </a:r>
            <a:endParaRPr lang="en-US" sz="620" dirty="0"/>
          </a:p>
        </p:txBody>
      </p:sp>
      <p:sp>
        <p:nvSpPr>
          <p:cNvPr id="37" name="Text 35"/>
          <p:cNvSpPr/>
          <p:nvPr/>
        </p:nvSpPr>
        <p:spPr>
          <a:xfrm>
            <a:off x="5148072" y="5157216"/>
            <a:ext cx="186537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R² 0.7578</a:t>
            </a:r>
            <a:endParaRPr lang="en-US" sz="1400" dirty="0"/>
          </a:p>
        </p:txBody>
      </p:sp>
      <p:sp>
        <p:nvSpPr>
          <p:cNvPr id="38" name="Text 36"/>
          <p:cNvSpPr/>
          <p:nvPr/>
        </p:nvSpPr>
        <p:spPr>
          <a:xfrm>
            <a:off x="5148072" y="5394960"/>
            <a:ext cx="186537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labSurfaceSoundnessAvg</a:t>
            </a:r>
            <a:endParaRPr lang="en-US" sz="580" dirty="0"/>
          </a:p>
        </p:txBody>
      </p:sp>
      <p:sp>
        <p:nvSpPr>
          <p:cNvPr id="39" name="Shape 37"/>
          <p:cNvSpPr/>
          <p:nvPr/>
        </p:nvSpPr>
        <p:spPr>
          <a:xfrm>
            <a:off x="7269480" y="4892040"/>
            <a:ext cx="2194560" cy="640080"/>
          </a:xfrm>
          <a:prstGeom prst="roundRect">
            <a:avLst>
              <a:gd name="adj" fmla="val 7143"/>
            </a:avLst>
          </a:prstGeom>
          <a:solidFill>
            <a:srgbClr val="FFFFFF"/>
          </a:solidFill>
          <a:ln w="8890">
            <a:solidFill>
              <a:srgbClr val="CADBE9"/>
            </a:solidFill>
            <a:prstDash val="solid"/>
          </a:ln>
        </p:spPr>
      </p:sp>
      <p:sp>
        <p:nvSpPr>
          <p:cNvPr id="40" name="Text 38"/>
          <p:cNvSpPr/>
          <p:nvPr/>
        </p:nvSpPr>
        <p:spPr>
          <a:xfrm>
            <a:off x="7342632" y="4965192"/>
            <a:ext cx="204825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Current update</a:t>
            </a:r>
            <a:endParaRPr lang="en-US" sz="620" dirty="0"/>
          </a:p>
        </p:txBody>
      </p:sp>
      <p:sp>
        <p:nvSpPr>
          <p:cNvPr id="41" name="Text 39"/>
          <p:cNvSpPr/>
          <p:nvPr/>
        </p:nvSpPr>
        <p:spPr>
          <a:xfrm>
            <a:off x="7342632" y="5157216"/>
            <a:ext cx="204825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GUI + DB</a:t>
            </a:r>
            <a:endParaRPr lang="en-US" sz="1400" dirty="0"/>
          </a:p>
        </p:txBody>
      </p:sp>
      <p:sp>
        <p:nvSpPr>
          <p:cNvPr id="42" name="Text 40"/>
          <p:cNvSpPr/>
          <p:nvPr/>
        </p:nvSpPr>
        <p:spPr>
          <a:xfrm>
            <a:off x="7342632" y="5394960"/>
            <a:ext cx="204825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cockpit and prediction logging path</a:t>
            </a:r>
            <a:endParaRPr lang="en-US" sz="580" dirty="0"/>
          </a:p>
        </p:txBody>
      </p:sp>
      <p:sp>
        <p:nvSpPr>
          <p:cNvPr id="43" name="Shape 41"/>
          <p:cNvSpPr/>
          <p:nvPr/>
        </p:nvSpPr>
        <p:spPr>
          <a:xfrm>
            <a:off x="9646920" y="4892040"/>
            <a:ext cx="1691640" cy="640080"/>
          </a:xfrm>
          <a:prstGeom prst="roundRect">
            <a:avLst>
              <a:gd name="adj" fmla="val 7143"/>
            </a:avLst>
          </a:prstGeom>
          <a:solidFill>
            <a:srgbClr val="FFFFFF"/>
          </a:solidFill>
          <a:ln w="8890">
            <a:solidFill>
              <a:srgbClr val="CADBE9"/>
            </a:solidFill>
            <a:prstDash val="solid"/>
          </a:ln>
        </p:spPr>
      </p:sp>
      <p:sp>
        <p:nvSpPr>
          <p:cNvPr id="44" name="Text 42"/>
          <p:cNvSpPr/>
          <p:nvPr/>
        </p:nvSpPr>
        <p:spPr>
          <a:xfrm>
            <a:off x="9720072" y="4965192"/>
            <a:ext cx="154533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Time range</a:t>
            </a:r>
            <a:endParaRPr lang="en-US" sz="620" dirty="0"/>
          </a:p>
        </p:txBody>
      </p:sp>
      <p:sp>
        <p:nvSpPr>
          <p:cNvPr id="45" name="Text 43"/>
          <p:cNvSpPr/>
          <p:nvPr/>
        </p:nvSpPr>
        <p:spPr>
          <a:xfrm>
            <a:off x="9720072" y="5157216"/>
            <a:ext cx="1545336" cy="201168"/>
          </a:xfrm>
          <a:prstGeom prst="rect">
            <a:avLst/>
          </a:prstGeom>
          <a:noFill/>
          <a:ln/>
        </p:spPr>
        <p:txBody>
          <a:bodyPr wrap="square" lIns="0" tIns="0" rIns="0" bIns="0" rtlCol="0" anchor="ctr">
            <a:normAutofit fontScale="85000" lnSpcReduction="10000"/>
          </a:bodyPr>
          <a:lstStyle/>
          <a:p>
            <a:pPr marL="0" indent="0">
              <a:buNone/>
            </a:pPr>
            <a:r>
              <a:rPr lang="en-US" sz="1400" b="1" dirty="0">
                <a:solidFill>
                  <a:srgbClr val="0F2942"/>
                </a:solidFill>
              </a:rPr>
              <a:t>Aug 2025 – Mar 2026</a:t>
            </a:r>
            <a:endParaRPr lang="en-US" sz="1400" dirty="0"/>
          </a:p>
        </p:txBody>
      </p:sp>
      <p:sp>
        <p:nvSpPr>
          <p:cNvPr id="46" name="Text 44"/>
          <p:cNvSpPr/>
          <p:nvPr/>
        </p:nvSpPr>
        <p:spPr>
          <a:xfrm>
            <a:off x="9720072" y="5394960"/>
            <a:ext cx="154533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baseProductionDate</a:t>
            </a:r>
            <a:endParaRPr lang="en-US" sz="58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From zero to now: project journey</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project matured through concrete engineering steps, not a single model-training event.</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03</a:t>
            </a:r>
            <a:endParaRPr lang="en-US" sz="550" dirty="0"/>
          </a:p>
        </p:txBody>
      </p:sp>
      <p:sp>
        <p:nvSpPr>
          <p:cNvPr id="7" name="Shape 5"/>
          <p:cNvSpPr/>
          <p:nvPr/>
        </p:nvSpPr>
        <p:spPr>
          <a:xfrm>
            <a:off x="1463040" y="2057400"/>
            <a:ext cx="1417320" cy="0"/>
          </a:xfrm>
          <a:prstGeom prst="line">
            <a:avLst/>
          </a:prstGeom>
          <a:noFill/>
          <a:ln w="13970">
            <a:solidFill>
              <a:srgbClr val="AFC4D7"/>
            </a:solidFill>
            <a:prstDash val="solid"/>
            <a:headEnd type="none"/>
            <a:tailEnd type="triangle"/>
          </a:ln>
        </p:spPr>
      </p:sp>
      <p:sp>
        <p:nvSpPr>
          <p:cNvPr id="8" name="Shape 6"/>
          <p:cNvSpPr/>
          <p:nvPr/>
        </p:nvSpPr>
        <p:spPr>
          <a:xfrm>
            <a:off x="3611880" y="2057400"/>
            <a:ext cx="1417320" cy="0"/>
          </a:xfrm>
          <a:prstGeom prst="line">
            <a:avLst/>
          </a:prstGeom>
          <a:noFill/>
          <a:ln w="13970">
            <a:solidFill>
              <a:srgbClr val="AFC4D7"/>
            </a:solidFill>
            <a:prstDash val="solid"/>
            <a:headEnd type="none"/>
            <a:tailEnd type="triangle"/>
          </a:ln>
        </p:spPr>
      </p:sp>
      <p:sp>
        <p:nvSpPr>
          <p:cNvPr id="9" name="Shape 7"/>
          <p:cNvSpPr/>
          <p:nvPr/>
        </p:nvSpPr>
        <p:spPr>
          <a:xfrm>
            <a:off x="5760720" y="2057400"/>
            <a:ext cx="1417320" cy="0"/>
          </a:xfrm>
          <a:prstGeom prst="line">
            <a:avLst/>
          </a:prstGeom>
          <a:noFill/>
          <a:ln w="13970">
            <a:solidFill>
              <a:srgbClr val="AFC4D7"/>
            </a:solidFill>
            <a:prstDash val="solid"/>
            <a:headEnd type="none"/>
            <a:tailEnd type="triangle"/>
          </a:ln>
        </p:spPr>
      </p:sp>
      <p:sp>
        <p:nvSpPr>
          <p:cNvPr id="10" name="Shape 8"/>
          <p:cNvSpPr/>
          <p:nvPr/>
        </p:nvSpPr>
        <p:spPr>
          <a:xfrm>
            <a:off x="7909560" y="2057400"/>
            <a:ext cx="1417320" cy="0"/>
          </a:xfrm>
          <a:prstGeom prst="line">
            <a:avLst/>
          </a:prstGeom>
          <a:noFill/>
          <a:ln w="13970">
            <a:solidFill>
              <a:srgbClr val="AFC4D7"/>
            </a:solidFill>
            <a:prstDash val="solid"/>
            <a:headEnd type="none"/>
            <a:tailEnd type="triangle"/>
          </a:ln>
        </p:spPr>
      </p:sp>
      <p:sp>
        <p:nvSpPr>
          <p:cNvPr id="11" name="Shape 9"/>
          <p:cNvSpPr/>
          <p:nvPr/>
        </p:nvSpPr>
        <p:spPr>
          <a:xfrm>
            <a:off x="1024128" y="1536192"/>
            <a:ext cx="566928" cy="566928"/>
          </a:xfrm>
          <a:prstGeom prst="ellipse">
            <a:avLst/>
          </a:prstGeom>
          <a:solidFill>
            <a:srgbClr val="E64B4B"/>
          </a:solidFill>
          <a:ln w="12700">
            <a:solidFill>
              <a:srgbClr val="E64B4B"/>
            </a:solidFill>
            <a:prstDash val="solid"/>
          </a:ln>
        </p:spPr>
      </p:sp>
      <p:sp>
        <p:nvSpPr>
          <p:cNvPr id="12" name="Text 10"/>
          <p:cNvSpPr/>
          <p:nvPr/>
        </p:nvSpPr>
        <p:spPr>
          <a:xfrm>
            <a:off x="1024128" y="1700784"/>
            <a:ext cx="566928" cy="109728"/>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13" name="Shape 11"/>
          <p:cNvSpPr/>
          <p:nvPr/>
        </p:nvSpPr>
        <p:spPr>
          <a:xfrm>
            <a:off x="640080" y="2395728"/>
            <a:ext cx="1600200" cy="1234440"/>
          </a:xfrm>
          <a:prstGeom prst="roundRect">
            <a:avLst>
              <a:gd name="adj" fmla="val 5185"/>
            </a:avLst>
          </a:prstGeom>
          <a:solidFill>
            <a:srgbClr val="FFFFFF"/>
          </a:solidFill>
          <a:ln w="8890">
            <a:solidFill>
              <a:srgbClr val="C9D8E6"/>
            </a:solidFill>
            <a:prstDash val="solid"/>
          </a:ln>
        </p:spPr>
      </p:sp>
      <p:sp>
        <p:nvSpPr>
          <p:cNvPr id="14" name="Text 12"/>
          <p:cNvSpPr/>
          <p:nvPr/>
        </p:nvSpPr>
        <p:spPr>
          <a:xfrm>
            <a:off x="749808" y="2505456"/>
            <a:ext cx="138074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1. Schema reality</a:t>
            </a:r>
            <a:endParaRPr lang="en-US" sz="840" dirty="0"/>
          </a:p>
          <a:p>
            <a:pPr marL="0" indent="0">
              <a:buNone/>
            </a:pPr>
            <a:r>
              <a:rPr lang="en-US" sz="840" b="1" dirty="0">
                <a:solidFill>
                  <a:srgbClr val="0F2942"/>
                </a:solidFill>
              </a:rPr>
              <a:t>check</a:t>
            </a:r>
            <a:endParaRPr lang="en-US" sz="840" dirty="0"/>
          </a:p>
        </p:txBody>
      </p:sp>
      <p:sp>
        <p:nvSpPr>
          <p:cNvPr id="15" name="Text 13"/>
          <p:cNvSpPr/>
          <p:nvPr/>
        </p:nvSpPr>
        <p:spPr>
          <a:xfrm>
            <a:off x="749808" y="2834640"/>
            <a:ext cx="1380744" cy="685800"/>
          </a:xfrm>
          <a:prstGeom prst="rect">
            <a:avLst/>
          </a:prstGeom>
          <a:noFill/>
          <a:ln/>
        </p:spPr>
        <p:txBody>
          <a:bodyPr wrap="square" lIns="0" tIns="0" rIns="0" bIns="0" rtlCol="0" anchor="ctr">
            <a:normAutofit/>
          </a:bodyPr>
          <a:lstStyle/>
          <a:p>
            <a:pPr marL="0" indent="0">
              <a:buNone/>
            </a:pPr>
            <a:r>
              <a:rPr lang="en-US" sz="650" dirty="0">
                <a:solidFill>
                  <a:srgbClr val="60758B"/>
                </a:solidFill>
              </a:rPr>
              <a:t>Initial mismatch and missing columns exposed.</a:t>
            </a:r>
            <a:endParaRPr lang="en-US" sz="650" dirty="0"/>
          </a:p>
        </p:txBody>
      </p:sp>
      <p:sp>
        <p:nvSpPr>
          <p:cNvPr id="16" name="Shape 14"/>
          <p:cNvSpPr/>
          <p:nvPr/>
        </p:nvSpPr>
        <p:spPr>
          <a:xfrm>
            <a:off x="640080" y="3584448"/>
            <a:ext cx="1600200" cy="45720"/>
          </a:xfrm>
          <a:prstGeom prst="rect">
            <a:avLst/>
          </a:prstGeom>
          <a:solidFill>
            <a:srgbClr val="E64B4B"/>
          </a:solidFill>
          <a:ln w="12700">
            <a:solidFill>
              <a:srgbClr val="E64B4B"/>
            </a:solidFill>
            <a:prstDash val="solid"/>
          </a:ln>
        </p:spPr>
      </p:sp>
      <p:sp>
        <p:nvSpPr>
          <p:cNvPr id="17" name="Shape 15"/>
          <p:cNvSpPr/>
          <p:nvPr/>
        </p:nvSpPr>
        <p:spPr>
          <a:xfrm>
            <a:off x="3172968" y="1536192"/>
            <a:ext cx="566928" cy="566928"/>
          </a:xfrm>
          <a:prstGeom prst="ellipse">
            <a:avLst/>
          </a:prstGeom>
          <a:solidFill>
            <a:srgbClr val="1E90F3"/>
          </a:solidFill>
          <a:ln w="12700">
            <a:solidFill>
              <a:srgbClr val="1E90F3"/>
            </a:solidFill>
            <a:prstDash val="solid"/>
          </a:ln>
        </p:spPr>
      </p:sp>
      <p:sp>
        <p:nvSpPr>
          <p:cNvPr id="18" name="Text 16"/>
          <p:cNvSpPr/>
          <p:nvPr/>
        </p:nvSpPr>
        <p:spPr>
          <a:xfrm>
            <a:off x="3172968" y="1700784"/>
            <a:ext cx="566928" cy="10972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9" name="Shape 17"/>
          <p:cNvSpPr/>
          <p:nvPr/>
        </p:nvSpPr>
        <p:spPr>
          <a:xfrm>
            <a:off x="2788920" y="2395728"/>
            <a:ext cx="1600200" cy="1234440"/>
          </a:xfrm>
          <a:prstGeom prst="roundRect">
            <a:avLst>
              <a:gd name="adj" fmla="val 5185"/>
            </a:avLst>
          </a:prstGeom>
          <a:solidFill>
            <a:srgbClr val="FFFFFF"/>
          </a:solidFill>
          <a:ln w="8890">
            <a:solidFill>
              <a:srgbClr val="C9D8E6"/>
            </a:solidFill>
            <a:prstDash val="solid"/>
          </a:ln>
        </p:spPr>
      </p:sp>
      <p:sp>
        <p:nvSpPr>
          <p:cNvPr id="20" name="Text 18"/>
          <p:cNvSpPr/>
          <p:nvPr/>
        </p:nvSpPr>
        <p:spPr>
          <a:xfrm>
            <a:off x="2898648" y="2505456"/>
            <a:ext cx="138074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2. Clean MDF1</a:t>
            </a:r>
            <a:endParaRPr lang="en-US" sz="840" dirty="0"/>
          </a:p>
          <a:p>
            <a:pPr marL="0" indent="0">
              <a:buNone/>
            </a:pPr>
            <a:r>
              <a:rPr lang="en-US" sz="840" b="1" dirty="0">
                <a:solidFill>
                  <a:srgbClr val="0F2942"/>
                </a:solidFill>
              </a:rPr>
              <a:t>base</a:t>
            </a:r>
            <a:endParaRPr lang="en-US" sz="840" dirty="0"/>
          </a:p>
        </p:txBody>
      </p:sp>
      <p:sp>
        <p:nvSpPr>
          <p:cNvPr id="21" name="Text 19"/>
          <p:cNvSpPr/>
          <p:nvPr/>
        </p:nvSpPr>
        <p:spPr>
          <a:xfrm>
            <a:off x="2898648" y="2834640"/>
            <a:ext cx="1380744" cy="685800"/>
          </a:xfrm>
          <a:prstGeom prst="rect">
            <a:avLst/>
          </a:prstGeom>
          <a:noFill/>
          <a:ln/>
        </p:spPr>
        <p:txBody>
          <a:bodyPr wrap="square" lIns="0" tIns="0" rIns="0" bIns="0" rtlCol="0" anchor="ctr">
            <a:normAutofit/>
          </a:bodyPr>
          <a:lstStyle/>
          <a:p>
            <a:pPr marL="0" indent="0">
              <a:buNone/>
            </a:pPr>
            <a:r>
              <a:rPr lang="en-US" sz="650" dirty="0">
                <a:solidFill>
                  <a:srgbClr val="60758B"/>
                </a:solidFill>
              </a:rPr>
              <a:t>Raw KSoft data reduced to 486 usable rows.</a:t>
            </a:r>
            <a:endParaRPr lang="en-US" sz="650" dirty="0"/>
          </a:p>
        </p:txBody>
      </p:sp>
      <p:sp>
        <p:nvSpPr>
          <p:cNvPr id="22" name="Shape 20"/>
          <p:cNvSpPr/>
          <p:nvPr/>
        </p:nvSpPr>
        <p:spPr>
          <a:xfrm>
            <a:off x="2788920" y="3584448"/>
            <a:ext cx="1600200" cy="45720"/>
          </a:xfrm>
          <a:prstGeom prst="rect">
            <a:avLst/>
          </a:prstGeom>
          <a:solidFill>
            <a:srgbClr val="1E90F3"/>
          </a:solidFill>
          <a:ln w="12700">
            <a:solidFill>
              <a:srgbClr val="1E90F3"/>
            </a:solidFill>
            <a:prstDash val="solid"/>
          </a:ln>
        </p:spPr>
      </p:sp>
      <p:sp>
        <p:nvSpPr>
          <p:cNvPr id="23" name="Shape 21"/>
          <p:cNvSpPr/>
          <p:nvPr/>
        </p:nvSpPr>
        <p:spPr>
          <a:xfrm>
            <a:off x="5321808" y="1536192"/>
            <a:ext cx="566928" cy="566928"/>
          </a:xfrm>
          <a:prstGeom prst="ellipse">
            <a:avLst/>
          </a:prstGeom>
          <a:solidFill>
            <a:srgbClr val="18B996"/>
          </a:solidFill>
          <a:ln w="12700">
            <a:solidFill>
              <a:srgbClr val="18B996"/>
            </a:solidFill>
            <a:prstDash val="solid"/>
          </a:ln>
        </p:spPr>
      </p:sp>
      <p:sp>
        <p:nvSpPr>
          <p:cNvPr id="24" name="Text 22"/>
          <p:cNvSpPr/>
          <p:nvPr/>
        </p:nvSpPr>
        <p:spPr>
          <a:xfrm>
            <a:off x="5321808" y="1700784"/>
            <a:ext cx="566928" cy="10972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25" name="Shape 23"/>
          <p:cNvSpPr/>
          <p:nvPr/>
        </p:nvSpPr>
        <p:spPr>
          <a:xfrm>
            <a:off x="4937760" y="2395728"/>
            <a:ext cx="1600200" cy="1234440"/>
          </a:xfrm>
          <a:prstGeom prst="roundRect">
            <a:avLst>
              <a:gd name="adj" fmla="val 5185"/>
            </a:avLst>
          </a:prstGeom>
          <a:solidFill>
            <a:srgbClr val="FFFFFF"/>
          </a:solidFill>
          <a:ln w="8890">
            <a:solidFill>
              <a:srgbClr val="C9D8E6"/>
            </a:solidFill>
            <a:prstDash val="solid"/>
          </a:ln>
        </p:spPr>
      </p:sp>
      <p:sp>
        <p:nvSpPr>
          <p:cNvPr id="26" name="Text 24"/>
          <p:cNvSpPr/>
          <p:nvPr/>
        </p:nvSpPr>
        <p:spPr>
          <a:xfrm>
            <a:off x="5047488" y="2505456"/>
            <a:ext cx="138074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3. Engineer process</a:t>
            </a:r>
            <a:endParaRPr lang="en-US" sz="840" dirty="0"/>
          </a:p>
          <a:p>
            <a:pPr marL="0" indent="0">
              <a:buNone/>
            </a:pPr>
            <a:r>
              <a:rPr lang="en-US" sz="840" b="1" dirty="0">
                <a:solidFill>
                  <a:srgbClr val="0F2942"/>
                </a:solidFill>
              </a:rPr>
              <a:t>signals</a:t>
            </a:r>
            <a:endParaRPr lang="en-US" sz="840" dirty="0"/>
          </a:p>
        </p:txBody>
      </p:sp>
      <p:sp>
        <p:nvSpPr>
          <p:cNvPr id="27" name="Text 25"/>
          <p:cNvSpPr/>
          <p:nvPr/>
        </p:nvSpPr>
        <p:spPr>
          <a:xfrm>
            <a:off x="5047488" y="2834640"/>
            <a:ext cx="1380744" cy="685800"/>
          </a:xfrm>
          <a:prstGeom prst="rect">
            <a:avLst/>
          </a:prstGeom>
          <a:noFill/>
          <a:ln/>
        </p:spPr>
        <p:txBody>
          <a:bodyPr wrap="square" lIns="0" tIns="0" rIns="0" bIns="0" rtlCol="0" anchor="ctr">
            <a:normAutofit/>
          </a:bodyPr>
          <a:lstStyle/>
          <a:p>
            <a:pPr marL="0" indent="0">
              <a:buNone/>
            </a:pPr>
            <a:r>
              <a:rPr lang="en-US" sz="650" dirty="0">
                <a:solidFill>
                  <a:srgbClr val="60758B"/>
                </a:solidFill>
              </a:rPr>
              <a:t>Pressure, temperature and thickness summaries added.</a:t>
            </a:r>
            <a:endParaRPr lang="en-US" sz="650" dirty="0"/>
          </a:p>
        </p:txBody>
      </p:sp>
      <p:sp>
        <p:nvSpPr>
          <p:cNvPr id="28" name="Shape 26"/>
          <p:cNvSpPr/>
          <p:nvPr/>
        </p:nvSpPr>
        <p:spPr>
          <a:xfrm>
            <a:off x="4937760" y="3584448"/>
            <a:ext cx="1600200" cy="45720"/>
          </a:xfrm>
          <a:prstGeom prst="rect">
            <a:avLst/>
          </a:prstGeom>
          <a:solidFill>
            <a:srgbClr val="18B996"/>
          </a:solidFill>
          <a:ln w="12700">
            <a:solidFill>
              <a:srgbClr val="18B996"/>
            </a:solidFill>
            <a:prstDash val="solid"/>
          </a:ln>
        </p:spPr>
      </p:sp>
      <p:sp>
        <p:nvSpPr>
          <p:cNvPr id="29" name="Shape 27"/>
          <p:cNvSpPr/>
          <p:nvPr/>
        </p:nvSpPr>
        <p:spPr>
          <a:xfrm>
            <a:off x="7470648" y="1536192"/>
            <a:ext cx="566928" cy="566928"/>
          </a:xfrm>
          <a:prstGeom prst="ellipse">
            <a:avLst/>
          </a:prstGeom>
          <a:solidFill>
            <a:srgbClr val="F5A623"/>
          </a:solidFill>
          <a:ln w="12700">
            <a:solidFill>
              <a:srgbClr val="F5A623"/>
            </a:solidFill>
            <a:prstDash val="solid"/>
          </a:ln>
        </p:spPr>
      </p:sp>
      <p:sp>
        <p:nvSpPr>
          <p:cNvPr id="30" name="Text 28"/>
          <p:cNvSpPr/>
          <p:nvPr/>
        </p:nvSpPr>
        <p:spPr>
          <a:xfrm>
            <a:off x="7470648" y="1700784"/>
            <a:ext cx="566928" cy="10972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31" name="Shape 29"/>
          <p:cNvSpPr/>
          <p:nvPr/>
        </p:nvSpPr>
        <p:spPr>
          <a:xfrm>
            <a:off x="7086600" y="2395728"/>
            <a:ext cx="1600200" cy="1234440"/>
          </a:xfrm>
          <a:prstGeom prst="roundRect">
            <a:avLst>
              <a:gd name="adj" fmla="val 5185"/>
            </a:avLst>
          </a:prstGeom>
          <a:solidFill>
            <a:srgbClr val="FFFFFF"/>
          </a:solidFill>
          <a:ln w="8890">
            <a:solidFill>
              <a:srgbClr val="C9D8E6"/>
            </a:solidFill>
            <a:prstDash val="solid"/>
          </a:ln>
        </p:spPr>
      </p:sp>
      <p:sp>
        <p:nvSpPr>
          <p:cNvPr id="32" name="Text 30"/>
          <p:cNvSpPr/>
          <p:nvPr/>
        </p:nvSpPr>
        <p:spPr>
          <a:xfrm>
            <a:off x="7196328" y="2505456"/>
            <a:ext cx="138074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4. Stabilize</a:t>
            </a:r>
            <a:endParaRPr lang="en-US" sz="840" dirty="0"/>
          </a:p>
          <a:p>
            <a:pPr marL="0" indent="0">
              <a:buNone/>
            </a:pPr>
            <a:r>
              <a:rPr lang="en-US" sz="840" b="1" dirty="0">
                <a:solidFill>
                  <a:srgbClr val="0F2942"/>
                </a:solidFill>
              </a:rPr>
              <a:t>modeling</a:t>
            </a:r>
            <a:endParaRPr lang="en-US" sz="840" dirty="0"/>
          </a:p>
        </p:txBody>
      </p:sp>
      <p:sp>
        <p:nvSpPr>
          <p:cNvPr id="33" name="Text 31"/>
          <p:cNvSpPr/>
          <p:nvPr/>
        </p:nvSpPr>
        <p:spPr>
          <a:xfrm>
            <a:off x="7196328" y="2834640"/>
            <a:ext cx="1380744" cy="685800"/>
          </a:xfrm>
          <a:prstGeom prst="rect">
            <a:avLst/>
          </a:prstGeom>
          <a:noFill/>
          <a:ln/>
        </p:spPr>
        <p:txBody>
          <a:bodyPr wrap="square" lIns="0" tIns="0" rIns="0" bIns="0" rtlCol="0" anchor="ctr">
            <a:normAutofit/>
          </a:bodyPr>
          <a:lstStyle/>
          <a:p>
            <a:pPr marL="0" indent="0">
              <a:buNone/>
            </a:pPr>
            <a:r>
              <a:rPr lang="en-US" sz="650" dirty="0">
                <a:solidFill>
                  <a:srgbClr val="60758B"/>
                </a:solidFill>
              </a:rPr>
              <a:t>Split logic, feature filtering and artifact naming stabilized.</a:t>
            </a:r>
            <a:endParaRPr lang="en-US" sz="650" dirty="0"/>
          </a:p>
        </p:txBody>
      </p:sp>
      <p:sp>
        <p:nvSpPr>
          <p:cNvPr id="34" name="Shape 32"/>
          <p:cNvSpPr/>
          <p:nvPr/>
        </p:nvSpPr>
        <p:spPr>
          <a:xfrm>
            <a:off x="7086600" y="3584448"/>
            <a:ext cx="1600200" cy="45720"/>
          </a:xfrm>
          <a:prstGeom prst="rect">
            <a:avLst/>
          </a:prstGeom>
          <a:solidFill>
            <a:srgbClr val="F5A623"/>
          </a:solidFill>
          <a:ln w="12700">
            <a:solidFill>
              <a:srgbClr val="F5A623"/>
            </a:solidFill>
            <a:prstDash val="solid"/>
          </a:ln>
        </p:spPr>
      </p:sp>
      <p:sp>
        <p:nvSpPr>
          <p:cNvPr id="35" name="Shape 33"/>
          <p:cNvSpPr/>
          <p:nvPr/>
        </p:nvSpPr>
        <p:spPr>
          <a:xfrm>
            <a:off x="9619488" y="1536192"/>
            <a:ext cx="566928" cy="566928"/>
          </a:xfrm>
          <a:prstGeom prst="ellipse">
            <a:avLst/>
          </a:prstGeom>
          <a:solidFill>
            <a:srgbClr val="16A05D"/>
          </a:solidFill>
          <a:ln w="12700">
            <a:solidFill>
              <a:srgbClr val="16A05D"/>
            </a:solidFill>
            <a:prstDash val="solid"/>
          </a:ln>
        </p:spPr>
      </p:sp>
      <p:sp>
        <p:nvSpPr>
          <p:cNvPr id="36" name="Text 34"/>
          <p:cNvSpPr/>
          <p:nvPr/>
        </p:nvSpPr>
        <p:spPr>
          <a:xfrm>
            <a:off x="9619488" y="1700784"/>
            <a:ext cx="566928" cy="109728"/>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37" name="Shape 35"/>
          <p:cNvSpPr/>
          <p:nvPr/>
        </p:nvSpPr>
        <p:spPr>
          <a:xfrm>
            <a:off x="9235440" y="2395728"/>
            <a:ext cx="1600200" cy="1234440"/>
          </a:xfrm>
          <a:prstGeom prst="roundRect">
            <a:avLst>
              <a:gd name="adj" fmla="val 5185"/>
            </a:avLst>
          </a:prstGeom>
          <a:solidFill>
            <a:srgbClr val="FFFFFF"/>
          </a:solidFill>
          <a:ln w="8890">
            <a:solidFill>
              <a:srgbClr val="C9D8E6"/>
            </a:solidFill>
            <a:prstDash val="solid"/>
          </a:ln>
        </p:spPr>
      </p:sp>
      <p:sp>
        <p:nvSpPr>
          <p:cNvPr id="38" name="Text 36"/>
          <p:cNvSpPr/>
          <p:nvPr/>
        </p:nvSpPr>
        <p:spPr>
          <a:xfrm>
            <a:off x="9345168" y="2505456"/>
            <a:ext cx="138074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5. Systemize</a:t>
            </a:r>
            <a:endParaRPr lang="en-US" sz="840" dirty="0"/>
          </a:p>
          <a:p>
            <a:pPr marL="0" indent="0">
              <a:buNone/>
            </a:pPr>
            <a:r>
              <a:rPr lang="en-US" sz="840" b="1" dirty="0">
                <a:solidFill>
                  <a:srgbClr val="0F2942"/>
                </a:solidFill>
              </a:rPr>
              <a:t>serving</a:t>
            </a:r>
            <a:endParaRPr lang="en-US" sz="840" dirty="0"/>
          </a:p>
        </p:txBody>
      </p:sp>
      <p:sp>
        <p:nvSpPr>
          <p:cNvPr id="39" name="Text 37"/>
          <p:cNvSpPr/>
          <p:nvPr/>
        </p:nvSpPr>
        <p:spPr>
          <a:xfrm>
            <a:off x="9345168" y="2834640"/>
            <a:ext cx="1380744" cy="685800"/>
          </a:xfrm>
          <a:prstGeom prst="rect">
            <a:avLst/>
          </a:prstGeom>
          <a:noFill/>
          <a:ln/>
        </p:spPr>
        <p:txBody>
          <a:bodyPr wrap="square" lIns="0" tIns="0" rIns="0" bIns="0" rtlCol="0" anchor="ctr">
            <a:normAutofit/>
          </a:bodyPr>
          <a:lstStyle/>
          <a:p>
            <a:pPr marL="0" indent="0">
              <a:buNone/>
            </a:pPr>
            <a:r>
              <a:rPr lang="en-US" sz="650" dirty="0">
                <a:solidFill>
                  <a:srgbClr val="60758B"/>
                </a:solidFill>
              </a:rPr>
              <a:t>Training artifacts feed live REST prediction service.</a:t>
            </a:r>
            <a:endParaRPr lang="en-US" sz="650" dirty="0"/>
          </a:p>
        </p:txBody>
      </p:sp>
      <p:sp>
        <p:nvSpPr>
          <p:cNvPr id="40" name="Shape 38"/>
          <p:cNvSpPr/>
          <p:nvPr/>
        </p:nvSpPr>
        <p:spPr>
          <a:xfrm>
            <a:off x="9235440" y="3584448"/>
            <a:ext cx="1600200" cy="45720"/>
          </a:xfrm>
          <a:prstGeom prst="rect">
            <a:avLst/>
          </a:prstGeom>
          <a:solidFill>
            <a:srgbClr val="16A05D"/>
          </a:solidFill>
          <a:ln w="12700">
            <a:solidFill>
              <a:srgbClr val="16A05D"/>
            </a:solidFill>
            <a:prstDash val="solid"/>
          </a:ln>
        </p:spPr>
      </p:sp>
      <p:sp>
        <p:nvSpPr>
          <p:cNvPr id="41" name="Shape 39"/>
          <p:cNvSpPr/>
          <p:nvPr/>
        </p:nvSpPr>
        <p:spPr>
          <a:xfrm>
            <a:off x="685800" y="4800600"/>
            <a:ext cx="10835640" cy="841248"/>
          </a:xfrm>
          <a:prstGeom prst="roundRect">
            <a:avLst>
              <a:gd name="adj" fmla="val 6522"/>
            </a:avLst>
          </a:prstGeom>
          <a:solidFill>
            <a:srgbClr val="FFFFFF"/>
          </a:solidFill>
          <a:ln w="8890">
            <a:solidFill>
              <a:srgbClr val="D8E4EE"/>
            </a:solidFill>
            <a:prstDash val="solid"/>
          </a:ln>
        </p:spPr>
      </p:sp>
      <p:sp>
        <p:nvSpPr>
          <p:cNvPr id="42" name="Text 40"/>
          <p:cNvSpPr/>
          <p:nvPr/>
        </p:nvSpPr>
        <p:spPr>
          <a:xfrm>
            <a:off x="813816" y="4937760"/>
            <a:ext cx="1057960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Stakeholder </a:t>
            </a:r>
            <a:r>
              <a:rPr lang="en-US" sz="930" b="1" dirty="0" smtClean="0">
                <a:solidFill>
                  <a:srgbClr val="0F2942"/>
                </a:solidFill>
              </a:rPr>
              <a:t>narrative</a:t>
            </a:r>
            <a:endParaRPr lang="en-US" sz="930" dirty="0"/>
          </a:p>
        </p:txBody>
      </p:sp>
      <p:sp>
        <p:nvSpPr>
          <p:cNvPr id="43" name="Text 41"/>
          <p:cNvSpPr/>
          <p:nvPr/>
        </p:nvSpPr>
        <p:spPr>
          <a:xfrm>
            <a:off x="813816" y="5111495"/>
            <a:ext cx="10579608" cy="480651"/>
          </a:xfrm>
          <a:prstGeom prst="rect">
            <a:avLst/>
          </a:prstGeom>
          <a:noFill/>
          <a:ln/>
        </p:spPr>
        <p:txBody>
          <a:bodyPr wrap="square" lIns="0" tIns="0" rIns="0" bIns="0" rtlCol="0" anchor="ctr">
            <a:normAutofit/>
          </a:bodyPr>
          <a:lstStyle/>
          <a:p>
            <a:r>
              <a:rPr lang="en-GB" sz="800" dirty="0"/>
              <a:t>a systematic transformation from raw industrial data → production AI </a:t>
            </a:r>
            <a:r>
              <a:rPr lang="en-GB" sz="800" dirty="0" smtClean="0"/>
              <a:t>system</a:t>
            </a:r>
          </a:p>
          <a:p>
            <a:endParaRPr lang="en-US" sz="780" dirty="0" smtClean="0">
              <a:solidFill>
                <a:srgbClr val="60758B"/>
              </a:solidFill>
            </a:endParaRPr>
          </a:p>
          <a:p>
            <a:pPr marL="0" indent="0">
              <a:buNone/>
            </a:pPr>
            <a:r>
              <a:rPr lang="en-US" sz="780" dirty="0" smtClean="0">
                <a:solidFill>
                  <a:srgbClr val="60758B"/>
                </a:solidFill>
              </a:rPr>
              <a:t>Present </a:t>
            </a:r>
            <a:r>
              <a:rPr lang="en-US" sz="780" dirty="0">
                <a:solidFill>
                  <a:srgbClr val="60758B"/>
                </a:solidFill>
              </a:rPr>
              <a:t>the MDF1 work as a staged engineering journey: schema fixing → data governance → feature design → baseline benchmarking → artifact governance → live prediction + cockpit direction.</a:t>
            </a:r>
            <a:endParaRPr lang="en-US" sz="780" dirty="0"/>
          </a:p>
        </p:txBody>
      </p:sp>
      <p:sp>
        <p:nvSpPr>
          <p:cNvPr id="44" name="Shape 42"/>
          <p:cNvSpPr/>
          <p:nvPr/>
        </p:nvSpPr>
        <p:spPr>
          <a:xfrm>
            <a:off x="685800" y="4800600"/>
            <a:ext cx="36576" cy="841248"/>
          </a:xfrm>
          <a:prstGeom prst="rect">
            <a:avLst/>
          </a:prstGeom>
          <a:solidFill>
            <a:srgbClr val="18B996"/>
          </a:solidFill>
          <a:ln w="12700">
            <a:solidFill>
              <a:srgbClr val="18B996"/>
            </a:solidFill>
            <a:prstDash val="solid"/>
          </a:ln>
        </p:spPr>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Data foundation and preparation</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core signal base comes from KSoft production data and becomes smaller—but much more usable—after cleaning.</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04</a:t>
            </a:r>
            <a:endParaRPr lang="en-US" sz="550" dirty="0"/>
          </a:p>
        </p:txBody>
      </p:sp>
      <p:sp>
        <p:nvSpPr>
          <p:cNvPr id="7" name="Shape 5"/>
          <p:cNvSpPr/>
          <p:nvPr/>
        </p:nvSpPr>
        <p:spPr>
          <a:xfrm>
            <a:off x="502920" y="1115568"/>
            <a:ext cx="1993392" cy="640080"/>
          </a:xfrm>
          <a:prstGeom prst="roundRect">
            <a:avLst>
              <a:gd name="adj" fmla="val 7143"/>
            </a:avLst>
          </a:prstGeom>
          <a:solidFill>
            <a:srgbClr val="FFFFFF"/>
          </a:solidFill>
          <a:ln w="8890">
            <a:solidFill>
              <a:srgbClr val="CADBE9"/>
            </a:solidFill>
            <a:prstDash val="solid"/>
          </a:ln>
        </p:spPr>
      </p:sp>
      <p:sp>
        <p:nvSpPr>
          <p:cNvPr id="8" name="Text 6"/>
          <p:cNvSpPr/>
          <p:nvPr/>
        </p:nvSpPr>
        <p:spPr>
          <a:xfrm>
            <a:off x="576072" y="1188720"/>
            <a:ext cx="1847088"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Raw source</a:t>
            </a:r>
            <a:endParaRPr lang="en-US" sz="620" dirty="0"/>
          </a:p>
        </p:txBody>
      </p:sp>
      <p:sp>
        <p:nvSpPr>
          <p:cNvPr id="9" name="Text 7"/>
          <p:cNvSpPr/>
          <p:nvPr/>
        </p:nvSpPr>
        <p:spPr>
          <a:xfrm>
            <a:off x="576072" y="1380744"/>
            <a:ext cx="1847088"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3,128 rows</a:t>
            </a:r>
            <a:endParaRPr lang="en-US" sz="1400" dirty="0"/>
          </a:p>
        </p:txBody>
      </p:sp>
      <p:sp>
        <p:nvSpPr>
          <p:cNvPr id="10" name="Text 8"/>
          <p:cNvSpPr/>
          <p:nvPr/>
        </p:nvSpPr>
        <p:spPr>
          <a:xfrm>
            <a:off x="576072" y="1618488"/>
            <a:ext cx="1847088"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1,165 columns from KSoft</a:t>
            </a:r>
            <a:endParaRPr lang="en-US" sz="580" dirty="0"/>
          </a:p>
        </p:txBody>
      </p:sp>
      <p:sp>
        <p:nvSpPr>
          <p:cNvPr id="11" name="Shape 9"/>
          <p:cNvSpPr/>
          <p:nvPr/>
        </p:nvSpPr>
        <p:spPr>
          <a:xfrm>
            <a:off x="2743200" y="1115568"/>
            <a:ext cx="1993392" cy="640080"/>
          </a:xfrm>
          <a:prstGeom prst="roundRect">
            <a:avLst>
              <a:gd name="adj" fmla="val 7143"/>
            </a:avLst>
          </a:prstGeom>
          <a:solidFill>
            <a:srgbClr val="FFFFFF"/>
          </a:solidFill>
          <a:ln w="8890">
            <a:solidFill>
              <a:srgbClr val="CADBE9"/>
            </a:solidFill>
            <a:prstDash val="solid"/>
          </a:ln>
        </p:spPr>
      </p:sp>
      <p:sp>
        <p:nvSpPr>
          <p:cNvPr id="12" name="Text 10"/>
          <p:cNvSpPr/>
          <p:nvPr/>
        </p:nvSpPr>
        <p:spPr>
          <a:xfrm>
            <a:off x="2816352" y="1188720"/>
            <a:ext cx="1847088"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After cleaning</a:t>
            </a:r>
            <a:endParaRPr lang="en-US" sz="620" dirty="0"/>
          </a:p>
        </p:txBody>
      </p:sp>
      <p:sp>
        <p:nvSpPr>
          <p:cNvPr id="13" name="Text 11"/>
          <p:cNvSpPr/>
          <p:nvPr/>
        </p:nvSpPr>
        <p:spPr>
          <a:xfrm>
            <a:off x="2816352" y="1380744"/>
            <a:ext cx="1847088"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486 rows</a:t>
            </a:r>
            <a:endParaRPr lang="en-US" sz="1400" dirty="0"/>
          </a:p>
        </p:txBody>
      </p:sp>
      <p:sp>
        <p:nvSpPr>
          <p:cNvPr id="14" name="Text 12"/>
          <p:cNvSpPr/>
          <p:nvPr/>
        </p:nvSpPr>
        <p:spPr>
          <a:xfrm>
            <a:off x="2816352" y="1618488"/>
            <a:ext cx="1847088"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1,164 columns</a:t>
            </a:r>
            <a:endParaRPr lang="en-US" sz="580" dirty="0"/>
          </a:p>
        </p:txBody>
      </p:sp>
      <p:sp>
        <p:nvSpPr>
          <p:cNvPr id="15" name="Shape 13"/>
          <p:cNvSpPr/>
          <p:nvPr/>
        </p:nvSpPr>
        <p:spPr>
          <a:xfrm>
            <a:off x="4983480" y="1115568"/>
            <a:ext cx="1993392" cy="640080"/>
          </a:xfrm>
          <a:prstGeom prst="roundRect">
            <a:avLst>
              <a:gd name="adj" fmla="val 7143"/>
            </a:avLst>
          </a:prstGeom>
          <a:solidFill>
            <a:srgbClr val="FFFFFF"/>
          </a:solidFill>
          <a:ln w="8890">
            <a:solidFill>
              <a:srgbClr val="CADBE9"/>
            </a:solidFill>
            <a:prstDash val="solid"/>
          </a:ln>
        </p:spPr>
      </p:sp>
      <p:sp>
        <p:nvSpPr>
          <p:cNvPr id="16" name="Text 14"/>
          <p:cNvSpPr/>
          <p:nvPr/>
        </p:nvSpPr>
        <p:spPr>
          <a:xfrm>
            <a:off x="5056632" y="1188720"/>
            <a:ext cx="1847088"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Time coverage</a:t>
            </a:r>
            <a:endParaRPr lang="en-US" sz="620" dirty="0"/>
          </a:p>
        </p:txBody>
      </p:sp>
      <p:sp>
        <p:nvSpPr>
          <p:cNvPr id="17" name="Text 15"/>
          <p:cNvSpPr/>
          <p:nvPr/>
        </p:nvSpPr>
        <p:spPr>
          <a:xfrm>
            <a:off x="5056632" y="1380744"/>
            <a:ext cx="1847088"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Aug 2025 – Mar 2026</a:t>
            </a:r>
            <a:endParaRPr lang="en-US" sz="1400" dirty="0"/>
          </a:p>
        </p:txBody>
      </p:sp>
      <p:sp>
        <p:nvSpPr>
          <p:cNvPr id="18" name="Text 16"/>
          <p:cNvSpPr/>
          <p:nvPr/>
        </p:nvSpPr>
        <p:spPr>
          <a:xfrm>
            <a:off x="5056632" y="1618488"/>
            <a:ext cx="1847088"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baseProductionDate</a:t>
            </a:r>
            <a:endParaRPr lang="en-US" sz="580" dirty="0"/>
          </a:p>
        </p:txBody>
      </p:sp>
      <p:sp>
        <p:nvSpPr>
          <p:cNvPr id="19" name="Shape 17"/>
          <p:cNvSpPr/>
          <p:nvPr/>
        </p:nvSpPr>
        <p:spPr>
          <a:xfrm>
            <a:off x="7223760" y="1115568"/>
            <a:ext cx="1993392" cy="640080"/>
          </a:xfrm>
          <a:prstGeom prst="roundRect">
            <a:avLst>
              <a:gd name="adj" fmla="val 7143"/>
            </a:avLst>
          </a:prstGeom>
          <a:solidFill>
            <a:srgbClr val="FFFFFF"/>
          </a:solidFill>
          <a:ln w="8890">
            <a:solidFill>
              <a:srgbClr val="CADBE9"/>
            </a:solidFill>
            <a:prstDash val="solid"/>
          </a:ln>
        </p:spPr>
      </p:sp>
      <p:sp>
        <p:nvSpPr>
          <p:cNvPr id="20" name="Text 18"/>
          <p:cNvSpPr/>
          <p:nvPr/>
        </p:nvSpPr>
        <p:spPr>
          <a:xfrm>
            <a:off x="7296912" y="1188720"/>
            <a:ext cx="1847088"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Engineered features</a:t>
            </a:r>
            <a:endParaRPr lang="en-US" sz="620" dirty="0"/>
          </a:p>
        </p:txBody>
      </p:sp>
      <p:sp>
        <p:nvSpPr>
          <p:cNvPr id="21" name="Text 19"/>
          <p:cNvSpPr/>
          <p:nvPr/>
        </p:nvSpPr>
        <p:spPr>
          <a:xfrm>
            <a:off x="7296912" y="1380744"/>
            <a:ext cx="1847088"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26 added</a:t>
            </a:r>
            <a:endParaRPr lang="en-US" sz="1400" dirty="0"/>
          </a:p>
        </p:txBody>
      </p:sp>
      <p:sp>
        <p:nvSpPr>
          <p:cNvPr id="22" name="Text 20"/>
          <p:cNvSpPr/>
          <p:nvPr/>
        </p:nvSpPr>
        <p:spPr>
          <a:xfrm>
            <a:off x="7296912" y="1618488"/>
            <a:ext cx="1847088"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pressure / temp / thickness</a:t>
            </a:r>
            <a:endParaRPr lang="en-US" sz="580" dirty="0"/>
          </a:p>
        </p:txBody>
      </p:sp>
      <p:sp>
        <p:nvSpPr>
          <p:cNvPr id="23" name="Shape 21"/>
          <p:cNvSpPr/>
          <p:nvPr/>
        </p:nvSpPr>
        <p:spPr>
          <a:xfrm>
            <a:off x="9464040" y="1115568"/>
            <a:ext cx="1993392" cy="640080"/>
          </a:xfrm>
          <a:prstGeom prst="roundRect">
            <a:avLst>
              <a:gd name="adj" fmla="val 7143"/>
            </a:avLst>
          </a:prstGeom>
          <a:solidFill>
            <a:srgbClr val="FFFFFF"/>
          </a:solidFill>
          <a:ln w="8890">
            <a:solidFill>
              <a:srgbClr val="CADBE9"/>
            </a:solidFill>
            <a:prstDash val="solid"/>
          </a:ln>
        </p:spPr>
      </p:sp>
      <p:sp>
        <p:nvSpPr>
          <p:cNvPr id="24" name="Text 22"/>
          <p:cNvSpPr/>
          <p:nvPr/>
        </p:nvSpPr>
        <p:spPr>
          <a:xfrm>
            <a:off x="9537192" y="1188720"/>
            <a:ext cx="1847088"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Candidate model set</a:t>
            </a:r>
            <a:endParaRPr lang="en-US" sz="620" dirty="0"/>
          </a:p>
        </p:txBody>
      </p:sp>
      <p:sp>
        <p:nvSpPr>
          <p:cNvPr id="25" name="Text 23"/>
          <p:cNvSpPr/>
          <p:nvPr/>
        </p:nvSpPr>
        <p:spPr>
          <a:xfrm>
            <a:off x="9537192" y="1380744"/>
            <a:ext cx="1847088" cy="201168"/>
          </a:xfrm>
          <a:prstGeom prst="rect">
            <a:avLst/>
          </a:prstGeom>
          <a:noFill/>
          <a:ln/>
        </p:spPr>
        <p:txBody>
          <a:bodyPr wrap="square" lIns="0" tIns="0" rIns="0" bIns="0" rtlCol="0" anchor="ctr">
            <a:normAutofit lnSpcReduction="10000"/>
          </a:bodyPr>
          <a:lstStyle/>
          <a:p>
            <a:pPr marL="0" indent="0">
              <a:buNone/>
            </a:pPr>
            <a:r>
              <a:rPr lang="en-US" sz="1400" b="1" smtClean="0">
                <a:solidFill>
                  <a:srgbClr val="0F2942"/>
                </a:solidFill>
              </a:rPr>
              <a:t>30 </a:t>
            </a:r>
            <a:r>
              <a:rPr lang="en-US" sz="1400" b="1" dirty="0">
                <a:solidFill>
                  <a:srgbClr val="0F2942"/>
                </a:solidFill>
              </a:rPr>
              <a:t>features</a:t>
            </a:r>
            <a:endParaRPr lang="en-US" sz="1400" dirty="0"/>
          </a:p>
        </p:txBody>
      </p:sp>
      <p:sp>
        <p:nvSpPr>
          <p:cNvPr id="26" name="Text 24"/>
          <p:cNvSpPr/>
          <p:nvPr/>
        </p:nvSpPr>
        <p:spPr>
          <a:xfrm>
            <a:off x="9537192" y="1618488"/>
            <a:ext cx="1847088"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usable numeric features</a:t>
            </a:r>
            <a:endParaRPr lang="en-US" sz="580" dirty="0"/>
          </a:p>
        </p:txBody>
      </p:sp>
      <p:sp>
        <p:nvSpPr>
          <p:cNvPr id="27" name="Text 25"/>
          <p:cNvSpPr/>
          <p:nvPr/>
        </p:nvSpPr>
        <p:spPr>
          <a:xfrm>
            <a:off x="502920" y="2331720"/>
            <a:ext cx="2103120" cy="182880"/>
          </a:xfrm>
          <a:prstGeom prst="rect">
            <a:avLst/>
          </a:prstGeom>
          <a:noFill/>
          <a:ln/>
        </p:spPr>
        <p:txBody>
          <a:bodyPr wrap="square" lIns="0" tIns="0" rIns="0" bIns="0" rtlCol="0" anchor="ctr"/>
          <a:lstStyle/>
          <a:p>
            <a:pPr marL="0" indent="0">
              <a:buNone/>
            </a:pPr>
            <a:r>
              <a:rPr lang="en-US" sz="1100" b="1" dirty="0">
                <a:solidFill>
                  <a:srgbClr val="0F2942"/>
                </a:solidFill>
              </a:rPr>
              <a:t>Data reduction story</a:t>
            </a:r>
            <a:endParaRPr lang="en-US" sz="1100" dirty="0"/>
          </a:p>
        </p:txBody>
      </p:sp>
      <p:sp>
        <p:nvSpPr>
          <p:cNvPr id="28" name="Shape 26"/>
          <p:cNvSpPr/>
          <p:nvPr/>
        </p:nvSpPr>
        <p:spPr>
          <a:xfrm>
            <a:off x="685800" y="2743200"/>
            <a:ext cx="3383280" cy="384048"/>
          </a:xfrm>
          <a:prstGeom prst="chevron">
            <a:avLst/>
          </a:prstGeom>
          <a:solidFill>
            <a:srgbClr val="E9F4FF"/>
          </a:solidFill>
          <a:ln w="12700">
            <a:solidFill>
              <a:srgbClr val="C9E3FB"/>
            </a:solidFill>
            <a:prstDash val="solid"/>
          </a:ln>
        </p:spPr>
      </p:sp>
      <p:sp>
        <p:nvSpPr>
          <p:cNvPr id="29" name="Text 27"/>
          <p:cNvSpPr/>
          <p:nvPr/>
        </p:nvSpPr>
        <p:spPr>
          <a:xfrm>
            <a:off x="914400" y="2862072"/>
            <a:ext cx="2926080" cy="91440"/>
          </a:xfrm>
          <a:prstGeom prst="rect">
            <a:avLst/>
          </a:prstGeom>
          <a:noFill/>
          <a:ln/>
        </p:spPr>
        <p:txBody>
          <a:bodyPr wrap="square" lIns="0" tIns="0" rIns="0" bIns="0" rtlCol="0" anchor="ctr"/>
          <a:lstStyle/>
          <a:p>
            <a:pPr marL="0" indent="0" algn="ctr">
              <a:buNone/>
            </a:pPr>
            <a:r>
              <a:rPr lang="en-US" sz="680" dirty="0">
                <a:solidFill>
                  <a:srgbClr val="0F2942"/>
                </a:solidFill>
              </a:rPr>
              <a:t>Raw KSoft extract — 3,128 rows / 1,165 cols</a:t>
            </a:r>
            <a:endParaRPr lang="en-US" sz="680" dirty="0"/>
          </a:p>
        </p:txBody>
      </p:sp>
      <p:sp>
        <p:nvSpPr>
          <p:cNvPr id="30" name="Shape 28"/>
          <p:cNvSpPr/>
          <p:nvPr/>
        </p:nvSpPr>
        <p:spPr>
          <a:xfrm>
            <a:off x="685800" y="3310128"/>
            <a:ext cx="3383280" cy="384048"/>
          </a:xfrm>
          <a:prstGeom prst="chevron">
            <a:avLst/>
          </a:prstGeom>
          <a:solidFill>
            <a:srgbClr val="E9F4FF"/>
          </a:solidFill>
          <a:ln w="12700">
            <a:solidFill>
              <a:srgbClr val="C9E3FB"/>
            </a:solidFill>
            <a:prstDash val="solid"/>
          </a:ln>
        </p:spPr>
      </p:sp>
      <p:sp>
        <p:nvSpPr>
          <p:cNvPr id="31" name="Text 29"/>
          <p:cNvSpPr/>
          <p:nvPr/>
        </p:nvSpPr>
        <p:spPr>
          <a:xfrm>
            <a:off x="914400" y="3429000"/>
            <a:ext cx="2926080" cy="91440"/>
          </a:xfrm>
          <a:prstGeom prst="rect">
            <a:avLst/>
          </a:prstGeom>
          <a:noFill/>
          <a:ln/>
        </p:spPr>
        <p:txBody>
          <a:bodyPr wrap="square" lIns="0" tIns="0" rIns="0" bIns="0" rtlCol="0" anchor="ctr"/>
          <a:lstStyle/>
          <a:p>
            <a:pPr marL="0" indent="0" algn="ctr">
              <a:buNone/>
            </a:pPr>
            <a:r>
              <a:rPr lang="en-US" sz="680" dirty="0">
                <a:solidFill>
                  <a:srgbClr val="0F2942"/>
                </a:solidFill>
              </a:rPr>
              <a:t>Validation + schema checks — required vs optional fields</a:t>
            </a:r>
            <a:endParaRPr lang="en-US" sz="680" dirty="0"/>
          </a:p>
        </p:txBody>
      </p:sp>
      <p:sp>
        <p:nvSpPr>
          <p:cNvPr id="32" name="Shape 30"/>
          <p:cNvSpPr/>
          <p:nvPr/>
        </p:nvSpPr>
        <p:spPr>
          <a:xfrm>
            <a:off x="685800" y="3877056"/>
            <a:ext cx="3383280" cy="384048"/>
          </a:xfrm>
          <a:prstGeom prst="chevron">
            <a:avLst/>
          </a:prstGeom>
          <a:solidFill>
            <a:srgbClr val="E9F4FF"/>
          </a:solidFill>
          <a:ln w="12700">
            <a:solidFill>
              <a:srgbClr val="C9E3FB"/>
            </a:solidFill>
            <a:prstDash val="solid"/>
          </a:ln>
        </p:spPr>
      </p:sp>
      <p:sp>
        <p:nvSpPr>
          <p:cNvPr id="33" name="Text 31"/>
          <p:cNvSpPr/>
          <p:nvPr/>
        </p:nvSpPr>
        <p:spPr>
          <a:xfrm>
            <a:off x="914400" y="3995928"/>
            <a:ext cx="2926080" cy="91440"/>
          </a:xfrm>
          <a:prstGeom prst="rect">
            <a:avLst/>
          </a:prstGeom>
          <a:noFill/>
          <a:ln/>
        </p:spPr>
        <p:txBody>
          <a:bodyPr wrap="square" lIns="0" tIns="0" rIns="0" bIns="0" rtlCol="0" anchor="ctr"/>
          <a:lstStyle/>
          <a:p>
            <a:pPr marL="0" indent="0" algn="ctr">
              <a:buNone/>
            </a:pPr>
            <a:r>
              <a:rPr lang="en-US" sz="680" dirty="0">
                <a:solidFill>
                  <a:srgbClr val="0F2942"/>
                </a:solidFill>
              </a:rPr>
              <a:t>Cleaning + high-missing removal — e.g., operFibresDensity dropped</a:t>
            </a:r>
            <a:endParaRPr lang="en-US" sz="680" dirty="0"/>
          </a:p>
        </p:txBody>
      </p:sp>
      <p:sp>
        <p:nvSpPr>
          <p:cNvPr id="34" name="Shape 32"/>
          <p:cNvSpPr/>
          <p:nvPr/>
        </p:nvSpPr>
        <p:spPr>
          <a:xfrm>
            <a:off x="685800" y="4443984"/>
            <a:ext cx="3383280" cy="384048"/>
          </a:xfrm>
          <a:prstGeom prst="chevron">
            <a:avLst/>
          </a:prstGeom>
          <a:solidFill>
            <a:srgbClr val="E9F8F2"/>
          </a:solidFill>
          <a:ln w="12700">
            <a:solidFill>
              <a:srgbClr val="BFEAD2"/>
            </a:solidFill>
            <a:prstDash val="solid"/>
          </a:ln>
        </p:spPr>
      </p:sp>
      <p:sp>
        <p:nvSpPr>
          <p:cNvPr id="35" name="Text 33"/>
          <p:cNvSpPr/>
          <p:nvPr/>
        </p:nvSpPr>
        <p:spPr>
          <a:xfrm>
            <a:off x="914400" y="4562856"/>
            <a:ext cx="2926080" cy="91440"/>
          </a:xfrm>
          <a:prstGeom prst="rect">
            <a:avLst/>
          </a:prstGeom>
          <a:noFill/>
          <a:ln/>
        </p:spPr>
        <p:txBody>
          <a:bodyPr wrap="square" lIns="0" tIns="0" rIns="0" bIns="0" rtlCol="0" anchor="ctr"/>
          <a:lstStyle/>
          <a:p>
            <a:pPr marL="0" indent="0" algn="ctr">
              <a:buNone/>
            </a:pPr>
            <a:r>
              <a:rPr lang="en-US" sz="680" b="1" dirty="0">
                <a:solidFill>
                  <a:srgbClr val="0F2942"/>
                </a:solidFill>
              </a:rPr>
              <a:t>Usable MDF1 training base — 486 rows</a:t>
            </a:r>
            <a:endParaRPr lang="en-US" sz="680" dirty="0"/>
          </a:p>
        </p:txBody>
      </p:sp>
      <p:sp>
        <p:nvSpPr>
          <p:cNvPr id="36" name="Shape 34"/>
          <p:cNvSpPr/>
          <p:nvPr/>
        </p:nvSpPr>
        <p:spPr>
          <a:xfrm>
            <a:off x="4709160" y="2560320"/>
            <a:ext cx="6748272" cy="2377440"/>
          </a:xfrm>
          <a:prstGeom prst="roundRect">
            <a:avLst>
              <a:gd name="adj" fmla="val 2308"/>
            </a:avLst>
          </a:prstGeom>
          <a:solidFill>
            <a:srgbClr val="FFFFFF"/>
          </a:solidFill>
          <a:ln w="8890">
            <a:solidFill>
              <a:srgbClr val="D8E4EE"/>
            </a:solidFill>
            <a:prstDash val="solid"/>
          </a:ln>
        </p:spPr>
      </p:sp>
      <p:sp>
        <p:nvSpPr>
          <p:cNvPr id="37" name="Text 35"/>
          <p:cNvSpPr/>
          <p:nvPr/>
        </p:nvSpPr>
        <p:spPr>
          <a:xfrm>
            <a:off x="4837176" y="2697480"/>
            <a:ext cx="600760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What this means analytically</a:t>
            </a:r>
            <a:endParaRPr lang="en-US" sz="930" dirty="0"/>
          </a:p>
        </p:txBody>
      </p:sp>
      <p:sp>
        <p:nvSpPr>
          <p:cNvPr id="38" name="Text 36"/>
          <p:cNvSpPr/>
          <p:nvPr/>
        </p:nvSpPr>
        <p:spPr>
          <a:xfrm>
            <a:off x="4837176" y="2953512"/>
            <a:ext cx="6007608" cy="1874520"/>
          </a:xfrm>
          <a:prstGeom prst="rect">
            <a:avLst/>
          </a:prstGeom>
          <a:noFill/>
          <a:ln/>
        </p:spPr>
        <p:txBody>
          <a:bodyPr wrap="square" lIns="0" tIns="0" rIns="0" bIns="0" rtlCol="0" anchor="ctr">
            <a:normAutofit/>
          </a:bodyPr>
          <a:lstStyle/>
          <a:p>
            <a:r>
              <a:rPr lang="en-US" sz="780" dirty="0">
                <a:solidFill>
                  <a:srgbClr val="60758B"/>
                </a:solidFill>
              </a:rPr>
              <a:t>• Data volume is not large, so split strategy and leakage control matter more than model </a:t>
            </a:r>
            <a:r>
              <a:rPr lang="en-US" sz="780" dirty="0" smtClean="0">
                <a:solidFill>
                  <a:srgbClr val="60758B"/>
                </a:solidFill>
              </a:rPr>
              <a:t>complexity =&gt;</a:t>
            </a:r>
            <a:r>
              <a:rPr lang="en-GB" sz="780" dirty="0">
                <a:solidFill>
                  <a:srgbClr val="60758B"/>
                </a:solidFill>
              </a:rPr>
              <a:t>Complex models (</a:t>
            </a:r>
            <a:r>
              <a:rPr lang="en-GB" sz="780" dirty="0" err="1">
                <a:solidFill>
                  <a:srgbClr val="60758B"/>
                </a:solidFill>
              </a:rPr>
              <a:t>XGBoost</a:t>
            </a:r>
            <a:r>
              <a:rPr lang="en-GB" sz="780" dirty="0">
                <a:solidFill>
                  <a:srgbClr val="60758B"/>
                </a:solidFill>
              </a:rPr>
              <a:t>, Deep Learning, etc</a:t>
            </a:r>
            <a:r>
              <a:rPr lang="en-GB" sz="780" dirty="0" smtClean="0">
                <a:solidFill>
                  <a:srgbClr val="60758B"/>
                </a:solidFill>
              </a:rPr>
              <a:t>.) </a:t>
            </a:r>
            <a:r>
              <a:rPr lang="en-GB" sz="780" dirty="0">
                <a:solidFill>
                  <a:srgbClr val="60758B"/>
                </a:solidFill>
              </a:rPr>
              <a:t>do NOT guarantee better </a:t>
            </a:r>
            <a:r>
              <a:rPr lang="en-GB" sz="780" dirty="0" smtClean="0">
                <a:solidFill>
                  <a:srgbClr val="60758B"/>
                </a:solidFill>
              </a:rPr>
              <a:t>performance.</a:t>
            </a:r>
            <a:endParaRPr lang="en-US" sz="780" dirty="0" smtClean="0">
              <a:solidFill>
                <a:srgbClr val="60758B"/>
              </a:solidFill>
            </a:endParaRPr>
          </a:p>
          <a:p>
            <a:pPr marL="0" indent="0">
              <a:buNone/>
            </a:pPr>
            <a:endParaRPr lang="en-US" sz="780" dirty="0"/>
          </a:p>
          <a:p>
            <a:r>
              <a:rPr lang="en-US" sz="780" dirty="0">
                <a:solidFill>
                  <a:srgbClr val="60758B"/>
                </a:solidFill>
              </a:rPr>
              <a:t>• Cleaning improves reliability of the modeling </a:t>
            </a:r>
            <a:r>
              <a:rPr lang="en-US" sz="780" dirty="0" smtClean="0">
                <a:solidFill>
                  <a:srgbClr val="60758B"/>
                </a:solidFill>
              </a:rPr>
              <a:t>base =&gt; </a:t>
            </a:r>
            <a:r>
              <a:rPr lang="en-GB" sz="780" dirty="0">
                <a:solidFill>
                  <a:srgbClr val="60758B"/>
                </a:solidFill>
              </a:rPr>
              <a:t>If </a:t>
            </a:r>
            <a:r>
              <a:rPr lang="en-GB" sz="780" dirty="0" smtClean="0">
                <a:solidFill>
                  <a:srgbClr val="60758B"/>
                </a:solidFill>
              </a:rPr>
              <a:t>train </a:t>
            </a:r>
            <a:r>
              <a:rPr lang="en-GB" sz="780" dirty="0">
                <a:solidFill>
                  <a:srgbClr val="60758B"/>
                </a:solidFill>
              </a:rPr>
              <a:t>on dirty data</a:t>
            </a:r>
            <a:r>
              <a:rPr lang="en-GB" sz="780" dirty="0" smtClean="0">
                <a:solidFill>
                  <a:srgbClr val="60758B"/>
                </a:solidFill>
              </a:rPr>
              <a:t>: </a:t>
            </a:r>
            <a:r>
              <a:rPr lang="en-GB" sz="780" dirty="0">
                <a:solidFill>
                  <a:srgbClr val="60758B"/>
                </a:solidFill>
              </a:rPr>
              <a:t>model learns wrong patterns</a:t>
            </a:r>
            <a:endParaRPr lang="en-US" sz="780" dirty="0" smtClean="0">
              <a:solidFill>
                <a:srgbClr val="60758B"/>
              </a:solidFill>
            </a:endParaRPr>
          </a:p>
          <a:p>
            <a:pPr marL="0" indent="0">
              <a:buNone/>
            </a:pPr>
            <a:endParaRPr lang="en-US" sz="780" dirty="0"/>
          </a:p>
          <a:p>
            <a:r>
              <a:rPr lang="en-US" sz="780" dirty="0">
                <a:solidFill>
                  <a:srgbClr val="60758B"/>
                </a:solidFill>
              </a:rPr>
              <a:t>• Several months of operations support time-based validation rather than pure random </a:t>
            </a:r>
            <a:r>
              <a:rPr lang="en-US" sz="780" dirty="0" smtClean="0">
                <a:solidFill>
                  <a:srgbClr val="60758B"/>
                </a:solidFill>
              </a:rPr>
              <a:t>shuffling</a:t>
            </a:r>
            <a:r>
              <a:rPr lang="en-US" sz="780" dirty="0">
                <a:solidFill>
                  <a:srgbClr val="60758B"/>
                </a:solidFill>
              </a:rPr>
              <a:t> </a:t>
            </a:r>
            <a:r>
              <a:rPr lang="en-US" sz="780" dirty="0" smtClean="0">
                <a:solidFill>
                  <a:srgbClr val="60758B"/>
                </a:solidFill>
              </a:rPr>
              <a:t>=&gt; </a:t>
            </a:r>
            <a:r>
              <a:rPr lang="en-GB" sz="780" dirty="0">
                <a:solidFill>
                  <a:srgbClr val="60758B"/>
                </a:solidFill>
              </a:rPr>
              <a:t>time-based </a:t>
            </a:r>
            <a:r>
              <a:rPr lang="en-GB" sz="780" dirty="0" smtClean="0">
                <a:solidFill>
                  <a:srgbClr val="60758B"/>
                </a:solidFill>
              </a:rPr>
              <a:t>split </a:t>
            </a:r>
            <a:r>
              <a:rPr lang="en-GB" sz="780" dirty="0">
                <a:solidFill>
                  <a:srgbClr val="60758B"/>
                </a:solidFill>
              </a:rPr>
              <a:t>avoided data leakage from future to </a:t>
            </a:r>
            <a:r>
              <a:rPr lang="en-GB" sz="780" dirty="0" smtClean="0">
                <a:solidFill>
                  <a:srgbClr val="60758B"/>
                </a:solidFill>
              </a:rPr>
              <a:t>past ;  </a:t>
            </a:r>
            <a:r>
              <a:rPr lang="en-GB" sz="780" dirty="0">
                <a:solidFill>
                  <a:srgbClr val="60758B"/>
                </a:solidFill>
              </a:rPr>
              <a:t>So train on past → predict future</a:t>
            </a:r>
            <a:endParaRPr lang="en-US" sz="780" dirty="0" smtClean="0">
              <a:solidFill>
                <a:srgbClr val="60758B"/>
              </a:solidFill>
            </a:endParaRPr>
          </a:p>
          <a:p>
            <a:pPr marL="0" indent="0">
              <a:buNone/>
            </a:pPr>
            <a:endParaRPr lang="en-US" sz="780" dirty="0"/>
          </a:p>
          <a:p>
            <a:r>
              <a:rPr lang="en-US" sz="780" dirty="0">
                <a:solidFill>
                  <a:srgbClr val="60758B"/>
                </a:solidFill>
              </a:rPr>
              <a:t>• Model quality comes from disciplined curation, not only algorithm </a:t>
            </a:r>
            <a:r>
              <a:rPr lang="en-US" sz="780" dirty="0" smtClean="0">
                <a:solidFill>
                  <a:srgbClr val="60758B"/>
                </a:solidFill>
              </a:rPr>
              <a:t>choice =&gt; </a:t>
            </a:r>
            <a:r>
              <a:rPr lang="en-GB" sz="780" dirty="0">
                <a:solidFill>
                  <a:srgbClr val="60758B"/>
                </a:solidFill>
              </a:rPr>
              <a:t>In low-to-medium data industrial settings, model performance is driven more by data quality, validation strategy, and feature engineering than by algorithm complexity</a:t>
            </a:r>
            <a:endParaRPr lang="en-US" sz="780" dirty="0"/>
          </a:p>
        </p:txBody>
      </p:sp>
      <p:sp>
        <p:nvSpPr>
          <p:cNvPr id="39" name="Shape 37"/>
          <p:cNvSpPr/>
          <p:nvPr/>
        </p:nvSpPr>
        <p:spPr>
          <a:xfrm>
            <a:off x="4709160" y="2560320"/>
            <a:ext cx="36576" cy="2377440"/>
          </a:xfrm>
          <a:prstGeom prst="rect">
            <a:avLst/>
          </a:prstGeom>
          <a:solidFill>
            <a:srgbClr val="16A05D"/>
          </a:solidFill>
          <a:ln w="12700">
            <a:solidFill>
              <a:srgbClr val="16A05D"/>
            </a:solidFill>
            <a:prstDash val="solid"/>
          </a:ln>
        </p:spPr>
      </p:sp>
      <p:sp>
        <p:nvSpPr>
          <p:cNvPr id="40" name="Text 38"/>
          <p:cNvSpPr/>
          <p:nvPr/>
        </p:nvSpPr>
        <p:spPr>
          <a:xfrm>
            <a:off x="822960" y="5349240"/>
            <a:ext cx="1280160" cy="182880"/>
          </a:xfrm>
          <a:prstGeom prst="roundRect">
            <a:avLst/>
          </a:prstGeom>
          <a:solidFill>
            <a:srgbClr val="1E90F3"/>
          </a:solidFill>
          <a:ln>
            <a:solidFill>
              <a:srgbClr val="1E90F3"/>
            </a:solidFill>
          </a:ln>
        </p:spPr>
        <p:txBody>
          <a:bodyPr wrap="square" lIns="127" tIns="127" rIns="127" bIns="127" rtlCol="0" anchor="ctr"/>
          <a:lstStyle/>
          <a:p>
            <a:pPr marL="0" indent="0" algn="ctr">
              <a:buNone/>
            </a:pPr>
            <a:r>
              <a:rPr lang="en-US" sz="650" b="1" dirty="0">
                <a:solidFill>
                  <a:srgbClr val="FFFFFF"/>
                </a:solidFill>
              </a:rPr>
              <a:t>TIME-BASED SPLIT</a:t>
            </a:r>
            <a:endParaRPr lang="en-US" sz="650" dirty="0"/>
          </a:p>
        </p:txBody>
      </p:sp>
      <p:sp>
        <p:nvSpPr>
          <p:cNvPr id="41" name="Text 39"/>
          <p:cNvSpPr/>
          <p:nvPr/>
        </p:nvSpPr>
        <p:spPr>
          <a:xfrm>
            <a:off x="2331720" y="5349240"/>
            <a:ext cx="2194560" cy="182880"/>
          </a:xfrm>
          <a:prstGeom prst="roundRect">
            <a:avLst/>
          </a:prstGeom>
          <a:solidFill>
            <a:srgbClr val="18B996"/>
          </a:solidFill>
          <a:ln>
            <a:solidFill>
              <a:srgbClr val="18B996"/>
            </a:solidFill>
          </a:ln>
        </p:spPr>
        <p:txBody>
          <a:bodyPr wrap="square" lIns="127" tIns="127" rIns="127" bIns="127" rtlCol="0" anchor="ctr"/>
          <a:lstStyle/>
          <a:p>
            <a:pPr marL="0" indent="0" algn="ctr">
              <a:buNone/>
            </a:pPr>
            <a:r>
              <a:rPr lang="en-US" sz="650" b="1" dirty="0">
                <a:solidFill>
                  <a:srgbClr val="FFFFFF"/>
                </a:solidFill>
              </a:rPr>
              <a:t>SMALL BUT GOVERNED DATASET</a:t>
            </a:r>
            <a:endParaRPr lang="en-US" sz="650" dirty="0"/>
          </a:p>
        </p:txBody>
      </p:sp>
      <p:sp>
        <p:nvSpPr>
          <p:cNvPr id="42" name="Text 40"/>
          <p:cNvSpPr/>
          <p:nvPr/>
        </p:nvSpPr>
        <p:spPr>
          <a:xfrm>
            <a:off x="4754880" y="5349240"/>
            <a:ext cx="1737360" cy="182880"/>
          </a:xfrm>
          <a:prstGeom prst="roundRect">
            <a:avLst/>
          </a:prstGeom>
          <a:solidFill>
            <a:srgbClr val="F5A623"/>
          </a:solidFill>
          <a:ln>
            <a:solidFill>
              <a:srgbClr val="F5A623"/>
            </a:solidFill>
          </a:ln>
        </p:spPr>
        <p:txBody>
          <a:bodyPr wrap="square" lIns="127" tIns="127" rIns="127" bIns="127" rtlCol="0" anchor="ctr"/>
          <a:lstStyle/>
          <a:p>
            <a:pPr marL="0" indent="0" algn="ctr">
              <a:buNone/>
            </a:pPr>
            <a:r>
              <a:rPr lang="en-US" sz="650" b="1" dirty="0">
                <a:solidFill>
                  <a:srgbClr val="FFFFFF"/>
                </a:solidFill>
              </a:rPr>
              <a:t>MANUFACTURING SIGNALS</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19" y="320040"/>
            <a:ext cx="9144933"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Feature engineering: turning press behavior into learnable signals</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most important improvement was converting raw plant readings into stable, interpretable process summaries.</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05</a:t>
            </a:r>
            <a:endParaRPr lang="en-US" sz="550" dirty="0"/>
          </a:p>
        </p:txBody>
      </p:sp>
      <p:sp>
        <p:nvSpPr>
          <p:cNvPr id="7" name="Shape 5"/>
          <p:cNvSpPr/>
          <p:nvPr/>
        </p:nvSpPr>
        <p:spPr>
          <a:xfrm>
            <a:off x="685800" y="1280160"/>
            <a:ext cx="2880360" cy="1417320"/>
          </a:xfrm>
          <a:prstGeom prst="roundRect">
            <a:avLst>
              <a:gd name="adj" fmla="val 3871"/>
            </a:avLst>
          </a:prstGeom>
          <a:solidFill>
            <a:srgbClr val="FFFFFF"/>
          </a:solidFill>
          <a:ln w="8890">
            <a:solidFill>
              <a:srgbClr val="D8E4EE"/>
            </a:solidFill>
            <a:prstDash val="solid"/>
          </a:ln>
        </p:spPr>
      </p:sp>
      <p:sp>
        <p:nvSpPr>
          <p:cNvPr id="8" name="Text 6"/>
          <p:cNvSpPr/>
          <p:nvPr/>
        </p:nvSpPr>
        <p:spPr>
          <a:xfrm>
            <a:off x="813816" y="1417320"/>
            <a:ext cx="262432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Pressure group</a:t>
            </a:r>
            <a:endParaRPr lang="en-US" sz="930" dirty="0"/>
          </a:p>
        </p:txBody>
      </p:sp>
      <p:sp>
        <p:nvSpPr>
          <p:cNvPr id="9" name="Text 7"/>
          <p:cNvSpPr/>
          <p:nvPr/>
        </p:nvSpPr>
        <p:spPr>
          <a:xfrm>
            <a:off x="813816" y="1737360"/>
            <a:ext cx="2624328" cy="850392"/>
          </a:xfrm>
          <a:prstGeom prst="rect">
            <a:avLst/>
          </a:prstGeom>
          <a:noFill/>
          <a:ln/>
        </p:spPr>
        <p:txBody>
          <a:bodyPr wrap="square" lIns="0" tIns="0" rIns="0" bIns="0" rtlCol="0" anchor="ctr">
            <a:normAutofit/>
          </a:bodyPr>
          <a:lstStyle/>
          <a:p>
            <a:pPr marL="0" indent="0">
              <a:buNone/>
            </a:pPr>
            <a:r>
              <a:rPr lang="en-US" sz="780" dirty="0">
                <a:solidFill>
                  <a:srgbClr val="60758B"/>
                </a:solidFill>
              </a:rPr>
              <a:t>• L / C / R means and stds</a:t>
            </a:r>
            <a:endParaRPr lang="en-US" sz="780" dirty="0"/>
          </a:p>
          <a:p>
            <a:pPr marL="0" indent="0">
              <a:buNone/>
            </a:pPr>
            <a:r>
              <a:rPr lang="en-US" sz="780" dirty="0">
                <a:solidFill>
                  <a:srgbClr val="60758B"/>
                </a:solidFill>
              </a:rPr>
              <a:t>• Global min / max / range</a:t>
            </a:r>
            <a:endParaRPr lang="en-US" sz="780" dirty="0"/>
          </a:p>
          <a:p>
            <a:pPr marL="0" indent="0">
              <a:buNone/>
            </a:pPr>
            <a:r>
              <a:rPr lang="en-US" sz="780" dirty="0">
                <a:solidFill>
                  <a:srgbClr val="60758B"/>
                </a:solidFill>
              </a:rPr>
              <a:t>• Front / mid / end means</a:t>
            </a:r>
            <a:endParaRPr lang="en-US" sz="780" dirty="0"/>
          </a:p>
          <a:p>
            <a:pPr marL="0" indent="0">
              <a:buNone/>
            </a:pPr>
            <a:r>
              <a:rPr lang="en-US" sz="780" dirty="0">
                <a:solidFill>
                  <a:srgbClr val="60758B"/>
                </a:solidFill>
              </a:rPr>
              <a:t>• Front-end difference</a:t>
            </a:r>
            <a:endParaRPr lang="en-US" sz="780" dirty="0"/>
          </a:p>
        </p:txBody>
      </p:sp>
      <p:sp>
        <p:nvSpPr>
          <p:cNvPr id="10" name="Shape 8"/>
          <p:cNvSpPr/>
          <p:nvPr/>
        </p:nvSpPr>
        <p:spPr>
          <a:xfrm>
            <a:off x="685800" y="1280160"/>
            <a:ext cx="36576" cy="1417320"/>
          </a:xfrm>
          <a:prstGeom prst="rect">
            <a:avLst/>
          </a:prstGeom>
          <a:solidFill>
            <a:srgbClr val="1E90F3"/>
          </a:solidFill>
          <a:ln w="12700">
            <a:solidFill>
              <a:srgbClr val="1E90F3"/>
            </a:solidFill>
            <a:prstDash val="solid"/>
          </a:ln>
        </p:spPr>
      </p:sp>
      <p:sp>
        <p:nvSpPr>
          <p:cNvPr id="11" name="Shape 9"/>
          <p:cNvSpPr/>
          <p:nvPr/>
        </p:nvSpPr>
        <p:spPr>
          <a:xfrm>
            <a:off x="4663440" y="1280160"/>
            <a:ext cx="2880360" cy="1417320"/>
          </a:xfrm>
          <a:prstGeom prst="roundRect">
            <a:avLst>
              <a:gd name="adj" fmla="val 3871"/>
            </a:avLst>
          </a:prstGeom>
          <a:solidFill>
            <a:srgbClr val="FFFFFF"/>
          </a:solidFill>
          <a:ln w="8890">
            <a:solidFill>
              <a:srgbClr val="D8E4EE"/>
            </a:solidFill>
            <a:prstDash val="solid"/>
          </a:ln>
        </p:spPr>
      </p:sp>
      <p:sp>
        <p:nvSpPr>
          <p:cNvPr id="12" name="Text 10"/>
          <p:cNvSpPr/>
          <p:nvPr/>
        </p:nvSpPr>
        <p:spPr>
          <a:xfrm>
            <a:off x="4791456" y="1417320"/>
            <a:ext cx="262432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Temperature group</a:t>
            </a:r>
            <a:endParaRPr lang="en-US" sz="930" dirty="0"/>
          </a:p>
        </p:txBody>
      </p:sp>
      <p:sp>
        <p:nvSpPr>
          <p:cNvPr id="13" name="Text 11"/>
          <p:cNvSpPr/>
          <p:nvPr/>
        </p:nvSpPr>
        <p:spPr>
          <a:xfrm>
            <a:off x="4791456" y="1737360"/>
            <a:ext cx="2624328" cy="850392"/>
          </a:xfrm>
          <a:prstGeom prst="rect">
            <a:avLst/>
          </a:prstGeom>
          <a:noFill/>
          <a:ln/>
        </p:spPr>
        <p:txBody>
          <a:bodyPr wrap="square" lIns="0" tIns="0" rIns="0" bIns="0" rtlCol="0" anchor="ctr">
            <a:normAutofit/>
          </a:bodyPr>
          <a:lstStyle/>
          <a:p>
            <a:pPr marL="0" indent="0">
              <a:buNone/>
            </a:pPr>
            <a:r>
              <a:rPr lang="en-US" sz="780" dirty="0">
                <a:solidFill>
                  <a:srgbClr val="60758B"/>
                </a:solidFill>
              </a:rPr>
              <a:t>• Global mean and std</a:t>
            </a:r>
            <a:endParaRPr lang="en-US" sz="780" dirty="0"/>
          </a:p>
          <a:p>
            <a:pPr marL="0" indent="0">
              <a:buNone/>
            </a:pPr>
            <a:r>
              <a:rPr lang="en-US" sz="780" dirty="0">
                <a:solidFill>
                  <a:srgbClr val="60758B"/>
                </a:solidFill>
              </a:rPr>
              <a:t>• Min / max / range</a:t>
            </a:r>
            <a:endParaRPr lang="en-US" sz="780" dirty="0"/>
          </a:p>
          <a:p>
            <a:pPr marL="0" indent="0">
              <a:buNone/>
            </a:pPr>
            <a:r>
              <a:rPr lang="en-US" sz="780" dirty="0">
                <a:solidFill>
                  <a:srgbClr val="60758B"/>
                </a:solidFill>
              </a:rPr>
              <a:t>• Thermal state summarization</a:t>
            </a:r>
            <a:endParaRPr lang="en-US" sz="780" dirty="0"/>
          </a:p>
        </p:txBody>
      </p:sp>
      <p:sp>
        <p:nvSpPr>
          <p:cNvPr id="14" name="Shape 12"/>
          <p:cNvSpPr/>
          <p:nvPr/>
        </p:nvSpPr>
        <p:spPr>
          <a:xfrm>
            <a:off x="4663440" y="1280160"/>
            <a:ext cx="36576" cy="1417320"/>
          </a:xfrm>
          <a:prstGeom prst="rect">
            <a:avLst/>
          </a:prstGeom>
          <a:solidFill>
            <a:srgbClr val="18B996"/>
          </a:solidFill>
          <a:ln w="12700">
            <a:solidFill>
              <a:srgbClr val="18B996"/>
            </a:solidFill>
            <a:prstDash val="solid"/>
          </a:ln>
        </p:spPr>
      </p:sp>
      <p:sp>
        <p:nvSpPr>
          <p:cNvPr id="15" name="Shape 13"/>
          <p:cNvSpPr/>
          <p:nvPr/>
        </p:nvSpPr>
        <p:spPr>
          <a:xfrm>
            <a:off x="8595360" y="1280160"/>
            <a:ext cx="2880360" cy="1417320"/>
          </a:xfrm>
          <a:prstGeom prst="roundRect">
            <a:avLst>
              <a:gd name="adj" fmla="val 3871"/>
            </a:avLst>
          </a:prstGeom>
          <a:solidFill>
            <a:srgbClr val="FFFFFF"/>
          </a:solidFill>
          <a:ln w="8890">
            <a:solidFill>
              <a:srgbClr val="D8E4EE"/>
            </a:solidFill>
            <a:prstDash val="solid"/>
          </a:ln>
        </p:spPr>
      </p:sp>
      <p:sp>
        <p:nvSpPr>
          <p:cNvPr id="16" name="Text 14"/>
          <p:cNvSpPr/>
          <p:nvPr/>
        </p:nvSpPr>
        <p:spPr>
          <a:xfrm>
            <a:off x="8723376" y="1417320"/>
            <a:ext cx="262432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Thickness group</a:t>
            </a:r>
            <a:endParaRPr lang="en-US" sz="930" dirty="0"/>
          </a:p>
        </p:txBody>
      </p:sp>
      <p:sp>
        <p:nvSpPr>
          <p:cNvPr id="17" name="Text 15"/>
          <p:cNvSpPr/>
          <p:nvPr/>
        </p:nvSpPr>
        <p:spPr>
          <a:xfrm>
            <a:off x="8723376" y="1737360"/>
            <a:ext cx="2624328" cy="850392"/>
          </a:xfrm>
          <a:prstGeom prst="rect">
            <a:avLst/>
          </a:prstGeom>
          <a:noFill/>
          <a:ln/>
        </p:spPr>
        <p:txBody>
          <a:bodyPr wrap="square" lIns="0" tIns="0" rIns="0" bIns="0" rtlCol="0" anchor="ctr">
            <a:normAutofit/>
          </a:bodyPr>
          <a:lstStyle/>
          <a:p>
            <a:pPr marL="0" indent="0">
              <a:buNone/>
            </a:pPr>
            <a:r>
              <a:rPr lang="en-US" sz="780" dirty="0">
                <a:solidFill>
                  <a:srgbClr val="60758B"/>
                </a:solidFill>
              </a:rPr>
              <a:t>• Closed-thickness mean</a:t>
            </a:r>
            <a:endParaRPr lang="en-US" sz="780" dirty="0"/>
          </a:p>
          <a:p>
            <a:pPr marL="0" indent="0">
              <a:buNone/>
            </a:pPr>
            <a:r>
              <a:rPr lang="en-US" sz="780" dirty="0">
                <a:solidFill>
                  <a:srgbClr val="60758B"/>
                </a:solidFill>
              </a:rPr>
              <a:t>• Std / min / max</a:t>
            </a:r>
            <a:endParaRPr lang="en-US" sz="780" dirty="0"/>
          </a:p>
          <a:p>
            <a:pPr marL="0" indent="0">
              <a:buNone/>
            </a:pPr>
            <a:r>
              <a:rPr lang="en-US" sz="780" dirty="0">
                <a:solidFill>
                  <a:srgbClr val="60758B"/>
                </a:solidFill>
              </a:rPr>
              <a:t>• Range as board stability signal</a:t>
            </a:r>
            <a:endParaRPr lang="en-US" sz="780" dirty="0"/>
          </a:p>
        </p:txBody>
      </p:sp>
      <p:sp>
        <p:nvSpPr>
          <p:cNvPr id="18" name="Shape 16"/>
          <p:cNvSpPr/>
          <p:nvPr/>
        </p:nvSpPr>
        <p:spPr>
          <a:xfrm>
            <a:off x="8595360" y="1280160"/>
            <a:ext cx="36576" cy="1417320"/>
          </a:xfrm>
          <a:prstGeom prst="rect">
            <a:avLst/>
          </a:prstGeom>
          <a:solidFill>
            <a:srgbClr val="35C9E8"/>
          </a:solidFill>
          <a:ln w="12700">
            <a:solidFill>
              <a:srgbClr val="35C9E8"/>
            </a:solidFill>
            <a:prstDash val="solid"/>
          </a:ln>
        </p:spPr>
      </p:sp>
      <p:sp>
        <p:nvSpPr>
          <p:cNvPr id="19" name="Shape 17"/>
          <p:cNvSpPr/>
          <p:nvPr/>
        </p:nvSpPr>
        <p:spPr>
          <a:xfrm>
            <a:off x="685800" y="3154680"/>
            <a:ext cx="10789920" cy="749808"/>
          </a:xfrm>
          <a:prstGeom prst="roundRect">
            <a:avLst>
              <a:gd name="adj" fmla="val 7317"/>
            </a:avLst>
          </a:prstGeom>
          <a:solidFill>
            <a:srgbClr val="E9F4FF"/>
          </a:solidFill>
          <a:ln w="8890">
            <a:solidFill>
              <a:srgbClr val="D8E4EE"/>
            </a:solidFill>
            <a:prstDash val="solid"/>
          </a:ln>
        </p:spPr>
      </p:sp>
      <p:sp>
        <p:nvSpPr>
          <p:cNvPr id="20" name="Text 18"/>
          <p:cNvSpPr/>
          <p:nvPr/>
        </p:nvSpPr>
        <p:spPr>
          <a:xfrm>
            <a:off x="813816" y="3255264"/>
            <a:ext cx="10533888" cy="118872"/>
          </a:xfrm>
          <a:prstGeom prst="rect">
            <a:avLst/>
          </a:prstGeom>
          <a:noFill/>
          <a:ln/>
        </p:spPr>
        <p:txBody>
          <a:bodyPr wrap="square" lIns="0" tIns="0" rIns="0" bIns="0" rtlCol="0" anchor="ctr">
            <a:noAutofit/>
          </a:bodyPr>
          <a:lstStyle/>
          <a:p>
            <a:pPr marL="0" indent="0">
              <a:buNone/>
            </a:pPr>
            <a:r>
              <a:rPr lang="en-US" sz="1100" b="1" dirty="0">
                <a:solidFill>
                  <a:srgbClr val="0F2942"/>
                </a:solidFill>
              </a:rPr>
              <a:t>Why these engineered features matter</a:t>
            </a:r>
            <a:endParaRPr lang="en-US" sz="1100" dirty="0"/>
          </a:p>
        </p:txBody>
      </p:sp>
      <p:sp>
        <p:nvSpPr>
          <p:cNvPr id="21" name="Text 19"/>
          <p:cNvSpPr/>
          <p:nvPr/>
        </p:nvSpPr>
        <p:spPr>
          <a:xfrm>
            <a:off x="813816" y="3438144"/>
            <a:ext cx="10533888" cy="356616"/>
          </a:xfrm>
          <a:prstGeom prst="rect">
            <a:avLst/>
          </a:prstGeom>
          <a:noFill/>
          <a:ln/>
        </p:spPr>
        <p:txBody>
          <a:bodyPr wrap="square" lIns="0" tIns="0" rIns="0" bIns="0" rtlCol="0" anchor="ctr">
            <a:normAutofit/>
          </a:bodyPr>
          <a:lstStyle/>
          <a:p>
            <a:pPr marL="0" indent="0">
              <a:buNone/>
            </a:pPr>
            <a:r>
              <a:rPr lang="en-US" sz="1000" dirty="0">
                <a:solidFill>
                  <a:srgbClr val="60758B"/>
                </a:solidFill>
              </a:rPr>
              <a:t>They reduce noisy point-level readings into process-shape indicators: distribution across the press, thermal regime, thickness stability, and cross-zone balance</a:t>
            </a:r>
            <a:r>
              <a:rPr lang="en-US" sz="610" dirty="0">
                <a:solidFill>
                  <a:srgbClr val="60758B"/>
                </a:solidFill>
              </a:rPr>
              <a:t>.</a:t>
            </a:r>
            <a:endParaRPr lang="en-US" sz="610" dirty="0"/>
          </a:p>
        </p:txBody>
      </p:sp>
      <p:sp>
        <p:nvSpPr>
          <p:cNvPr id="22" name="Shape 20"/>
          <p:cNvSpPr/>
          <p:nvPr/>
        </p:nvSpPr>
        <p:spPr>
          <a:xfrm>
            <a:off x="685800" y="3154680"/>
            <a:ext cx="36576" cy="749808"/>
          </a:xfrm>
          <a:prstGeom prst="rect">
            <a:avLst/>
          </a:prstGeom>
          <a:solidFill>
            <a:srgbClr val="1E90F3"/>
          </a:solidFill>
          <a:ln w="12700">
            <a:solidFill>
              <a:srgbClr val="1E90F3"/>
            </a:solidFill>
            <a:prstDash val="solid"/>
          </a:ln>
        </p:spPr>
      </p:sp>
      <p:sp>
        <p:nvSpPr>
          <p:cNvPr id="23" name="Shape 21"/>
          <p:cNvSpPr/>
          <p:nvPr/>
        </p:nvSpPr>
        <p:spPr>
          <a:xfrm>
            <a:off x="685800" y="4343400"/>
            <a:ext cx="10789920" cy="1097280"/>
          </a:xfrm>
          <a:prstGeom prst="roundRect">
            <a:avLst>
              <a:gd name="adj" fmla="val 5000"/>
            </a:avLst>
          </a:prstGeom>
          <a:solidFill>
            <a:srgbClr val="FFFFFF"/>
          </a:solidFill>
          <a:ln w="8890">
            <a:solidFill>
              <a:srgbClr val="D8E4EE"/>
            </a:solidFill>
            <a:prstDash val="solid"/>
          </a:ln>
        </p:spPr>
      </p:sp>
      <p:sp>
        <p:nvSpPr>
          <p:cNvPr id="24" name="Text 22"/>
          <p:cNvSpPr/>
          <p:nvPr/>
        </p:nvSpPr>
        <p:spPr>
          <a:xfrm>
            <a:off x="813816" y="4480560"/>
            <a:ext cx="105338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The signal pattern already seen in results</a:t>
            </a:r>
            <a:endParaRPr lang="en-US" sz="930" dirty="0"/>
          </a:p>
        </p:txBody>
      </p:sp>
      <p:sp>
        <p:nvSpPr>
          <p:cNvPr id="25" name="Text 23"/>
          <p:cNvSpPr/>
          <p:nvPr/>
        </p:nvSpPr>
        <p:spPr>
          <a:xfrm>
            <a:off x="813816" y="4800600"/>
            <a:ext cx="10533888" cy="530352"/>
          </a:xfrm>
          <a:prstGeom prst="rect">
            <a:avLst/>
          </a:prstGeom>
          <a:noFill/>
          <a:ln/>
        </p:spPr>
        <p:txBody>
          <a:bodyPr wrap="square" lIns="0" tIns="0" rIns="0" bIns="0" rtlCol="0" anchor="ctr">
            <a:normAutofit/>
          </a:bodyPr>
          <a:lstStyle/>
          <a:p>
            <a:pPr marL="0" indent="0">
              <a:buNone/>
            </a:pPr>
            <a:r>
              <a:rPr lang="en-US" sz="780" dirty="0">
                <a:solidFill>
                  <a:srgbClr val="60758B"/>
                </a:solidFill>
              </a:rPr>
              <a:t>Across targets, the most stable driver families are raw/thickness variables, aggregated press-pressure variables, and temperature / process-state variables. Example drivers include rawThickness, pressPressureGlobal_mean, pressPressureC_mean, thicknessClosed_mean, pressPressureMid_mean, and pressPressureFrontEnd_diff.</a:t>
            </a:r>
            <a:endParaRPr lang="en-US" sz="780" dirty="0"/>
          </a:p>
        </p:txBody>
      </p:sp>
      <p:sp>
        <p:nvSpPr>
          <p:cNvPr id="26" name="Shape 24"/>
          <p:cNvSpPr/>
          <p:nvPr/>
        </p:nvSpPr>
        <p:spPr>
          <a:xfrm>
            <a:off x="685800" y="4343400"/>
            <a:ext cx="36576" cy="1097280"/>
          </a:xfrm>
          <a:prstGeom prst="rect">
            <a:avLst/>
          </a:prstGeom>
          <a:solidFill>
            <a:srgbClr val="16A05D"/>
          </a:solidFill>
          <a:ln w="12700">
            <a:solidFill>
              <a:srgbClr val="16A05D"/>
            </a:solidFill>
            <a:prstDash val="solid"/>
          </a:ln>
        </p:spPr>
      </p:sp>
      <p:sp>
        <p:nvSpPr>
          <p:cNvPr id="27" name="Text 25"/>
          <p:cNvSpPr/>
          <p:nvPr/>
        </p:nvSpPr>
        <p:spPr>
          <a:xfrm>
            <a:off x="9750987" y="3519383"/>
            <a:ext cx="1645920" cy="182880"/>
          </a:xfrm>
          <a:prstGeom prst="roundRect">
            <a:avLst/>
          </a:prstGeom>
          <a:solidFill>
            <a:srgbClr val="1E90F3"/>
          </a:solidFill>
          <a:ln>
            <a:solidFill>
              <a:srgbClr val="1E90F3"/>
            </a:solidFill>
          </a:ln>
        </p:spPr>
        <p:txBody>
          <a:bodyPr wrap="square" lIns="127" tIns="127" rIns="127" bIns="127" rtlCol="0" anchor="ctr"/>
          <a:lstStyle/>
          <a:p>
            <a:pPr marL="0" indent="0" algn="ctr">
              <a:buNone/>
            </a:pPr>
            <a:r>
              <a:rPr lang="en-US" sz="650" b="1" dirty="0">
                <a:solidFill>
                  <a:srgbClr val="FFFFFF"/>
                </a:solidFill>
              </a:rPr>
              <a:t>26 ENGINEERED FEATURES</a:t>
            </a:r>
            <a:endParaRPr lang="en-US" sz="650" dirty="0"/>
          </a:p>
        </p:txBody>
      </p:sp>
      <p:sp>
        <p:nvSpPr>
          <p:cNvPr id="28" name="Text 26"/>
          <p:cNvSpPr/>
          <p:nvPr/>
        </p:nvSpPr>
        <p:spPr>
          <a:xfrm>
            <a:off x="9509760" y="5596128"/>
            <a:ext cx="1965960" cy="182880"/>
          </a:xfrm>
          <a:prstGeom prst="roundRect">
            <a:avLst/>
          </a:prstGeom>
          <a:solidFill>
            <a:srgbClr val="16A05D"/>
          </a:solidFill>
          <a:ln>
            <a:solidFill>
              <a:srgbClr val="16A05D"/>
            </a:solidFill>
          </a:ln>
        </p:spPr>
        <p:txBody>
          <a:bodyPr wrap="square" lIns="127" tIns="127" rIns="127" bIns="127" rtlCol="0" anchor="ctr"/>
          <a:lstStyle/>
          <a:p>
            <a:pPr marL="0" indent="0" algn="ctr">
              <a:buNone/>
            </a:pPr>
            <a:r>
              <a:rPr lang="en-US" sz="650" b="1" dirty="0">
                <a:solidFill>
                  <a:srgbClr val="FFFFFF"/>
                </a:solidFill>
              </a:rPr>
              <a:t>DRIVER FAMILIES ARE CONSISTENT</a:t>
            </a:r>
            <a:endParaRPr lang="en-US" sz="6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Modeling evolution and lessons learned</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story is stronger when it shows how unstable experiments became a governed baseline.</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06</a:t>
            </a:r>
            <a:endParaRPr lang="en-US" sz="550" dirty="0"/>
          </a:p>
        </p:txBody>
      </p:sp>
      <p:sp>
        <p:nvSpPr>
          <p:cNvPr id="7" name="Shape 5"/>
          <p:cNvSpPr/>
          <p:nvPr/>
        </p:nvSpPr>
        <p:spPr>
          <a:xfrm>
            <a:off x="685800" y="1234440"/>
            <a:ext cx="5257800" cy="1920240"/>
          </a:xfrm>
          <a:prstGeom prst="roundRect">
            <a:avLst>
              <a:gd name="adj" fmla="val 2857"/>
            </a:avLst>
          </a:prstGeom>
          <a:solidFill>
            <a:srgbClr val="FFFFFF"/>
          </a:solidFill>
          <a:ln w="8890">
            <a:solidFill>
              <a:srgbClr val="D8E4EE"/>
            </a:solidFill>
            <a:prstDash val="solid"/>
          </a:ln>
        </p:spPr>
      </p:sp>
      <p:sp>
        <p:nvSpPr>
          <p:cNvPr id="8" name="Text 6"/>
          <p:cNvSpPr/>
          <p:nvPr/>
        </p:nvSpPr>
        <p:spPr>
          <a:xfrm>
            <a:off x="813816" y="1371600"/>
            <a:ext cx="50017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What went wrong early</a:t>
            </a:r>
            <a:endParaRPr lang="en-US" sz="930" dirty="0"/>
          </a:p>
        </p:txBody>
      </p:sp>
      <p:sp>
        <p:nvSpPr>
          <p:cNvPr id="9" name="Text 7"/>
          <p:cNvSpPr/>
          <p:nvPr/>
        </p:nvSpPr>
        <p:spPr>
          <a:xfrm>
            <a:off x="813816" y="1691640"/>
            <a:ext cx="5001768" cy="1353312"/>
          </a:xfrm>
          <a:prstGeom prst="rect">
            <a:avLst/>
          </a:prstGeom>
          <a:noFill/>
          <a:ln/>
        </p:spPr>
        <p:txBody>
          <a:bodyPr wrap="square" lIns="0" tIns="0" rIns="0" bIns="0" rtlCol="0" anchor="ctr">
            <a:normAutofit/>
          </a:bodyPr>
          <a:lstStyle/>
          <a:p>
            <a:pPr marL="0" indent="0">
              <a:buNone/>
            </a:pPr>
            <a:r>
              <a:rPr lang="en-US" sz="780" dirty="0">
                <a:solidFill>
                  <a:srgbClr val="60758B"/>
                </a:solidFill>
              </a:rPr>
              <a:t>• Prototype runs selected unusable fields such as abs24h / vkstockProxy variables.</a:t>
            </a:r>
            <a:endParaRPr lang="en-US" sz="780" dirty="0"/>
          </a:p>
          <a:p>
            <a:pPr marL="0" indent="0">
              <a:buNone/>
            </a:pPr>
            <a:r>
              <a:rPr lang="en-US" sz="780" dirty="0">
                <a:solidFill>
                  <a:srgbClr val="60758B"/>
                </a:solidFill>
              </a:rPr>
              <a:t>• Warnings appeared for features with no observed values.</a:t>
            </a:r>
            <a:endParaRPr lang="en-US" sz="780" dirty="0"/>
          </a:p>
          <a:p>
            <a:pPr marL="0" indent="0">
              <a:buNone/>
            </a:pPr>
            <a:r>
              <a:rPr lang="en-US" sz="780" dirty="0">
                <a:solidFill>
                  <a:srgbClr val="60758B"/>
                </a:solidFill>
              </a:rPr>
              <a:t>• Feature-importance export once failed because arrays did not match.</a:t>
            </a:r>
            <a:endParaRPr lang="en-US" sz="780" dirty="0"/>
          </a:p>
          <a:p>
            <a:pPr marL="0" indent="0">
              <a:buNone/>
            </a:pPr>
            <a:r>
              <a:rPr lang="en-US" sz="780" dirty="0">
                <a:solidFill>
                  <a:srgbClr val="60758B"/>
                </a:solidFill>
              </a:rPr>
              <a:t>• XGBoost once saw a training / feature-name mismatch.</a:t>
            </a:r>
            <a:endParaRPr lang="en-US" sz="780" dirty="0"/>
          </a:p>
        </p:txBody>
      </p:sp>
      <p:sp>
        <p:nvSpPr>
          <p:cNvPr id="10" name="Shape 8"/>
          <p:cNvSpPr/>
          <p:nvPr/>
        </p:nvSpPr>
        <p:spPr>
          <a:xfrm>
            <a:off x="685800" y="1234440"/>
            <a:ext cx="36576" cy="1920240"/>
          </a:xfrm>
          <a:prstGeom prst="rect">
            <a:avLst/>
          </a:prstGeom>
          <a:solidFill>
            <a:srgbClr val="E64B4B"/>
          </a:solidFill>
          <a:ln w="12700">
            <a:solidFill>
              <a:srgbClr val="E64B4B"/>
            </a:solidFill>
            <a:prstDash val="solid"/>
          </a:ln>
        </p:spPr>
      </p:sp>
      <p:sp>
        <p:nvSpPr>
          <p:cNvPr id="11" name="Shape 9"/>
          <p:cNvSpPr/>
          <p:nvPr/>
        </p:nvSpPr>
        <p:spPr>
          <a:xfrm>
            <a:off x="6263640" y="1234440"/>
            <a:ext cx="5212080" cy="1920240"/>
          </a:xfrm>
          <a:prstGeom prst="roundRect">
            <a:avLst>
              <a:gd name="adj" fmla="val 2857"/>
            </a:avLst>
          </a:prstGeom>
          <a:solidFill>
            <a:srgbClr val="FFFFFF"/>
          </a:solidFill>
          <a:ln w="8890">
            <a:solidFill>
              <a:srgbClr val="D8E4EE"/>
            </a:solidFill>
            <a:prstDash val="solid"/>
          </a:ln>
        </p:spPr>
      </p:sp>
      <p:sp>
        <p:nvSpPr>
          <p:cNvPr id="12" name="Text 10"/>
          <p:cNvSpPr/>
          <p:nvPr/>
        </p:nvSpPr>
        <p:spPr>
          <a:xfrm>
            <a:off x="6391656" y="1371600"/>
            <a:ext cx="4956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What changed in the mature pipeline</a:t>
            </a:r>
            <a:endParaRPr lang="en-US" sz="930" dirty="0"/>
          </a:p>
        </p:txBody>
      </p:sp>
      <p:sp>
        <p:nvSpPr>
          <p:cNvPr id="13" name="Text 11"/>
          <p:cNvSpPr/>
          <p:nvPr/>
        </p:nvSpPr>
        <p:spPr>
          <a:xfrm>
            <a:off x="6391656" y="1691640"/>
            <a:ext cx="4956048" cy="1353312"/>
          </a:xfrm>
          <a:prstGeom prst="rect">
            <a:avLst/>
          </a:prstGeom>
          <a:noFill/>
          <a:ln/>
        </p:spPr>
        <p:txBody>
          <a:bodyPr wrap="square" lIns="0" tIns="0" rIns="0" bIns="0" rtlCol="0" anchor="ctr">
            <a:normAutofit/>
          </a:bodyPr>
          <a:lstStyle/>
          <a:p>
            <a:pPr marL="0" indent="0">
              <a:buNone/>
            </a:pPr>
            <a:r>
              <a:rPr lang="en-US" sz="780" dirty="0">
                <a:solidFill>
                  <a:srgbClr val="60758B"/>
                </a:solidFill>
              </a:rPr>
              <a:t>• Feature filters exclude nonnumeric, all-null, target, leakage-prone and irrelevant fields.</a:t>
            </a:r>
            <a:endParaRPr lang="en-US" sz="780" dirty="0"/>
          </a:p>
          <a:p>
            <a:pPr marL="0" indent="0">
              <a:buNone/>
            </a:pPr>
            <a:r>
              <a:rPr lang="en-US" sz="780" dirty="0">
                <a:solidFill>
                  <a:srgbClr val="60758B"/>
                </a:solidFill>
              </a:rPr>
              <a:t>• Time-based splitting and repeatable artifact naming were standardized.</a:t>
            </a:r>
            <a:endParaRPr lang="en-US" sz="780" dirty="0"/>
          </a:p>
          <a:p>
            <a:pPr marL="0" indent="0">
              <a:buNone/>
            </a:pPr>
            <a:r>
              <a:rPr lang="en-US" sz="780" dirty="0">
                <a:solidFill>
                  <a:srgbClr val="60758B"/>
                </a:solidFill>
              </a:rPr>
              <a:t>• Training saves governed bundles and the serving layer reads the exact saved feature order.</a:t>
            </a:r>
            <a:endParaRPr lang="en-US" sz="780" dirty="0"/>
          </a:p>
        </p:txBody>
      </p:sp>
      <p:sp>
        <p:nvSpPr>
          <p:cNvPr id="14" name="Shape 12"/>
          <p:cNvSpPr/>
          <p:nvPr/>
        </p:nvSpPr>
        <p:spPr>
          <a:xfrm>
            <a:off x="6263640" y="1234440"/>
            <a:ext cx="36576" cy="1920240"/>
          </a:xfrm>
          <a:prstGeom prst="rect">
            <a:avLst/>
          </a:prstGeom>
          <a:solidFill>
            <a:srgbClr val="16A05D"/>
          </a:solidFill>
          <a:ln w="12700">
            <a:solidFill>
              <a:srgbClr val="16A05D"/>
            </a:solidFill>
            <a:prstDash val="solid"/>
          </a:ln>
        </p:spPr>
      </p:sp>
      <p:sp>
        <p:nvSpPr>
          <p:cNvPr id="15" name="Shape 13"/>
          <p:cNvSpPr/>
          <p:nvPr/>
        </p:nvSpPr>
        <p:spPr>
          <a:xfrm>
            <a:off x="685800" y="3657600"/>
            <a:ext cx="5257800" cy="1143000"/>
          </a:xfrm>
          <a:prstGeom prst="roundRect">
            <a:avLst>
              <a:gd name="adj" fmla="val 4800"/>
            </a:avLst>
          </a:prstGeom>
          <a:solidFill>
            <a:srgbClr val="FFF4DF"/>
          </a:solidFill>
          <a:ln w="8890">
            <a:solidFill>
              <a:srgbClr val="F2D5A7"/>
            </a:solidFill>
            <a:prstDash val="solid"/>
          </a:ln>
        </p:spPr>
      </p:sp>
      <p:sp>
        <p:nvSpPr>
          <p:cNvPr id="16" name="Text 14"/>
          <p:cNvSpPr/>
          <p:nvPr/>
        </p:nvSpPr>
        <p:spPr>
          <a:xfrm>
            <a:off x="813816" y="3794760"/>
            <a:ext cx="50017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Key lesson for the presentation</a:t>
            </a:r>
            <a:endParaRPr lang="en-US" sz="930" dirty="0"/>
          </a:p>
        </p:txBody>
      </p:sp>
      <p:sp>
        <p:nvSpPr>
          <p:cNvPr id="17" name="Text 15"/>
          <p:cNvSpPr/>
          <p:nvPr/>
        </p:nvSpPr>
        <p:spPr>
          <a:xfrm>
            <a:off x="813816" y="4114800"/>
            <a:ext cx="5001768" cy="576072"/>
          </a:xfrm>
          <a:prstGeom prst="rect">
            <a:avLst/>
          </a:prstGeom>
          <a:noFill/>
          <a:ln/>
        </p:spPr>
        <p:txBody>
          <a:bodyPr wrap="square" lIns="0" tIns="0" rIns="0" bIns="0" rtlCol="0" anchor="ctr">
            <a:normAutofit/>
          </a:bodyPr>
          <a:lstStyle/>
          <a:p>
            <a:pPr marL="0" indent="0">
              <a:buNone/>
            </a:pPr>
            <a:r>
              <a:rPr lang="en-US" sz="780" dirty="0">
                <a:solidFill>
                  <a:srgbClr val="60758B"/>
                </a:solidFill>
              </a:rPr>
              <a:t>Show that the team learned to trust the system only after data filters, split logic and artifact governance were stabilized. This makes the final served performance more credible than flashy but fragile early numbers.</a:t>
            </a:r>
            <a:endParaRPr lang="en-US" sz="780" dirty="0"/>
          </a:p>
        </p:txBody>
      </p:sp>
      <p:sp>
        <p:nvSpPr>
          <p:cNvPr id="18" name="Shape 16"/>
          <p:cNvSpPr/>
          <p:nvPr/>
        </p:nvSpPr>
        <p:spPr>
          <a:xfrm>
            <a:off x="685800" y="3657600"/>
            <a:ext cx="36576" cy="1143000"/>
          </a:xfrm>
          <a:prstGeom prst="rect">
            <a:avLst/>
          </a:prstGeom>
          <a:solidFill>
            <a:srgbClr val="F5A623"/>
          </a:solidFill>
          <a:ln w="12700">
            <a:solidFill>
              <a:srgbClr val="F5A623"/>
            </a:solidFill>
            <a:prstDash val="solid"/>
          </a:ln>
        </p:spPr>
      </p:sp>
      <p:sp>
        <p:nvSpPr>
          <p:cNvPr id="19" name="Shape 17"/>
          <p:cNvSpPr/>
          <p:nvPr/>
        </p:nvSpPr>
        <p:spPr>
          <a:xfrm>
            <a:off x="6263640" y="3657600"/>
            <a:ext cx="5212080" cy="1143000"/>
          </a:xfrm>
          <a:prstGeom prst="roundRect">
            <a:avLst>
              <a:gd name="adj" fmla="val 4800"/>
            </a:avLst>
          </a:prstGeom>
          <a:solidFill>
            <a:srgbClr val="FFFFFF"/>
          </a:solidFill>
          <a:ln w="8890">
            <a:solidFill>
              <a:srgbClr val="D8E4EE"/>
            </a:solidFill>
            <a:prstDash val="solid"/>
          </a:ln>
        </p:spPr>
      </p:sp>
      <p:sp>
        <p:nvSpPr>
          <p:cNvPr id="20" name="Text 18"/>
          <p:cNvSpPr/>
          <p:nvPr/>
        </p:nvSpPr>
        <p:spPr>
          <a:xfrm>
            <a:off x="6391656" y="3794760"/>
            <a:ext cx="4956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Reporting guidance</a:t>
            </a:r>
            <a:endParaRPr lang="en-US" sz="930" dirty="0"/>
          </a:p>
        </p:txBody>
      </p:sp>
      <p:sp>
        <p:nvSpPr>
          <p:cNvPr id="21" name="Text 19"/>
          <p:cNvSpPr/>
          <p:nvPr/>
        </p:nvSpPr>
        <p:spPr>
          <a:xfrm>
            <a:off x="6391656" y="3981714"/>
            <a:ext cx="4956048" cy="778235"/>
          </a:xfrm>
          <a:prstGeom prst="rect">
            <a:avLst/>
          </a:prstGeom>
          <a:noFill/>
          <a:ln/>
        </p:spPr>
        <p:txBody>
          <a:bodyPr wrap="square" lIns="0" tIns="0" rIns="0" bIns="0" rtlCol="0" anchor="ctr">
            <a:normAutofit/>
          </a:bodyPr>
          <a:lstStyle/>
          <a:p>
            <a:r>
              <a:rPr lang="en-US" sz="780" dirty="0">
                <a:solidFill>
                  <a:srgbClr val="60758B"/>
                </a:solidFill>
              </a:rPr>
              <a:t>Use three result layers: 1) early prototype findings for learning only, 2) five-target baseline comparison, 3) current served bundles and API-verified system </a:t>
            </a:r>
            <a:r>
              <a:rPr lang="en-US" sz="780" dirty="0" smtClean="0">
                <a:solidFill>
                  <a:srgbClr val="60758B"/>
                </a:solidFill>
              </a:rPr>
              <a:t>state:</a:t>
            </a:r>
            <a:br>
              <a:rPr lang="en-US" sz="780" dirty="0" smtClean="0">
                <a:solidFill>
                  <a:srgbClr val="60758B"/>
                </a:solidFill>
              </a:rPr>
            </a:br>
            <a:r>
              <a:rPr lang="en-US" sz="780" dirty="0" smtClean="0">
                <a:solidFill>
                  <a:srgbClr val="60758B"/>
                </a:solidFill>
              </a:rPr>
              <a:t/>
            </a:r>
            <a:br>
              <a:rPr lang="en-US" sz="780" dirty="0" smtClean="0">
                <a:solidFill>
                  <a:srgbClr val="60758B"/>
                </a:solidFill>
              </a:rPr>
            </a:br>
            <a:r>
              <a:rPr lang="en-GB" sz="800" dirty="0"/>
              <a:t>Learning → Validation → Production</a:t>
            </a:r>
            <a:r>
              <a:rPr lang="en-US" sz="780" dirty="0" smtClean="0">
                <a:solidFill>
                  <a:srgbClr val="60758B"/>
                </a:solidFill>
              </a:rPr>
              <a:t/>
            </a:r>
            <a:br>
              <a:rPr lang="en-US" sz="780" dirty="0" smtClean="0">
                <a:solidFill>
                  <a:srgbClr val="60758B"/>
                </a:solidFill>
              </a:rPr>
            </a:br>
            <a:r>
              <a:rPr lang="en-US" sz="780" dirty="0" smtClean="0">
                <a:solidFill>
                  <a:srgbClr val="60758B"/>
                </a:solidFill>
              </a:rPr>
              <a:t/>
            </a:r>
            <a:br>
              <a:rPr lang="en-US" sz="780" dirty="0" smtClean="0">
                <a:solidFill>
                  <a:srgbClr val="60758B"/>
                </a:solidFill>
              </a:rPr>
            </a:br>
            <a:endParaRPr lang="en-US" sz="780" dirty="0"/>
          </a:p>
        </p:txBody>
      </p:sp>
      <p:sp>
        <p:nvSpPr>
          <p:cNvPr id="22" name="Shape 20"/>
          <p:cNvSpPr/>
          <p:nvPr/>
        </p:nvSpPr>
        <p:spPr>
          <a:xfrm>
            <a:off x="6263640" y="3657600"/>
            <a:ext cx="36576" cy="1143000"/>
          </a:xfrm>
          <a:prstGeom prst="rect">
            <a:avLst/>
          </a:prstGeom>
          <a:solidFill>
            <a:srgbClr val="1E90F3"/>
          </a:solidFill>
          <a:ln w="12700">
            <a:solidFill>
              <a:srgbClr val="1E90F3"/>
            </a:solidFill>
            <a:prstDash val="solid"/>
          </a:ln>
        </p:spPr>
      </p:sp>
      <p:sp>
        <p:nvSpPr>
          <p:cNvPr id="23" name="Text 21"/>
          <p:cNvSpPr/>
          <p:nvPr/>
        </p:nvSpPr>
        <p:spPr>
          <a:xfrm>
            <a:off x="777240" y="5212080"/>
            <a:ext cx="2011680" cy="182880"/>
          </a:xfrm>
          <a:prstGeom prst="roundRect">
            <a:avLst/>
          </a:prstGeom>
          <a:solidFill>
            <a:srgbClr val="F5A623"/>
          </a:solidFill>
          <a:ln>
            <a:solidFill>
              <a:srgbClr val="F5A623"/>
            </a:solidFill>
          </a:ln>
        </p:spPr>
        <p:txBody>
          <a:bodyPr wrap="square" lIns="127" tIns="127" rIns="127" bIns="127" rtlCol="0" anchor="ctr"/>
          <a:lstStyle/>
          <a:p>
            <a:pPr marL="0" indent="0" algn="ctr">
              <a:buNone/>
            </a:pPr>
            <a:r>
              <a:rPr lang="en-US" sz="650" b="1" dirty="0">
                <a:solidFill>
                  <a:srgbClr val="FFFFFF"/>
                </a:solidFill>
              </a:rPr>
              <a:t>EARLY RUNS ≠ CURRENT STATE</a:t>
            </a:r>
            <a:endParaRPr lang="en-US" sz="650" dirty="0"/>
          </a:p>
        </p:txBody>
      </p:sp>
      <p:sp>
        <p:nvSpPr>
          <p:cNvPr id="24" name="Text 22"/>
          <p:cNvSpPr/>
          <p:nvPr/>
        </p:nvSpPr>
        <p:spPr>
          <a:xfrm>
            <a:off x="9509760" y="5212080"/>
            <a:ext cx="1645920" cy="182880"/>
          </a:xfrm>
          <a:prstGeom prst="roundRect">
            <a:avLst/>
          </a:prstGeom>
          <a:solidFill>
            <a:srgbClr val="16A05D"/>
          </a:solidFill>
          <a:ln>
            <a:solidFill>
              <a:srgbClr val="16A05D"/>
            </a:solidFill>
          </a:ln>
        </p:spPr>
        <p:txBody>
          <a:bodyPr wrap="square" lIns="127" tIns="127" rIns="127" bIns="127" rtlCol="0" anchor="ctr"/>
          <a:lstStyle/>
          <a:p>
            <a:pPr marL="0" indent="0" algn="ctr">
              <a:buNone/>
            </a:pPr>
            <a:r>
              <a:rPr lang="en-US" sz="650" b="1" dirty="0">
                <a:solidFill>
                  <a:srgbClr val="FFFFFF"/>
                </a:solidFill>
              </a:rPr>
              <a:t>GOVERNED BASELINE</a:t>
            </a:r>
            <a:endParaRPr lang="en-US" sz="6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Project-wide baseline comparison: five quality targets</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broader MDF1 view shows multiple targets are learnable, but not equally ready for rollout.</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07</a:t>
            </a:r>
            <a:endParaRPr lang="en-US" sz="550" dirty="0"/>
          </a:p>
        </p:txBody>
      </p:sp>
      <p:sp>
        <p:nvSpPr>
          <p:cNvPr id="7" name="Text 5"/>
          <p:cNvSpPr/>
          <p:nvPr/>
        </p:nvSpPr>
        <p:spPr>
          <a:xfrm>
            <a:off x="1325880" y="1234440"/>
            <a:ext cx="3200400" cy="164592"/>
          </a:xfrm>
          <a:prstGeom prst="rect">
            <a:avLst/>
          </a:prstGeom>
          <a:noFill/>
          <a:ln/>
        </p:spPr>
        <p:txBody>
          <a:bodyPr wrap="square" lIns="0" tIns="0" rIns="0" bIns="0" rtlCol="0" anchor="ctr"/>
          <a:lstStyle/>
          <a:p>
            <a:pPr marL="0" indent="0">
              <a:buNone/>
            </a:pPr>
            <a:r>
              <a:rPr lang="en-US" sz="900" b="1" dirty="0">
                <a:solidFill>
                  <a:srgbClr val="0F2942"/>
                </a:solidFill>
              </a:rPr>
              <a:t>Five-target baseline performance</a:t>
            </a:r>
            <a:endParaRPr lang="en-US" sz="900" dirty="0"/>
          </a:p>
        </p:txBody>
      </p:sp>
      <p:sp>
        <p:nvSpPr>
          <p:cNvPr id="8" name="Shape 6"/>
          <p:cNvSpPr/>
          <p:nvPr/>
        </p:nvSpPr>
        <p:spPr>
          <a:xfrm>
            <a:off x="841248" y="4526280"/>
            <a:ext cx="4206240" cy="0"/>
          </a:xfrm>
          <a:prstGeom prst="line">
            <a:avLst/>
          </a:prstGeom>
          <a:noFill/>
          <a:ln w="12700">
            <a:solidFill>
              <a:srgbClr val="AFC4D7"/>
            </a:solidFill>
            <a:prstDash val="solid"/>
          </a:ln>
        </p:spPr>
      </p:sp>
      <p:sp>
        <p:nvSpPr>
          <p:cNvPr id="9" name="Shape 7"/>
          <p:cNvSpPr/>
          <p:nvPr/>
        </p:nvSpPr>
        <p:spPr>
          <a:xfrm>
            <a:off x="841248" y="1965960"/>
            <a:ext cx="0" cy="2560320"/>
          </a:xfrm>
          <a:prstGeom prst="line">
            <a:avLst/>
          </a:prstGeom>
          <a:noFill/>
          <a:ln w="12700">
            <a:solidFill>
              <a:srgbClr val="AFC4D7"/>
            </a:solidFill>
            <a:prstDash val="solid"/>
          </a:ln>
        </p:spPr>
      </p:sp>
      <p:sp>
        <p:nvSpPr>
          <p:cNvPr id="10" name="Shape 8"/>
          <p:cNvSpPr/>
          <p:nvPr/>
        </p:nvSpPr>
        <p:spPr>
          <a:xfrm>
            <a:off x="1143000" y="2599155"/>
            <a:ext cx="566928" cy="1927125"/>
          </a:xfrm>
          <a:prstGeom prst="rect">
            <a:avLst/>
          </a:prstGeom>
          <a:solidFill>
            <a:srgbClr val="1E90F3"/>
          </a:solidFill>
          <a:ln w="12700">
            <a:solidFill>
              <a:srgbClr val="1E90F3"/>
            </a:solidFill>
            <a:prstDash val="solid"/>
          </a:ln>
        </p:spPr>
      </p:sp>
      <p:sp>
        <p:nvSpPr>
          <p:cNvPr id="11" name="Text 9"/>
          <p:cNvSpPr/>
          <p:nvPr/>
        </p:nvSpPr>
        <p:spPr>
          <a:xfrm>
            <a:off x="1097280" y="2379699"/>
            <a:ext cx="658368" cy="118872"/>
          </a:xfrm>
          <a:prstGeom prst="rect">
            <a:avLst/>
          </a:prstGeom>
          <a:noFill/>
          <a:ln/>
        </p:spPr>
        <p:txBody>
          <a:bodyPr wrap="square" lIns="0" tIns="0" rIns="0" bIns="0" rtlCol="0" anchor="ctr"/>
          <a:lstStyle/>
          <a:p>
            <a:pPr marL="0" indent="0" algn="ctr">
              <a:buNone/>
            </a:pPr>
            <a:r>
              <a:rPr lang="en-US" sz="630" b="1" dirty="0">
                <a:solidFill>
                  <a:srgbClr val="0F2942"/>
                </a:solidFill>
              </a:rPr>
              <a:t>0.758</a:t>
            </a:r>
            <a:endParaRPr lang="en-US" sz="630" dirty="0"/>
          </a:p>
        </p:txBody>
      </p:sp>
      <p:sp>
        <p:nvSpPr>
          <p:cNvPr id="12" name="Text 10"/>
          <p:cNvSpPr/>
          <p:nvPr/>
        </p:nvSpPr>
        <p:spPr>
          <a:xfrm>
            <a:off x="1005840" y="4599432"/>
            <a:ext cx="841248" cy="201168"/>
          </a:xfrm>
          <a:prstGeom prst="rect">
            <a:avLst/>
          </a:prstGeom>
          <a:noFill/>
          <a:ln/>
        </p:spPr>
        <p:txBody>
          <a:bodyPr wrap="square" lIns="0" tIns="0" rIns="0" bIns="0" rtlCol="0" anchor="ctr">
            <a:normAutofit/>
          </a:bodyPr>
          <a:lstStyle/>
          <a:p>
            <a:pPr marL="0" indent="0" algn="ctr">
              <a:buNone/>
            </a:pPr>
            <a:r>
              <a:rPr lang="en-US" sz="640" dirty="0">
                <a:solidFill>
                  <a:srgbClr val="0F2942"/>
                </a:solidFill>
              </a:rPr>
              <a:t>Surface</a:t>
            </a:r>
            <a:endParaRPr lang="en-US" sz="640" dirty="0"/>
          </a:p>
          <a:p>
            <a:pPr marL="0" indent="0" algn="ctr">
              <a:buNone/>
            </a:pPr>
            <a:r>
              <a:rPr lang="en-US" sz="640" dirty="0">
                <a:solidFill>
                  <a:srgbClr val="0F2942"/>
                </a:solidFill>
              </a:rPr>
              <a:t>Soundness</a:t>
            </a:r>
            <a:endParaRPr lang="en-US" sz="640" dirty="0"/>
          </a:p>
        </p:txBody>
      </p:sp>
      <p:sp>
        <p:nvSpPr>
          <p:cNvPr id="13" name="Shape 11"/>
          <p:cNvSpPr/>
          <p:nvPr/>
        </p:nvSpPr>
        <p:spPr>
          <a:xfrm>
            <a:off x="2212848" y="2818719"/>
            <a:ext cx="566928" cy="1707561"/>
          </a:xfrm>
          <a:prstGeom prst="rect">
            <a:avLst/>
          </a:prstGeom>
          <a:solidFill>
            <a:srgbClr val="1E90F3"/>
          </a:solidFill>
          <a:ln w="12700">
            <a:solidFill>
              <a:srgbClr val="1E90F3"/>
            </a:solidFill>
            <a:prstDash val="solid"/>
          </a:ln>
        </p:spPr>
      </p:sp>
      <p:sp>
        <p:nvSpPr>
          <p:cNvPr id="14" name="Text 12"/>
          <p:cNvSpPr/>
          <p:nvPr/>
        </p:nvSpPr>
        <p:spPr>
          <a:xfrm>
            <a:off x="2167128" y="2599263"/>
            <a:ext cx="658368" cy="118872"/>
          </a:xfrm>
          <a:prstGeom prst="rect">
            <a:avLst/>
          </a:prstGeom>
          <a:noFill/>
          <a:ln/>
        </p:spPr>
        <p:txBody>
          <a:bodyPr wrap="square" lIns="0" tIns="0" rIns="0" bIns="0" rtlCol="0" anchor="ctr"/>
          <a:lstStyle/>
          <a:p>
            <a:pPr marL="0" indent="0" algn="ctr">
              <a:buNone/>
            </a:pPr>
            <a:r>
              <a:rPr lang="en-US" sz="630" b="1" dirty="0">
                <a:solidFill>
                  <a:srgbClr val="0F2942"/>
                </a:solidFill>
              </a:rPr>
              <a:t>0.742</a:t>
            </a:r>
            <a:endParaRPr lang="en-US" sz="630" dirty="0"/>
          </a:p>
        </p:txBody>
      </p:sp>
      <p:sp>
        <p:nvSpPr>
          <p:cNvPr id="15" name="Text 13"/>
          <p:cNvSpPr/>
          <p:nvPr/>
        </p:nvSpPr>
        <p:spPr>
          <a:xfrm>
            <a:off x="2075688" y="4599432"/>
            <a:ext cx="841248" cy="201168"/>
          </a:xfrm>
          <a:prstGeom prst="rect">
            <a:avLst/>
          </a:prstGeom>
          <a:noFill/>
          <a:ln/>
        </p:spPr>
        <p:txBody>
          <a:bodyPr wrap="square" lIns="0" tIns="0" rIns="0" bIns="0" rtlCol="0" anchor="ctr">
            <a:normAutofit/>
          </a:bodyPr>
          <a:lstStyle/>
          <a:p>
            <a:pPr marL="0" indent="0" algn="ctr">
              <a:buNone/>
            </a:pPr>
            <a:r>
              <a:rPr lang="en-US" sz="640" dirty="0">
                <a:solidFill>
                  <a:srgbClr val="0F2942"/>
                </a:solidFill>
              </a:rPr>
              <a:t>Density</a:t>
            </a:r>
            <a:endParaRPr lang="en-US" sz="640" dirty="0"/>
          </a:p>
        </p:txBody>
      </p:sp>
      <p:sp>
        <p:nvSpPr>
          <p:cNvPr id="16" name="Shape 14"/>
          <p:cNvSpPr/>
          <p:nvPr/>
        </p:nvSpPr>
        <p:spPr>
          <a:xfrm>
            <a:off x="3282696" y="3024297"/>
            <a:ext cx="566928" cy="1501983"/>
          </a:xfrm>
          <a:prstGeom prst="rect">
            <a:avLst/>
          </a:prstGeom>
          <a:solidFill>
            <a:srgbClr val="1E90F3"/>
          </a:solidFill>
          <a:ln w="12700">
            <a:solidFill>
              <a:srgbClr val="1E90F3"/>
            </a:solidFill>
            <a:prstDash val="solid"/>
          </a:ln>
        </p:spPr>
      </p:sp>
      <p:sp>
        <p:nvSpPr>
          <p:cNvPr id="17" name="Text 15"/>
          <p:cNvSpPr/>
          <p:nvPr/>
        </p:nvSpPr>
        <p:spPr>
          <a:xfrm>
            <a:off x="3236976" y="2804841"/>
            <a:ext cx="658368" cy="118872"/>
          </a:xfrm>
          <a:prstGeom prst="rect">
            <a:avLst/>
          </a:prstGeom>
          <a:noFill/>
          <a:ln/>
        </p:spPr>
        <p:txBody>
          <a:bodyPr wrap="square" lIns="0" tIns="0" rIns="0" bIns="0" rtlCol="0" anchor="ctr"/>
          <a:lstStyle/>
          <a:p>
            <a:pPr marL="0" indent="0" algn="ctr">
              <a:buNone/>
            </a:pPr>
            <a:r>
              <a:rPr lang="en-US" sz="630" b="1" dirty="0">
                <a:solidFill>
                  <a:srgbClr val="0F2942"/>
                </a:solidFill>
              </a:rPr>
              <a:t>0.727</a:t>
            </a:r>
            <a:endParaRPr lang="en-US" sz="630" dirty="0"/>
          </a:p>
        </p:txBody>
      </p:sp>
      <p:sp>
        <p:nvSpPr>
          <p:cNvPr id="18" name="Text 16"/>
          <p:cNvSpPr/>
          <p:nvPr/>
        </p:nvSpPr>
        <p:spPr>
          <a:xfrm>
            <a:off x="3145536" y="4599432"/>
            <a:ext cx="841248" cy="201168"/>
          </a:xfrm>
          <a:prstGeom prst="rect">
            <a:avLst/>
          </a:prstGeom>
          <a:noFill/>
          <a:ln/>
        </p:spPr>
        <p:txBody>
          <a:bodyPr wrap="square" lIns="0" tIns="0" rIns="0" bIns="0" rtlCol="0" anchor="ctr">
            <a:normAutofit/>
          </a:bodyPr>
          <a:lstStyle/>
          <a:p>
            <a:pPr marL="0" indent="0" algn="ctr">
              <a:buNone/>
            </a:pPr>
            <a:r>
              <a:rPr lang="en-US" sz="640" dirty="0">
                <a:solidFill>
                  <a:srgbClr val="0F2942"/>
                </a:solidFill>
              </a:rPr>
              <a:t>Bending</a:t>
            </a:r>
            <a:endParaRPr lang="en-US" sz="640" dirty="0"/>
          </a:p>
        </p:txBody>
      </p:sp>
      <p:sp>
        <p:nvSpPr>
          <p:cNvPr id="19" name="Shape 17"/>
          <p:cNvSpPr/>
          <p:nvPr/>
        </p:nvSpPr>
        <p:spPr>
          <a:xfrm>
            <a:off x="4352544" y="3297004"/>
            <a:ext cx="566928" cy="1229276"/>
          </a:xfrm>
          <a:prstGeom prst="rect">
            <a:avLst/>
          </a:prstGeom>
          <a:solidFill>
            <a:srgbClr val="1E90F3"/>
          </a:solidFill>
          <a:ln w="12700">
            <a:solidFill>
              <a:srgbClr val="1E90F3"/>
            </a:solidFill>
            <a:prstDash val="solid"/>
          </a:ln>
        </p:spPr>
      </p:sp>
      <p:sp>
        <p:nvSpPr>
          <p:cNvPr id="20" name="Text 18"/>
          <p:cNvSpPr/>
          <p:nvPr/>
        </p:nvSpPr>
        <p:spPr>
          <a:xfrm>
            <a:off x="4306824" y="3077548"/>
            <a:ext cx="658368" cy="118872"/>
          </a:xfrm>
          <a:prstGeom prst="rect">
            <a:avLst/>
          </a:prstGeom>
          <a:noFill/>
          <a:ln/>
        </p:spPr>
        <p:txBody>
          <a:bodyPr wrap="square" lIns="0" tIns="0" rIns="0" bIns="0" rtlCol="0" anchor="ctr"/>
          <a:lstStyle/>
          <a:p>
            <a:pPr marL="0" indent="0" algn="ctr">
              <a:buNone/>
            </a:pPr>
            <a:r>
              <a:rPr lang="en-US" sz="630" b="1" dirty="0">
                <a:solidFill>
                  <a:srgbClr val="0F2942"/>
                </a:solidFill>
              </a:rPr>
              <a:t>0.708</a:t>
            </a:r>
            <a:endParaRPr lang="en-US" sz="630" dirty="0"/>
          </a:p>
        </p:txBody>
      </p:sp>
      <p:sp>
        <p:nvSpPr>
          <p:cNvPr id="21" name="Text 19"/>
          <p:cNvSpPr/>
          <p:nvPr/>
        </p:nvSpPr>
        <p:spPr>
          <a:xfrm>
            <a:off x="4215384" y="4599432"/>
            <a:ext cx="841248" cy="201168"/>
          </a:xfrm>
          <a:prstGeom prst="rect">
            <a:avLst/>
          </a:prstGeom>
          <a:noFill/>
          <a:ln/>
        </p:spPr>
        <p:txBody>
          <a:bodyPr wrap="square" lIns="0" tIns="0" rIns="0" bIns="0" rtlCol="0" anchor="ctr">
            <a:normAutofit/>
          </a:bodyPr>
          <a:lstStyle/>
          <a:p>
            <a:pPr marL="0" indent="0" algn="ctr">
              <a:buNone/>
            </a:pPr>
            <a:r>
              <a:rPr lang="en-US" sz="640" dirty="0">
                <a:solidFill>
                  <a:srgbClr val="0F2942"/>
                </a:solidFill>
              </a:rPr>
              <a:t>Tensile</a:t>
            </a:r>
            <a:endParaRPr lang="en-US" sz="640" dirty="0"/>
          </a:p>
        </p:txBody>
      </p:sp>
      <p:sp>
        <p:nvSpPr>
          <p:cNvPr id="22" name="Shape 20"/>
          <p:cNvSpPr/>
          <p:nvPr/>
        </p:nvSpPr>
        <p:spPr>
          <a:xfrm>
            <a:off x="5422392" y="3508176"/>
            <a:ext cx="566928" cy="1018104"/>
          </a:xfrm>
          <a:prstGeom prst="rect">
            <a:avLst/>
          </a:prstGeom>
          <a:solidFill>
            <a:srgbClr val="1E90F3"/>
          </a:solidFill>
          <a:ln w="12700">
            <a:solidFill>
              <a:srgbClr val="1E90F3"/>
            </a:solidFill>
            <a:prstDash val="solid"/>
          </a:ln>
        </p:spPr>
      </p:sp>
      <p:sp>
        <p:nvSpPr>
          <p:cNvPr id="23" name="Text 21"/>
          <p:cNvSpPr/>
          <p:nvPr/>
        </p:nvSpPr>
        <p:spPr>
          <a:xfrm>
            <a:off x="5376672" y="3288720"/>
            <a:ext cx="658368" cy="118872"/>
          </a:xfrm>
          <a:prstGeom prst="rect">
            <a:avLst/>
          </a:prstGeom>
          <a:noFill/>
          <a:ln/>
        </p:spPr>
        <p:txBody>
          <a:bodyPr wrap="square" lIns="0" tIns="0" rIns="0" bIns="0" rtlCol="0" anchor="ctr"/>
          <a:lstStyle/>
          <a:p>
            <a:pPr marL="0" indent="0" algn="ctr">
              <a:buNone/>
            </a:pPr>
            <a:r>
              <a:rPr lang="en-US" sz="630" b="1" dirty="0">
                <a:solidFill>
                  <a:srgbClr val="0F2942"/>
                </a:solidFill>
              </a:rPr>
              <a:t>0.693</a:t>
            </a:r>
            <a:endParaRPr lang="en-US" sz="630" dirty="0"/>
          </a:p>
        </p:txBody>
      </p:sp>
      <p:sp>
        <p:nvSpPr>
          <p:cNvPr id="24" name="Text 22"/>
          <p:cNvSpPr/>
          <p:nvPr/>
        </p:nvSpPr>
        <p:spPr>
          <a:xfrm>
            <a:off x="5285232" y="4599432"/>
            <a:ext cx="841248" cy="201168"/>
          </a:xfrm>
          <a:prstGeom prst="rect">
            <a:avLst/>
          </a:prstGeom>
          <a:noFill/>
          <a:ln/>
        </p:spPr>
        <p:txBody>
          <a:bodyPr wrap="square" lIns="0" tIns="0" rIns="0" bIns="0" rtlCol="0" anchor="ctr">
            <a:normAutofit/>
          </a:bodyPr>
          <a:lstStyle/>
          <a:p>
            <a:pPr marL="0" indent="0" algn="ctr">
              <a:buNone/>
            </a:pPr>
            <a:r>
              <a:rPr lang="en-US" sz="640" dirty="0">
                <a:solidFill>
                  <a:srgbClr val="0F2942"/>
                </a:solidFill>
              </a:rPr>
              <a:t>E-Modul</a:t>
            </a:r>
            <a:endParaRPr lang="en-US" sz="640" dirty="0"/>
          </a:p>
        </p:txBody>
      </p:sp>
      <p:sp>
        <p:nvSpPr>
          <p:cNvPr id="25" name="Text 23"/>
          <p:cNvSpPr/>
          <p:nvPr/>
        </p:nvSpPr>
        <p:spPr>
          <a:xfrm>
            <a:off x="603504" y="1874520"/>
            <a:ext cx="274320" cy="109728"/>
          </a:xfrm>
          <a:prstGeom prst="rect">
            <a:avLst/>
          </a:prstGeom>
          <a:noFill/>
          <a:ln/>
        </p:spPr>
        <p:txBody>
          <a:bodyPr wrap="square" lIns="0" tIns="0" rIns="0" bIns="0" rtlCol="0" anchor="ctr"/>
          <a:lstStyle/>
          <a:p>
            <a:pPr marL="0" indent="0">
              <a:buNone/>
            </a:pPr>
            <a:r>
              <a:rPr lang="en-US" sz="650" dirty="0">
                <a:solidFill>
                  <a:srgbClr val="60758B"/>
                </a:solidFill>
              </a:rPr>
              <a:t>R²</a:t>
            </a:r>
            <a:endParaRPr lang="en-US" sz="650" dirty="0"/>
          </a:p>
        </p:txBody>
      </p:sp>
      <p:sp>
        <p:nvSpPr>
          <p:cNvPr id="26" name="Shape 24"/>
          <p:cNvSpPr/>
          <p:nvPr/>
        </p:nvSpPr>
        <p:spPr>
          <a:xfrm>
            <a:off x="6217920" y="1143000"/>
            <a:ext cx="5074920" cy="1965960"/>
          </a:xfrm>
          <a:prstGeom prst="roundRect">
            <a:avLst>
              <a:gd name="adj" fmla="val 2791"/>
            </a:avLst>
          </a:prstGeom>
          <a:solidFill>
            <a:srgbClr val="FFFFFF"/>
          </a:solidFill>
          <a:ln w="8890">
            <a:solidFill>
              <a:srgbClr val="D8E4EE"/>
            </a:solidFill>
            <a:prstDash val="solid"/>
          </a:ln>
        </p:spPr>
      </p:sp>
      <p:sp>
        <p:nvSpPr>
          <p:cNvPr id="27" name="Text 25"/>
          <p:cNvSpPr/>
          <p:nvPr/>
        </p:nvSpPr>
        <p:spPr>
          <a:xfrm>
            <a:off x="6345936" y="1280160"/>
            <a:ext cx="48188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Interpretation</a:t>
            </a:r>
            <a:endParaRPr lang="en-US" sz="930" dirty="0"/>
          </a:p>
        </p:txBody>
      </p:sp>
      <p:sp>
        <p:nvSpPr>
          <p:cNvPr id="28" name="Text 26"/>
          <p:cNvSpPr/>
          <p:nvPr/>
        </p:nvSpPr>
        <p:spPr>
          <a:xfrm>
            <a:off x="6345936" y="1600200"/>
            <a:ext cx="4818888" cy="1399032"/>
          </a:xfrm>
          <a:prstGeom prst="rect">
            <a:avLst/>
          </a:prstGeom>
          <a:noFill/>
          <a:ln/>
        </p:spPr>
        <p:txBody>
          <a:bodyPr wrap="square" lIns="0" tIns="0" rIns="0" bIns="0" rtlCol="0" anchor="ctr">
            <a:normAutofit/>
          </a:bodyPr>
          <a:lstStyle/>
          <a:p>
            <a:pPr marL="0" indent="0">
              <a:buNone/>
            </a:pPr>
            <a:r>
              <a:rPr lang="en-US" sz="780" dirty="0">
                <a:solidFill>
                  <a:srgbClr val="60758B"/>
                </a:solidFill>
              </a:rPr>
              <a:t>• Best current five-target baseline: labSurfaceSoundnessAvg (RF R² = 0.7578).</a:t>
            </a:r>
            <a:endParaRPr lang="en-US" sz="780" dirty="0"/>
          </a:p>
          <a:p>
            <a:pPr marL="0" indent="0">
              <a:buNone/>
            </a:pPr>
            <a:r>
              <a:rPr lang="en-US" sz="780" dirty="0">
                <a:solidFill>
                  <a:srgbClr val="60758B"/>
                </a:solidFill>
              </a:rPr>
              <a:t>• Strong and consistent performers: labDensityAverage and labBendingAvg.</a:t>
            </a:r>
            <a:endParaRPr lang="en-US" sz="780" dirty="0"/>
          </a:p>
          <a:p>
            <a:pPr marL="0" indent="0">
              <a:buNone/>
            </a:pPr>
            <a:r>
              <a:rPr lang="en-US" sz="780" dirty="0">
                <a:solidFill>
                  <a:srgbClr val="60758B"/>
                </a:solidFill>
              </a:rPr>
              <a:t>• labTensileAvg is still respectable.</a:t>
            </a:r>
            <a:endParaRPr lang="en-US" sz="780" dirty="0"/>
          </a:p>
          <a:p>
            <a:pPr marL="0" indent="0">
              <a:buNone/>
            </a:pPr>
            <a:r>
              <a:rPr lang="en-US" sz="780" dirty="0">
                <a:solidFill>
                  <a:srgbClr val="60758B"/>
                </a:solidFill>
              </a:rPr>
              <a:t>• labEModulAvg is weakest and should be refined later.</a:t>
            </a:r>
            <a:endParaRPr lang="en-US" sz="780" dirty="0"/>
          </a:p>
        </p:txBody>
      </p:sp>
      <p:sp>
        <p:nvSpPr>
          <p:cNvPr id="29" name="Shape 27"/>
          <p:cNvSpPr/>
          <p:nvPr/>
        </p:nvSpPr>
        <p:spPr>
          <a:xfrm>
            <a:off x="6217920" y="1143000"/>
            <a:ext cx="36576" cy="1965960"/>
          </a:xfrm>
          <a:prstGeom prst="rect">
            <a:avLst/>
          </a:prstGeom>
          <a:solidFill>
            <a:srgbClr val="1E90F3"/>
          </a:solidFill>
          <a:ln w="12700">
            <a:solidFill>
              <a:srgbClr val="1E90F3"/>
            </a:solidFill>
            <a:prstDash val="solid"/>
          </a:ln>
        </p:spPr>
      </p:sp>
      <p:sp>
        <p:nvSpPr>
          <p:cNvPr id="30" name="Shape 28"/>
          <p:cNvSpPr/>
          <p:nvPr/>
        </p:nvSpPr>
        <p:spPr>
          <a:xfrm>
            <a:off x="6217920" y="3383280"/>
            <a:ext cx="5074920" cy="1051560"/>
          </a:xfrm>
          <a:prstGeom prst="roundRect">
            <a:avLst>
              <a:gd name="adj" fmla="val 5217"/>
            </a:avLst>
          </a:prstGeom>
          <a:solidFill>
            <a:srgbClr val="E9F4FF"/>
          </a:solidFill>
          <a:ln w="8890">
            <a:solidFill>
              <a:srgbClr val="D8E4EE"/>
            </a:solidFill>
            <a:prstDash val="solid"/>
          </a:ln>
        </p:spPr>
      </p:sp>
      <p:sp>
        <p:nvSpPr>
          <p:cNvPr id="31" name="Text 29"/>
          <p:cNvSpPr/>
          <p:nvPr/>
        </p:nvSpPr>
        <p:spPr>
          <a:xfrm>
            <a:off x="6345936" y="3520440"/>
            <a:ext cx="48188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Recommended deployment order</a:t>
            </a:r>
            <a:endParaRPr lang="en-US" sz="930" dirty="0"/>
          </a:p>
        </p:txBody>
      </p:sp>
      <p:sp>
        <p:nvSpPr>
          <p:cNvPr id="32" name="Text 30"/>
          <p:cNvSpPr/>
          <p:nvPr/>
        </p:nvSpPr>
        <p:spPr>
          <a:xfrm>
            <a:off x="6345936" y="3840480"/>
            <a:ext cx="4818888" cy="484632"/>
          </a:xfrm>
          <a:prstGeom prst="rect">
            <a:avLst/>
          </a:prstGeom>
          <a:noFill/>
          <a:ln/>
        </p:spPr>
        <p:txBody>
          <a:bodyPr wrap="square" lIns="0" tIns="0" rIns="0" bIns="0" rtlCol="0" anchor="ctr">
            <a:normAutofit/>
          </a:bodyPr>
          <a:lstStyle/>
          <a:p>
            <a:pPr marL="0" indent="0">
              <a:buNone/>
            </a:pPr>
            <a:r>
              <a:rPr lang="en-US" sz="780" dirty="0">
                <a:solidFill>
                  <a:srgbClr val="60758B"/>
                </a:solidFill>
              </a:rPr>
              <a:t>Phase 1  Surface soundness + Density</a:t>
            </a:r>
            <a:endParaRPr lang="en-US" sz="780" dirty="0"/>
          </a:p>
          <a:p>
            <a:pPr marL="0" indent="0">
              <a:buNone/>
            </a:pPr>
            <a:r>
              <a:rPr lang="en-US" sz="780" dirty="0">
                <a:solidFill>
                  <a:srgbClr val="60758B"/>
                </a:solidFill>
              </a:rPr>
              <a:t>Phase 2  Bending + Tensile</a:t>
            </a:r>
            <a:endParaRPr lang="en-US" sz="780" dirty="0"/>
          </a:p>
          <a:p>
            <a:pPr marL="0" indent="0">
              <a:buNone/>
            </a:pPr>
            <a:r>
              <a:rPr lang="en-US" sz="780" dirty="0">
                <a:solidFill>
                  <a:srgbClr val="60758B"/>
                </a:solidFill>
              </a:rPr>
              <a:t>Phase 3  E-Modul after more refinement</a:t>
            </a:r>
            <a:endParaRPr lang="en-US" sz="780" dirty="0"/>
          </a:p>
        </p:txBody>
      </p:sp>
      <p:sp>
        <p:nvSpPr>
          <p:cNvPr id="33" name="Shape 31"/>
          <p:cNvSpPr/>
          <p:nvPr/>
        </p:nvSpPr>
        <p:spPr>
          <a:xfrm>
            <a:off x="6217920" y="3383280"/>
            <a:ext cx="36576" cy="1051560"/>
          </a:xfrm>
          <a:prstGeom prst="rect">
            <a:avLst/>
          </a:prstGeom>
          <a:solidFill>
            <a:srgbClr val="16A05D"/>
          </a:solidFill>
          <a:ln w="12700">
            <a:solidFill>
              <a:srgbClr val="16A05D"/>
            </a:solidFill>
            <a:prstDash val="solid"/>
          </a:ln>
        </p:spPr>
      </p:sp>
      <p:sp>
        <p:nvSpPr>
          <p:cNvPr id="34" name="Shape 32"/>
          <p:cNvSpPr/>
          <p:nvPr/>
        </p:nvSpPr>
        <p:spPr>
          <a:xfrm>
            <a:off x="685800" y="5349240"/>
            <a:ext cx="10789920" cy="594360"/>
          </a:xfrm>
          <a:prstGeom prst="roundRect">
            <a:avLst>
              <a:gd name="adj" fmla="val 9231"/>
            </a:avLst>
          </a:prstGeom>
          <a:solidFill>
            <a:srgbClr val="FFFFFF"/>
          </a:solidFill>
          <a:ln w="8890">
            <a:solidFill>
              <a:srgbClr val="D8E4EE"/>
            </a:solidFill>
            <a:prstDash val="solid"/>
          </a:ln>
        </p:spPr>
      </p:sp>
      <p:sp>
        <p:nvSpPr>
          <p:cNvPr id="35" name="Text 33"/>
          <p:cNvSpPr/>
          <p:nvPr/>
        </p:nvSpPr>
        <p:spPr>
          <a:xfrm>
            <a:off x="813816" y="5449824"/>
            <a:ext cx="10533888" cy="118872"/>
          </a:xfrm>
          <a:prstGeom prst="rect">
            <a:avLst/>
          </a:prstGeom>
          <a:noFill/>
          <a:ln/>
        </p:spPr>
        <p:txBody>
          <a:bodyPr wrap="square" lIns="0" tIns="0" rIns="0" bIns="0" rtlCol="0" anchor="ctr">
            <a:normAutofit/>
          </a:bodyPr>
          <a:lstStyle/>
          <a:p>
            <a:pPr marL="0" indent="0">
              <a:buNone/>
            </a:pPr>
            <a:r>
              <a:rPr lang="en-US" sz="720" b="1" dirty="0">
                <a:solidFill>
                  <a:srgbClr val="0F2942"/>
                </a:solidFill>
              </a:rPr>
              <a:t>Stakeholder message</a:t>
            </a:r>
            <a:endParaRPr lang="en-US" sz="720" dirty="0"/>
          </a:p>
        </p:txBody>
      </p:sp>
      <p:sp>
        <p:nvSpPr>
          <p:cNvPr id="36" name="Text 34"/>
          <p:cNvSpPr/>
          <p:nvPr/>
        </p:nvSpPr>
        <p:spPr>
          <a:xfrm>
            <a:off x="813816" y="5632704"/>
            <a:ext cx="10533888" cy="201168"/>
          </a:xfrm>
          <a:prstGeom prst="rect">
            <a:avLst/>
          </a:prstGeom>
          <a:noFill/>
          <a:ln/>
        </p:spPr>
        <p:txBody>
          <a:bodyPr wrap="square" lIns="0" tIns="0" rIns="0" bIns="0" rtlCol="0" anchor="ctr">
            <a:normAutofit/>
          </a:bodyPr>
          <a:lstStyle/>
          <a:p>
            <a:pPr marL="0" indent="0">
              <a:buNone/>
            </a:pPr>
            <a:r>
              <a:rPr lang="en-US" sz="900" dirty="0">
                <a:solidFill>
                  <a:srgbClr val="60758B"/>
                </a:solidFill>
              </a:rPr>
              <a:t>MDF1 is not a one-model story. It is a portfolio of learnable quality targets, with density and surface soundness leading the deployment conversation.</a:t>
            </a:r>
            <a:endParaRPr lang="en-US" sz="900" dirty="0"/>
          </a:p>
        </p:txBody>
      </p:sp>
      <p:sp>
        <p:nvSpPr>
          <p:cNvPr id="37" name="Shape 35"/>
          <p:cNvSpPr/>
          <p:nvPr/>
        </p:nvSpPr>
        <p:spPr>
          <a:xfrm>
            <a:off x="685800" y="5349240"/>
            <a:ext cx="36576" cy="594360"/>
          </a:xfrm>
          <a:prstGeom prst="rect">
            <a:avLst/>
          </a:prstGeom>
          <a:solidFill>
            <a:srgbClr val="18B996"/>
          </a:solidFill>
          <a:ln w="12700">
            <a:solidFill>
              <a:srgbClr val="18B996"/>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Current served focus: density and bending</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These are the two targets already reflected in the reviewed PredictionService state and active artifact bundles.</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08</a:t>
            </a:r>
            <a:endParaRPr lang="en-US" sz="550" dirty="0"/>
          </a:p>
        </p:txBody>
      </p:sp>
      <p:sp>
        <p:nvSpPr>
          <p:cNvPr id="7" name="Text 5"/>
          <p:cNvSpPr/>
          <p:nvPr/>
        </p:nvSpPr>
        <p:spPr>
          <a:xfrm>
            <a:off x="960120" y="1143000"/>
            <a:ext cx="4206240" cy="164592"/>
          </a:xfrm>
          <a:prstGeom prst="rect">
            <a:avLst/>
          </a:prstGeom>
          <a:noFill/>
          <a:ln/>
        </p:spPr>
        <p:txBody>
          <a:bodyPr wrap="square" lIns="0" tIns="0" rIns="0" bIns="0" rtlCol="0" anchor="ctr"/>
          <a:lstStyle/>
          <a:p>
            <a:pPr marL="0" indent="0">
              <a:buNone/>
            </a:pPr>
            <a:r>
              <a:rPr lang="en-US" sz="900" b="1" dirty="0">
                <a:solidFill>
                  <a:srgbClr val="0F2942"/>
                </a:solidFill>
              </a:rPr>
              <a:t>Current served-target algorithm comparison</a:t>
            </a:r>
            <a:endParaRPr lang="en-US" sz="900" dirty="0"/>
          </a:p>
        </p:txBody>
      </p:sp>
      <p:sp>
        <p:nvSpPr>
          <p:cNvPr id="8" name="Shape 6"/>
          <p:cNvSpPr/>
          <p:nvPr/>
        </p:nvSpPr>
        <p:spPr>
          <a:xfrm>
            <a:off x="1097280" y="3055010"/>
            <a:ext cx="310896" cy="831190"/>
          </a:xfrm>
          <a:prstGeom prst="rect">
            <a:avLst/>
          </a:prstGeom>
          <a:solidFill>
            <a:srgbClr val="1E90F3"/>
          </a:solidFill>
          <a:ln w="12700">
            <a:solidFill>
              <a:srgbClr val="1E90F3"/>
            </a:solidFill>
            <a:prstDash val="solid"/>
          </a:ln>
        </p:spPr>
      </p:sp>
      <p:sp>
        <p:nvSpPr>
          <p:cNvPr id="9" name="Text 7"/>
          <p:cNvSpPr/>
          <p:nvPr/>
        </p:nvSpPr>
        <p:spPr>
          <a:xfrm>
            <a:off x="1051560" y="3959352"/>
            <a:ext cx="402336" cy="109728"/>
          </a:xfrm>
          <a:prstGeom prst="rect">
            <a:avLst/>
          </a:prstGeom>
          <a:noFill/>
          <a:ln/>
        </p:spPr>
        <p:txBody>
          <a:bodyPr wrap="square" lIns="0" tIns="0" rIns="0" bIns="0" rtlCol="0" anchor="ctr"/>
          <a:lstStyle/>
          <a:p>
            <a:pPr marL="0" indent="0" algn="ctr">
              <a:buNone/>
            </a:pPr>
            <a:r>
              <a:rPr lang="en-US" sz="630" dirty="0">
                <a:solidFill>
                  <a:srgbClr val="0F2942"/>
                </a:solidFill>
              </a:rPr>
              <a:t>RF</a:t>
            </a:r>
            <a:endParaRPr lang="en-US" sz="630" dirty="0"/>
          </a:p>
        </p:txBody>
      </p:sp>
      <p:sp>
        <p:nvSpPr>
          <p:cNvPr id="10" name="Shape 8"/>
          <p:cNvSpPr/>
          <p:nvPr/>
        </p:nvSpPr>
        <p:spPr>
          <a:xfrm>
            <a:off x="1600200" y="3096158"/>
            <a:ext cx="310896" cy="790042"/>
          </a:xfrm>
          <a:prstGeom prst="rect">
            <a:avLst/>
          </a:prstGeom>
          <a:solidFill>
            <a:srgbClr val="18B996"/>
          </a:solidFill>
          <a:ln w="12700">
            <a:solidFill>
              <a:srgbClr val="18B996"/>
            </a:solidFill>
            <a:prstDash val="solid"/>
          </a:ln>
        </p:spPr>
      </p:sp>
      <p:sp>
        <p:nvSpPr>
          <p:cNvPr id="11" name="Text 9"/>
          <p:cNvSpPr/>
          <p:nvPr/>
        </p:nvSpPr>
        <p:spPr>
          <a:xfrm>
            <a:off x="1554480" y="3959352"/>
            <a:ext cx="402336" cy="109728"/>
          </a:xfrm>
          <a:prstGeom prst="rect">
            <a:avLst/>
          </a:prstGeom>
          <a:noFill/>
          <a:ln/>
        </p:spPr>
        <p:txBody>
          <a:bodyPr wrap="square" lIns="0" tIns="0" rIns="0" bIns="0" rtlCol="0" anchor="ctr"/>
          <a:lstStyle/>
          <a:p>
            <a:pPr marL="0" indent="0" algn="ctr">
              <a:buNone/>
            </a:pPr>
            <a:r>
              <a:rPr lang="en-US" sz="630" dirty="0">
                <a:solidFill>
                  <a:srgbClr val="0F2942"/>
                </a:solidFill>
              </a:rPr>
              <a:t>XGB</a:t>
            </a:r>
            <a:endParaRPr lang="en-US" sz="630" dirty="0"/>
          </a:p>
        </p:txBody>
      </p:sp>
      <p:sp>
        <p:nvSpPr>
          <p:cNvPr id="12" name="Shape 10"/>
          <p:cNvSpPr/>
          <p:nvPr/>
        </p:nvSpPr>
        <p:spPr>
          <a:xfrm>
            <a:off x="2103120" y="3129077"/>
            <a:ext cx="310896" cy="757123"/>
          </a:xfrm>
          <a:prstGeom prst="rect">
            <a:avLst/>
          </a:prstGeom>
          <a:solidFill>
            <a:srgbClr val="F5A623"/>
          </a:solidFill>
          <a:ln w="12700">
            <a:solidFill>
              <a:srgbClr val="F5A623"/>
            </a:solidFill>
            <a:prstDash val="solid"/>
          </a:ln>
        </p:spPr>
      </p:sp>
      <p:sp>
        <p:nvSpPr>
          <p:cNvPr id="13" name="Text 11"/>
          <p:cNvSpPr/>
          <p:nvPr/>
        </p:nvSpPr>
        <p:spPr>
          <a:xfrm>
            <a:off x="2057400" y="3959352"/>
            <a:ext cx="402336" cy="109728"/>
          </a:xfrm>
          <a:prstGeom prst="rect">
            <a:avLst/>
          </a:prstGeom>
          <a:noFill/>
          <a:ln/>
        </p:spPr>
        <p:txBody>
          <a:bodyPr wrap="square" lIns="0" tIns="0" rIns="0" bIns="0" rtlCol="0" anchor="ctr"/>
          <a:lstStyle/>
          <a:p>
            <a:pPr marL="0" indent="0" algn="ctr">
              <a:buNone/>
            </a:pPr>
            <a:r>
              <a:rPr lang="en-US" sz="630" dirty="0">
                <a:solidFill>
                  <a:srgbClr val="0F2942"/>
                </a:solidFill>
              </a:rPr>
              <a:t>LGBM</a:t>
            </a:r>
            <a:endParaRPr lang="en-US" sz="630" dirty="0"/>
          </a:p>
        </p:txBody>
      </p:sp>
      <p:sp>
        <p:nvSpPr>
          <p:cNvPr id="14" name="Shape 12"/>
          <p:cNvSpPr/>
          <p:nvPr/>
        </p:nvSpPr>
        <p:spPr>
          <a:xfrm>
            <a:off x="3154680" y="3025384"/>
            <a:ext cx="310896" cy="860816"/>
          </a:xfrm>
          <a:prstGeom prst="rect">
            <a:avLst/>
          </a:prstGeom>
          <a:solidFill>
            <a:srgbClr val="1E90F3"/>
          </a:solidFill>
          <a:ln w="12700">
            <a:solidFill>
              <a:srgbClr val="1E90F3"/>
            </a:solidFill>
            <a:prstDash val="solid"/>
          </a:ln>
        </p:spPr>
      </p:sp>
      <p:sp>
        <p:nvSpPr>
          <p:cNvPr id="15" name="Text 13"/>
          <p:cNvSpPr/>
          <p:nvPr/>
        </p:nvSpPr>
        <p:spPr>
          <a:xfrm>
            <a:off x="3108960" y="3959352"/>
            <a:ext cx="402336" cy="109728"/>
          </a:xfrm>
          <a:prstGeom prst="rect">
            <a:avLst/>
          </a:prstGeom>
          <a:noFill/>
          <a:ln/>
        </p:spPr>
        <p:txBody>
          <a:bodyPr wrap="square" lIns="0" tIns="0" rIns="0" bIns="0" rtlCol="0" anchor="ctr"/>
          <a:lstStyle/>
          <a:p>
            <a:pPr marL="0" indent="0" algn="ctr">
              <a:buNone/>
            </a:pPr>
            <a:r>
              <a:rPr lang="en-US" sz="630" dirty="0">
                <a:solidFill>
                  <a:srgbClr val="0F2942"/>
                </a:solidFill>
              </a:rPr>
              <a:t>RF</a:t>
            </a:r>
            <a:endParaRPr lang="en-US" sz="630" dirty="0"/>
          </a:p>
        </p:txBody>
      </p:sp>
      <p:sp>
        <p:nvSpPr>
          <p:cNvPr id="16" name="Shape 14"/>
          <p:cNvSpPr/>
          <p:nvPr/>
        </p:nvSpPr>
        <p:spPr>
          <a:xfrm>
            <a:off x="3657600" y="3161995"/>
            <a:ext cx="310896" cy="724205"/>
          </a:xfrm>
          <a:prstGeom prst="rect">
            <a:avLst/>
          </a:prstGeom>
          <a:solidFill>
            <a:srgbClr val="18B996"/>
          </a:solidFill>
          <a:ln w="12700">
            <a:solidFill>
              <a:srgbClr val="18B996"/>
            </a:solidFill>
            <a:prstDash val="solid"/>
          </a:ln>
        </p:spPr>
      </p:sp>
      <p:sp>
        <p:nvSpPr>
          <p:cNvPr id="17" name="Text 15"/>
          <p:cNvSpPr/>
          <p:nvPr/>
        </p:nvSpPr>
        <p:spPr>
          <a:xfrm>
            <a:off x="3611880" y="3959352"/>
            <a:ext cx="402336" cy="109728"/>
          </a:xfrm>
          <a:prstGeom prst="rect">
            <a:avLst/>
          </a:prstGeom>
          <a:noFill/>
          <a:ln/>
        </p:spPr>
        <p:txBody>
          <a:bodyPr wrap="square" lIns="0" tIns="0" rIns="0" bIns="0" rtlCol="0" anchor="ctr"/>
          <a:lstStyle/>
          <a:p>
            <a:pPr marL="0" indent="0" algn="ctr">
              <a:buNone/>
            </a:pPr>
            <a:r>
              <a:rPr lang="en-US" sz="630" dirty="0">
                <a:solidFill>
                  <a:srgbClr val="0F2942"/>
                </a:solidFill>
              </a:rPr>
              <a:t>XGB</a:t>
            </a:r>
            <a:endParaRPr lang="en-US" sz="630" dirty="0"/>
          </a:p>
        </p:txBody>
      </p:sp>
      <p:sp>
        <p:nvSpPr>
          <p:cNvPr id="18" name="Shape 16"/>
          <p:cNvSpPr/>
          <p:nvPr/>
        </p:nvSpPr>
        <p:spPr>
          <a:xfrm>
            <a:off x="4160520" y="3359506"/>
            <a:ext cx="310896" cy="526694"/>
          </a:xfrm>
          <a:prstGeom prst="rect">
            <a:avLst/>
          </a:prstGeom>
          <a:solidFill>
            <a:srgbClr val="F5A623"/>
          </a:solidFill>
          <a:ln w="12700">
            <a:solidFill>
              <a:srgbClr val="F5A623"/>
            </a:solidFill>
            <a:prstDash val="solid"/>
          </a:ln>
        </p:spPr>
      </p:sp>
      <p:sp>
        <p:nvSpPr>
          <p:cNvPr id="19" name="Text 17"/>
          <p:cNvSpPr/>
          <p:nvPr/>
        </p:nvSpPr>
        <p:spPr>
          <a:xfrm>
            <a:off x="4114800" y="3959352"/>
            <a:ext cx="402336" cy="109728"/>
          </a:xfrm>
          <a:prstGeom prst="rect">
            <a:avLst/>
          </a:prstGeom>
          <a:noFill/>
          <a:ln/>
        </p:spPr>
        <p:txBody>
          <a:bodyPr wrap="square" lIns="0" tIns="0" rIns="0" bIns="0" rtlCol="0" anchor="ctr"/>
          <a:lstStyle/>
          <a:p>
            <a:pPr marL="0" indent="0" algn="ctr">
              <a:buNone/>
            </a:pPr>
            <a:r>
              <a:rPr lang="en-US" sz="630" dirty="0">
                <a:solidFill>
                  <a:srgbClr val="0F2942"/>
                </a:solidFill>
              </a:rPr>
              <a:t>LGBM</a:t>
            </a:r>
            <a:endParaRPr lang="en-US" sz="630" dirty="0"/>
          </a:p>
        </p:txBody>
      </p:sp>
      <p:sp>
        <p:nvSpPr>
          <p:cNvPr id="20" name="Text 18"/>
          <p:cNvSpPr/>
          <p:nvPr/>
        </p:nvSpPr>
        <p:spPr>
          <a:xfrm>
            <a:off x="1325880" y="4224528"/>
            <a:ext cx="1097280" cy="128016"/>
          </a:xfrm>
          <a:prstGeom prst="rect">
            <a:avLst/>
          </a:prstGeom>
          <a:noFill/>
          <a:ln/>
        </p:spPr>
        <p:txBody>
          <a:bodyPr wrap="square" lIns="0" tIns="0" rIns="0" bIns="0" rtlCol="0" anchor="ctr"/>
          <a:lstStyle/>
          <a:p>
            <a:pPr marL="0" indent="0" algn="ctr">
              <a:buNone/>
            </a:pPr>
            <a:r>
              <a:rPr lang="en-US" sz="700" b="1" dirty="0">
                <a:solidFill>
                  <a:srgbClr val="0F2942"/>
                </a:solidFill>
              </a:rPr>
              <a:t>Density</a:t>
            </a:r>
            <a:endParaRPr lang="en-US" sz="700" dirty="0"/>
          </a:p>
        </p:txBody>
      </p:sp>
      <p:sp>
        <p:nvSpPr>
          <p:cNvPr id="21" name="Text 19"/>
          <p:cNvSpPr/>
          <p:nvPr/>
        </p:nvSpPr>
        <p:spPr>
          <a:xfrm>
            <a:off x="3383280" y="4224528"/>
            <a:ext cx="1097280" cy="128016"/>
          </a:xfrm>
          <a:prstGeom prst="rect">
            <a:avLst/>
          </a:prstGeom>
          <a:noFill/>
          <a:ln/>
        </p:spPr>
        <p:txBody>
          <a:bodyPr wrap="square" lIns="0" tIns="0" rIns="0" bIns="0" rtlCol="0" anchor="ctr"/>
          <a:lstStyle/>
          <a:p>
            <a:pPr marL="0" indent="0" algn="ctr">
              <a:buNone/>
            </a:pPr>
            <a:r>
              <a:rPr lang="en-US" sz="700" b="1" dirty="0">
                <a:solidFill>
                  <a:srgbClr val="0F2942"/>
                </a:solidFill>
              </a:rPr>
              <a:t>Bending</a:t>
            </a:r>
            <a:endParaRPr lang="en-US" sz="700" dirty="0"/>
          </a:p>
        </p:txBody>
      </p:sp>
      <p:sp>
        <p:nvSpPr>
          <p:cNvPr id="22" name="Shape 20"/>
          <p:cNvSpPr/>
          <p:nvPr/>
        </p:nvSpPr>
        <p:spPr>
          <a:xfrm>
            <a:off x="5623560" y="1188720"/>
            <a:ext cx="2514600" cy="640080"/>
          </a:xfrm>
          <a:prstGeom prst="roundRect">
            <a:avLst>
              <a:gd name="adj" fmla="val 7143"/>
            </a:avLst>
          </a:prstGeom>
          <a:solidFill>
            <a:srgbClr val="FFFFFF"/>
          </a:solidFill>
          <a:ln w="8890">
            <a:solidFill>
              <a:srgbClr val="CADBE9"/>
            </a:solidFill>
            <a:prstDash val="solid"/>
          </a:ln>
        </p:spPr>
      </p:sp>
      <p:sp>
        <p:nvSpPr>
          <p:cNvPr id="23" name="Text 21"/>
          <p:cNvSpPr/>
          <p:nvPr/>
        </p:nvSpPr>
        <p:spPr>
          <a:xfrm>
            <a:off x="5696712" y="1261872"/>
            <a:ext cx="236829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labDensityAverage</a:t>
            </a:r>
            <a:endParaRPr lang="en-US" sz="620" dirty="0"/>
          </a:p>
        </p:txBody>
      </p:sp>
      <p:sp>
        <p:nvSpPr>
          <p:cNvPr id="24" name="Text 22"/>
          <p:cNvSpPr/>
          <p:nvPr/>
        </p:nvSpPr>
        <p:spPr>
          <a:xfrm>
            <a:off x="5696712" y="1453896"/>
            <a:ext cx="236829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R² 0.6905</a:t>
            </a:r>
            <a:endParaRPr lang="en-US" sz="1400" dirty="0"/>
          </a:p>
        </p:txBody>
      </p:sp>
      <p:sp>
        <p:nvSpPr>
          <p:cNvPr id="25" name="Text 23"/>
          <p:cNvSpPr/>
          <p:nvPr/>
        </p:nvSpPr>
        <p:spPr>
          <a:xfrm>
            <a:off x="5696712" y="1691640"/>
            <a:ext cx="236829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labDensityAverage_rf_v1</a:t>
            </a:r>
            <a:endParaRPr lang="en-US" sz="580" dirty="0"/>
          </a:p>
        </p:txBody>
      </p:sp>
      <p:sp>
        <p:nvSpPr>
          <p:cNvPr id="26" name="Shape 24"/>
          <p:cNvSpPr/>
          <p:nvPr/>
        </p:nvSpPr>
        <p:spPr>
          <a:xfrm>
            <a:off x="8641080" y="1188720"/>
            <a:ext cx="2514600" cy="640080"/>
          </a:xfrm>
          <a:prstGeom prst="roundRect">
            <a:avLst>
              <a:gd name="adj" fmla="val 7143"/>
            </a:avLst>
          </a:prstGeom>
          <a:solidFill>
            <a:srgbClr val="FFFFFF"/>
          </a:solidFill>
          <a:ln w="8890">
            <a:solidFill>
              <a:srgbClr val="CADBE9"/>
            </a:solidFill>
            <a:prstDash val="solid"/>
          </a:ln>
        </p:spPr>
      </p:sp>
      <p:sp>
        <p:nvSpPr>
          <p:cNvPr id="27" name="Text 25"/>
          <p:cNvSpPr/>
          <p:nvPr/>
        </p:nvSpPr>
        <p:spPr>
          <a:xfrm>
            <a:off x="8714232" y="1261872"/>
            <a:ext cx="236829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labBendingAvg</a:t>
            </a:r>
            <a:endParaRPr lang="en-US" sz="620" dirty="0"/>
          </a:p>
        </p:txBody>
      </p:sp>
      <p:sp>
        <p:nvSpPr>
          <p:cNvPr id="28" name="Text 26"/>
          <p:cNvSpPr/>
          <p:nvPr/>
        </p:nvSpPr>
        <p:spPr>
          <a:xfrm>
            <a:off x="8714232" y="1453896"/>
            <a:ext cx="236829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R² 0.6923</a:t>
            </a:r>
            <a:endParaRPr lang="en-US" sz="1400" dirty="0"/>
          </a:p>
        </p:txBody>
      </p:sp>
      <p:sp>
        <p:nvSpPr>
          <p:cNvPr id="29" name="Text 27"/>
          <p:cNvSpPr/>
          <p:nvPr/>
        </p:nvSpPr>
        <p:spPr>
          <a:xfrm>
            <a:off x="8714232" y="1691640"/>
            <a:ext cx="236829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labBendingAvg_rf_v1</a:t>
            </a:r>
            <a:endParaRPr lang="en-US" sz="580" dirty="0"/>
          </a:p>
        </p:txBody>
      </p:sp>
      <p:sp>
        <p:nvSpPr>
          <p:cNvPr id="30" name="Shape 28"/>
          <p:cNvSpPr/>
          <p:nvPr/>
        </p:nvSpPr>
        <p:spPr>
          <a:xfrm>
            <a:off x="5623560" y="2331720"/>
            <a:ext cx="5532120" cy="914400"/>
          </a:xfrm>
          <a:prstGeom prst="roundRect">
            <a:avLst>
              <a:gd name="adj" fmla="val 6000"/>
            </a:avLst>
          </a:prstGeom>
          <a:solidFill>
            <a:srgbClr val="FFFFFF"/>
          </a:solidFill>
          <a:ln w="8890">
            <a:solidFill>
              <a:srgbClr val="D8E4EE"/>
            </a:solidFill>
            <a:prstDash val="solid"/>
          </a:ln>
        </p:spPr>
      </p:sp>
      <p:sp>
        <p:nvSpPr>
          <p:cNvPr id="31" name="Text 29"/>
          <p:cNvSpPr/>
          <p:nvPr/>
        </p:nvSpPr>
        <p:spPr>
          <a:xfrm>
            <a:off x="5751576" y="2468880"/>
            <a:ext cx="52760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Density signal story</a:t>
            </a:r>
            <a:endParaRPr lang="en-US" sz="930" dirty="0"/>
          </a:p>
        </p:txBody>
      </p:sp>
      <p:sp>
        <p:nvSpPr>
          <p:cNvPr id="32" name="Text 30"/>
          <p:cNvSpPr/>
          <p:nvPr/>
        </p:nvSpPr>
        <p:spPr>
          <a:xfrm>
            <a:off x="5751576" y="2788920"/>
            <a:ext cx="5276088" cy="347472"/>
          </a:xfrm>
          <a:prstGeom prst="rect">
            <a:avLst/>
          </a:prstGeom>
          <a:noFill/>
          <a:ln/>
        </p:spPr>
        <p:txBody>
          <a:bodyPr wrap="square" lIns="0" tIns="0" rIns="0" bIns="0" rtlCol="0" anchor="ctr">
            <a:normAutofit/>
          </a:bodyPr>
          <a:lstStyle/>
          <a:p>
            <a:pPr marL="0" indent="0">
              <a:buNone/>
            </a:pPr>
            <a:r>
              <a:rPr lang="en-US" sz="780" dirty="0">
                <a:solidFill>
                  <a:srgbClr val="60758B"/>
                </a:solidFill>
              </a:rPr>
              <a:t>Top drivers repeatedly point to board geometry plus aggregated press-pressure behavior: rawThickness, pressPressureGlobal_mean, pressPressureC_mean.</a:t>
            </a:r>
            <a:endParaRPr lang="en-US" sz="780" dirty="0"/>
          </a:p>
        </p:txBody>
      </p:sp>
      <p:sp>
        <p:nvSpPr>
          <p:cNvPr id="33" name="Shape 31"/>
          <p:cNvSpPr/>
          <p:nvPr/>
        </p:nvSpPr>
        <p:spPr>
          <a:xfrm>
            <a:off x="5623560" y="2331720"/>
            <a:ext cx="36576" cy="914400"/>
          </a:xfrm>
          <a:prstGeom prst="rect">
            <a:avLst/>
          </a:prstGeom>
          <a:solidFill>
            <a:srgbClr val="1E90F3"/>
          </a:solidFill>
          <a:ln w="12700">
            <a:solidFill>
              <a:srgbClr val="1E90F3"/>
            </a:solidFill>
            <a:prstDash val="solid"/>
          </a:ln>
        </p:spPr>
      </p:sp>
      <p:sp>
        <p:nvSpPr>
          <p:cNvPr id="34" name="Shape 32"/>
          <p:cNvSpPr/>
          <p:nvPr/>
        </p:nvSpPr>
        <p:spPr>
          <a:xfrm>
            <a:off x="5623560" y="3520440"/>
            <a:ext cx="5532120" cy="914400"/>
          </a:xfrm>
          <a:prstGeom prst="roundRect">
            <a:avLst>
              <a:gd name="adj" fmla="val 6000"/>
            </a:avLst>
          </a:prstGeom>
          <a:solidFill>
            <a:srgbClr val="FFFFFF"/>
          </a:solidFill>
          <a:ln w="8890">
            <a:solidFill>
              <a:srgbClr val="D8E4EE"/>
            </a:solidFill>
            <a:prstDash val="solid"/>
          </a:ln>
        </p:spPr>
      </p:sp>
      <p:sp>
        <p:nvSpPr>
          <p:cNvPr id="35" name="Text 33"/>
          <p:cNvSpPr/>
          <p:nvPr/>
        </p:nvSpPr>
        <p:spPr>
          <a:xfrm>
            <a:off x="5751576" y="3657600"/>
            <a:ext cx="52760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Bending signal story</a:t>
            </a:r>
            <a:endParaRPr lang="en-US" sz="930" dirty="0"/>
          </a:p>
        </p:txBody>
      </p:sp>
      <p:sp>
        <p:nvSpPr>
          <p:cNvPr id="36" name="Text 34"/>
          <p:cNvSpPr/>
          <p:nvPr/>
        </p:nvSpPr>
        <p:spPr>
          <a:xfrm>
            <a:off x="5751576" y="3977640"/>
            <a:ext cx="5276088" cy="347472"/>
          </a:xfrm>
          <a:prstGeom prst="rect">
            <a:avLst/>
          </a:prstGeom>
          <a:noFill/>
          <a:ln/>
        </p:spPr>
        <p:txBody>
          <a:bodyPr wrap="square" lIns="0" tIns="0" rIns="0" bIns="0" rtlCol="0" anchor="ctr">
            <a:normAutofit/>
          </a:bodyPr>
          <a:lstStyle/>
          <a:p>
            <a:pPr marL="0" indent="0">
              <a:buNone/>
            </a:pPr>
            <a:r>
              <a:rPr lang="en-US" sz="780" dirty="0">
                <a:solidFill>
                  <a:srgbClr val="60758B"/>
                </a:solidFill>
              </a:rPr>
              <a:t>Bending performance is strongly linked to thickness stability and mid-press conditions: rawThickness, thicknessClosed_mean, pressPressureMid_mean.</a:t>
            </a:r>
            <a:endParaRPr lang="en-US" sz="780" dirty="0"/>
          </a:p>
        </p:txBody>
      </p:sp>
      <p:sp>
        <p:nvSpPr>
          <p:cNvPr id="37" name="Shape 35"/>
          <p:cNvSpPr/>
          <p:nvPr/>
        </p:nvSpPr>
        <p:spPr>
          <a:xfrm>
            <a:off x="5623560" y="3520440"/>
            <a:ext cx="36576" cy="914400"/>
          </a:xfrm>
          <a:prstGeom prst="rect">
            <a:avLst/>
          </a:prstGeom>
          <a:solidFill>
            <a:srgbClr val="18B996"/>
          </a:solidFill>
          <a:ln w="12700">
            <a:solidFill>
              <a:srgbClr val="18B996"/>
            </a:solidFill>
            <a:prstDash val="solid"/>
          </a:ln>
        </p:spPr>
      </p:sp>
      <p:sp>
        <p:nvSpPr>
          <p:cNvPr id="38" name="Shape 36"/>
          <p:cNvSpPr/>
          <p:nvPr/>
        </p:nvSpPr>
        <p:spPr>
          <a:xfrm>
            <a:off x="685800" y="5074920"/>
            <a:ext cx="10789920" cy="685800"/>
          </a:xfrm>
          <a:prstGeom prst="roundRect">
            <a:avLst>
              <a:gd name="adj" fmla="val 8000"/>
            </a:avLst>
          </a:prstGeom>
          <a:solidFill>
            <a:srgbClr val="E9F8F2"/>
          </a:solidFill>
          <a:ln w="8890">
            <a:solidFill>
              <a:srgbClr val="CFEBDD"/>
            </a:solidFill>
            <a:prstDash val="solid"/>
          </a:ln>
        </p:spPr>
      </p:sp>
      <p:sp>
        <p:nvSpPr>
          <p:cNvPr id="39" name="Text 37"/>
          <p:cNvSpPr/>
          <p:nvPr/>
        </p:nvSpPr>
        <p:spPr>
          <a:xfrm>
            <a:off x="813816" y="5175504"/>
            <a:ext cx="10533888" cy="118872"/>
          </a:xfrm>
          <a:prstGeom prst="rect">
            <a:avLst/>
          </a:prstGeom>
          <a:noFill/>
          <a:ln/>
        </p:spPr>
        <p:txBody>
          <a:bodyPr wrap="square" lIns="0" tIns="0" rIns="0" bIns="0" rtlCol="0" anchor="ctr">
            <a:noAutofit/>
          </a:bodyPr>
          <a:lstStyle/>
          <a:p>
            <a:pPr marL="0" indent="0">
              <a:buNone/>
            </a:pPr>
            <a:r>
              <a:rPr lang="en-US" sz="1000" b="1" dirty="0">
                <a:solidFill>
                  <a:srgbClr val="0F2942"/>
                </a:solidFill>
              </a:rPr>
              <a:t>Decision point</a:t>
            </a:r>
            <a:endParaRPr lang="en-US" sz="1000" dirty="0"/>
          </a:p>
        </p:txBody>
      </p:sp>
      <p:sp>
        <p:nvSpPr>
          <p:cNvPr id="40" name="Text 38"/>
          <p:cNvSpPr/>
          <p:nvPr/>
        </p:nvSpPr>
        <p:spPr>
          <a:xfrm>
            <a:off x="813816" y="5358384"/>
            <a:ext cx="10533888" cy="292608"/>
          </a:xfrm>
          <a:prstGeom prst="rect">
            <a:avLst/>
          </a:prstGeom>
          <a:noFill/>
          <a:ln/>
        </p:spPr>
        <p:txBody>
          <a:bodyPr wrap="square" lIns="0" tIns="0" rIns="0" bIns="0" rtlCol="0" anchor="ctr">
            <a:normAutofit/>
          </a:bodyPr>
          <a:lstStyle/>
          <a:p>
            <a:pPr marL="0" indent="0">
              <a:buNone/>
            </a:pPr>
            <a:r>
              <a:rPr lang="en-US" sz="900" dirty="0">
                <a:solidFill>
                  <a:srgbClr val="60758B"/>
                </a:solidFill>
              </a:rPr>
              <a:t>RF still edges out XGB and LGBM for both currently served targets, so it remains the strongest practical default for live bundles reviewed here</a:t>
            </a:r>
            <a:r>
              <a:rPr lang="en-US" sz="610" dirty="0">
                <a:solidFill>
                  <a:srgbClr val="60758B"/>
                </a:solidFill>
              </a:rPr>
              <a:t>.</a:t>
            </a:r>
            <a:endParaRPr lang="en-US" sz="610" dirty="0"/>
          </a:p>
        </p:txBody>
      </p:sp>
      <p:sp>
        <p:nvSpPr>
          <p:cNvPr id="41" name="Shape 39"/>
          <p:cNvSpPr/>
          <p:nvPr/>
        </p:nvSpPr>
        <p:spPr>
          <a:xfrm>
            <a:off x="685800" y="5074920"/>
            <a:ext cx="36576" cy="685800"/>
          </a:xfrm>
          <a:prstGeom prst="rect">
            <a:avLst/>
          </a:prstGeom>
          <a:solidFill>
            <a:srgbClr val="16A05D"/>
          </a:solidFill>
          <a:ln w="12700">
            <a:solidFill>
              <a:srgbClr val="16A05D"/>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Updated system architecture: three services plus governed artifacts</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latest update adds the human-facing GUI layer and prepares the system for prediction logging.</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09</a:t>
            </a:r>
            <a:endParaRPr lang="en-US" sz="550" dirty="0"/>
          </a:p>
        </p:txBody>
      </p:sp>
      <p:sp>
        <p:nvSpPr>
          <p:cNvPr id="7" name="Shape 5"/>
          <p:cNvSpPr/>
          <p:nvPr/>
        </p:nvSpPr>
        <p:spPr>
          <a:xfrm>
            <a:off x="2011680" y="2770632"/>
            <a:ext cx="411480" cy="0"/>
          </a:xfrm>
          <a:prstGeom prst="line">
            <a:avLst/>
          </a:prstGeom>
          <a:noFill/>
          <a:ln w="13970">
            <a:solidFill>
              <a:srgbClr val="AFC4D7"/>
            </a:solidFill>
            <a:prstDash val="solid"/>
            <a:headEnd type="none"/>
            <a:tailEnd type="triangle"/>
          </a:ln>
        </p:spPr>
      </p:sp>
      <p:sp>
        <p:nvSpPr>
          <p:cNvPr id="8" name="Shape 6"/>
          <p:cNvSpPr/>
          <p:nvPr/>
        </p:nvSpPr>
        <p:spPr>
          <a:xfrm>
            <a:off x="3931920" y="2770632"/>
            <a:ext cx="621792" cy="0"/>
          </a:xfrm>
          <a:prstGeom prst="line">
            <a:avLst/>
          </a:prstGeom>
          <a:noFill/>
          <a:ln w="13970">
            <a:solidFill>
              <a:srgbClr val="AFC4D7"/>
            </a:solidFill>
            <a:prstDash val="solid"/>
            <a:headEnd type="none"/>
            <a:tailEnd type="triangle"/>
          </a:ln>
        </p:spPr>
      </p:sp>
      <p:sp>
        <p:nvSpPr>
          <p:cNvPr id="9" name="Shape 7"/>
          <p:cNvSpPr/>
          <p:nvPr/>
        </p:nvSpPr>
        <p:spPr>
          <a:xfrm>
            <a:off x="6062472" y="2770632"/>
            <a:ext cx="630936" cy="0"/>
          </a:xfrm>
          <a:prstGeom prst="line">
            <a:avLst/>
          </a:prstGeom>
          <a:noFill/>
          <a:ln w="13970">
            <a:solidFill>
              <a:srgbClr val="AFC4D7"/>
            </a:solidFill>
            <a:prstDash val="solid"/>
            <a:headEnd type="none"/>
            <a:tailEnd type="triangle"/>
          </a:ln>
        </p:spPr>
      </p:sp>
      <p:sp>
        <p:nvSpPr>
          <p:cNvPr id="10" name="Shape 8"/>
          <p:cNvSpPr/>
          <p:nvPr/>
        </p:nvSpPr>
        <p:spPr>
          <a:xfrm>
            <a:off x="8202168" y="2770632"/>
            <a:ext cx="621792" cy="0"/>
          </a:xfrm>
          <a:prstGeom prst="line">
            <a:avLst/>
          </a:prstGeom>
          <a:noFill/>
          <a:ln w="13970">
            <a:solidFill>
              <a:srgbClr val="AFC4D7"/>
            </a:solidFill>
            <a:prstDash val="solid"/>
            <a:headEnd type="none"/>
            <a:tailEnd type="triangle"/>
          </a:ln>
        </p:spPr>
      </p:sp>
      <p:sp>
        <p:nvSpPr>
          <p:cNvPr id="11" name="Shape 9"/>
          <p:cNvSpPr/>
          <p:nvPr/>
        </p:nvSpPr>
        <p:spPr>
          <a:xfrm>
            <a:off x="10332720" y="2770632"/>
            <a:ext cx="0" cy="0"/>
          </a:xfrm>
          <a:prstGeom prst="line">
            <a:avLst/>
          </a:prstGeom>
          <a:noFill/>
          <a:ln w="13970">
            <a:solidFill>
              <a:srgbClr val="AFC4D7"/>
            </a:solidFill>
            <a:prstDash val="solid"/>
            <a:headEnd type="none"/>
            <a:tailEnd type="triangle"/>
          </a:ln>
        </p:spPr>
      </p:sp>
      <p:sp>
        <p:nvSpPr>
          <p:cNvPr id="12" name="Shape 10"/>
          <p:cNvSpPr/>
          <p:nvPr/>
        </p:nvSpPr>
        <p:spPr>
          <a:xfrm>
            <a:off x="594360" y="2377440"/>
            <a:ext cx="1463040" cy="960120"/>
          </a:xfrm>
          <a:prstGeom prst="roundRect">
            <a:avLst>
              <a:gd name="adj" fmla="val 6667"/>
            </a:avLst>
          </a:prstGeom>
          <a:solidFill>
            <a:srgbClr val="E9F4FF"/>
          </a:solidFill>
          <a:ln w="8890">
            <a:solidFill>
              <a:srgbClr val="C9D8E6"/>
            </a:solidFill>
            <a:prstDash val="solid"/>
          </a:ln>
        </p:spPr>
      </p:sp>
      <p:sp>
        <p:nvSpPr>
          <p:cNvPr id="13" name="Text 11"/>
          <p:cNvSpPr/>
          <p:nvPr/>
        </p:nvSpPr>
        <p:spPr>
          <a:xfrm>
            <a:off x="704088" y="2487168"/>
            <a:ext cx="12435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KSoft / MDF1 data</a:t>
            </a:r>
            <a:endParaRPr lang="en-US" sz="840" dirty="0"/>
          </a:p>
        </p:txBody>
      </p:sp>
      <p:sp>
        <p:nvSpPr>
          <p:cNvPr id="14" name="Text 12"/>
          <p:cNvSpPr/>
          <p:nvPr/>
        </p:nvSpPr>
        <p:spPr>
          <a:xfrm>
            <a:off x="704088" y="2816352"/>
            <a:ext cx="1243584" cy="411480"/>
          </a:xfrm>
          <a:prstGeom prst="rect">
            <a:avLst/>
          </a:prstGeom>
          <a:noFill/>
          <a:ln/>
        </p:spPr>
        <p:txBody>
          <a:bodyPr wrap="square" lIns="0" tIns="0" rIns="0" bIns="0" rtlCol="0" anchor="ctr">
            <a:normAutofit/>
          </a:bodyPr>
          <a:lstStyle/>
          <a:p>
            <a:pPr marL="0" indent="0">
              <a:buNone/>
            </a:pPr>
            <a:r>
              <a:rPr lang="en-US" sz="650" dirty="0">
                <a:solidFill>
                  <a:srgbClr val="60758B"/>
                </a:solidFill>
              </a:rPr>
              <a:t>raw production signals + lab targets</a:t>
            </a:r>
            <a:endParaRPr lang="en-US" sz="650" dirty="0"/>
          </a:p>
        </p:txBody>
      </p:sp>
      <p:sp>
        <p:nvSpPr>
          <p:cNvPr id="15" name="Shape 13"/>
          <p:cNvSpPr/>
          <p:nvPr/>
        </p:nvSpPr>
        <p:spPr>
          <a:xfrm>
            <a:off x="594360" y="3291840"/>
            <a:ext cx="1463040" cy="45720"/>
          </a:xfrm>
          <a:prstGeom prst="rect">
            <a:avLst/>
          </a:prstGeom>
          <a:solidFill>
            <a:srgbClr val="1E90F3"/>
          </a:solidFill>
          <a:ln w="12700">
            <a:solidFill>
              <a:srgbClr val="1E90F3"/>
            </a:solidFill>
            <a:prstDash val="solid"/>
          </a:ln>
        </p:spPr>
      </p:sp>
      <p:sp>
        <p:nvSpPr>
          <p:cNvPr id="16" name="Shape 14"/>
          <p:cNvSpPr/>
          <p:nvPr/>
        </p:nvSpPr>
        <p:spPr>
          <a:xfrm>
            <a:off x="2514600" y="2377440"/>
            <a:ext cx="1463040" cy="960120"/>
          </a:xfrm>
          <a:prstGeom prst="roundRect">
            <a:avLst>
              <a:gd name="adj" fmla="val 6667"/>
            </a:avLst>
          </a:prstGeom>
          <a:solidFill>
            <a:srgbClr val="E9F8F2"/>
          </a:solidFill>
          <a:ln w="8890">
            <a:solidFill>
              <a:srgbClr val="C9D8E6"/>
            </a:solidFill>
            <a:prstDash val="solid"/>
          </a:ln>
        </p:spPr>
      </p:sp>
      <p:sp>
        <p:nvSpPr>
          <p:cNvPr id="17" name="Text 15"/>
          <p:cNvSpPr/>
          <p:nvPr/>
        </p:nvSpPr>
        <p:spPr>
          <a:xfrm>
            <a:off x="2624328" y="2487168"/>
            <a:ext cx="12435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TrainingService</a:t>
            </a:r>
            <a:endParaRPr lang="en-US" sz="840" dirty="0"/>
          </a:p>
        </p:txBody>
      </p:sp>
      <p:sp>
        <p:nvSpPr>
          <p:cNvPr id="18" name="Text 16"/>
          <p:cNvSpPr/>
          <p:nvPr/>
        </p:nvSpPr>
        <p:spPr>
          <a:xfrm>
            <a:off x="2624328" y="2816352"/>
            <a:ext cx="1243584" cy="411480"/>
          </a:xfrm>
          <a:prstGeom prst="rect">
            <a:avLst/>
          </a:prstGeom>
          <a:noFill/>
          <a:ln/>
        </p:spPr>
        <p:txBody>
          <a:bodyPr wrap="square" lIns="0" tIns="0" rIns="0" bIns="0" rtlCol="0" anchor="ctr">
            <a:normAutofit/>
          </a:bodyPr>
          <a:lstStyle/>
          <a:p>
            <a:pPr marL="0" indent="0">
              <a:buNone/>
            </a:pPr>
            <a:r>
              <a:rPr lang="en-US" sz="650" dirty="0">
                <a:solidFill>
                  <a:srgbClr val="60758B"/>
                </a:solidFill>
              </a:rPr>
              <a:t>validation, cleaning, engineered features, time split, model training</a:t>
            </a:r>
            <a:endParaRPr lang="en-US" sz="650" dirty="0"/>
          </a:p>
        </p:txBody>
      </p:sp>
      <p:sp>
        <p:nvSpPr>
          <p:cNvPr id="19" name="Shape 17"/>
          <p:cNvSpPr/>
          <p:nvPr/>
        </p:nvSpPr>
        <p:spPr>
          <a:xfrm>
            <a:off x="2514600" y="3291840"/>
            <a:ext cx="1463040" cy="45720"/>
          </a:xfrm>
          <a:prstGeom prst="rect">
            <a:avLst/>
          </a:prstGeom>
          <a:solidFill>
            <a:srgbClr val="16A05D"/>
          </a:solidFill>
          <a:ln w="12700">
            <a:solidFill>
              <a:srgbClr val="16A05D"/>
            </a:solidFill>
            <a:prstDash val="solid"/>
          </a:ln>
        </p:spPr>
      </p:sp>
      <p:sp>
        <p:nvSpPr>
          <p:cNvPr id="20" name="Shape 18"/>
          <p:cNvSpPr/>
          <p:nvPr/>
        </p:nvSpPr>
        <p:spPr>
          <a:xfrm>
            <a:off x="4645152" y="2377440"/>
            <a:ext cx="1463040" cy="960120"/>
          </a:xfrm>
          <a:prstGeom prst="roundRect">
            <a:avLst>
              <a:gd name="adj" fmla="val 6667"/>
            </a:avLst>
          </a:prstGeom>
          <a:solidFill>
            <a:srgbClr val="FFFFFF"/>
          </a:solidFill>
          <a:ln w="8890">
            <a:solidFill>
              <a:srgbClr val="C9D8E6"/>
            </a:solidFill>
            <a:prstDash val="solid"/>
          </a:ln>
        </p:spPr>
      </p:sp>
      <p:sp>
        <p:nvSpPr>
          <p:cNvPr id="21" name="Text 19"/>
          <p:cNvSpPr/>
          <p:nvPr/>
        </p:nvSpPr>
        <p:spPr>
          <a:xfrm>
            <a:off x="4754880" y="2487168"/>
            <a:ext cx="12435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Artifact bundles</a:t>
            </a:r>
            <a:endParaRPr lang="en-US" sz="840" dirty="0"/>
          </a:p>
        </p:txBody>
      </p:sp>
      <p:sp>
        <p:nvSpPr>
          <p:cNvPr id="22" name="Text 20"/>
          <p:cNvSpPr/>
          <p:nvPr/>
        </p:nvSpPr>
        <p:spPr>
          <a:xfrm>
            <a:off x="4754880" y="2816352"/>
            <a:ext cx="1243584" cy="411480"/>
          </a:xfrm>
          <a:prstGeom prst="rect">
            <a:avLst/>
          </a:prstGeom>
          <a:noFill/>
          <a:ln/>
        </p:spPr>
        <p:txBody>
          <a:bodyPr wrap="square" lIns="0" tIns="0" rIns="0" bIns="0" rtlCol="0" anchor="ctr">
            <a:normAutofit/>
          </a:bodyPr>
          <a:lstStyle/>
          <a:p>
            <a:pPr marL="0" indent="0">
              <a:buNone/>
            </a:pPr>
            <a:r>
              <a:rPr lang="en-US" sz="650" dirty="0">
                <a:solidFill>
                  <a:srgbClr val="60758B"/>
                </a:solidFill>
              </a:rPr>
              <a:t>model.joblib, features.json, metrics.json, metadata.json</a:t>
            </a:r>
            <a:endParaRPr lang="en-US" sz="650" dirty="0"/>
          </a:p>
        </p:txBody>
      </p:sp>
      <p:sp>
        <p:nvSpPr>
          <p:cNvPr id="23" name="Shape 21"/>
          <p:cNvSpPr/>
          <p:nvPr/>
        </p:nvSpPr>
        <p:spPr>
          <a:xfrm>
            <a:off x="4645152" y="3291840"/>
            <a:ext cx="1463040" cy="45720"/>
          </a:xfrm>
          <a:prstGeom prst="rect">
            <a:avLst/>
          </a:prstGeom>
          <a:solidFill>
            <a:srgbClr val="18B996"/>
          </a:solidFill>
          <a:ln w="12700">
            <a:solidFill>
              <a:srgbClr val="18B996"/>
            </a:solidFill>
            <a:prstDash val="solid"/>
          </a:ln>
        </p:spPr>
      </p:sp>
      <p:sp>
        <p:nvSpPr>
          <p:cNvPr id="24" name="Shape 22"/>
          <p:cNvSpPr/>
          <p:nvPr/>
        </p:nvSpPr>
        <p:spPr>
          <a:xfrm>
            <a:off x="6784848" y="2377440"/>
            <a:ext cx="1463040" cy="960120"/>
          </a:xfrm>
          <a:prstGeom prst="roundRect">
            <a:avLst>
              <a:gd name="adj" fmla="val 6667"/>
            </a:avLst>
          </a:prstGeom>
          <a:solidFill>
            <a:srgbClr val="E9F4FF"/>
          </a:solidFill>
          <a:ln w="8890">
            <a:solidFill>
              <a:srgbClr val="C9D8E6"/>
            </a:solidFill>
            <a:prstDash val="solid"/>
          </a:ln>
        </p:spPr>
      </p:sp>
      <p:sp>
        <p:nvSpPr>
          <p:cNvPr id="25" name="Text 23"/>
          <p:cNvSpPr/>
          <p:nvPr/>
        </p:nvSpPr>
        <p:spPr>
          <a:xfrm>
            <a:off x="6894576" y="2487168"/>
            <a:ext cx="12435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PredictionService</a:t>
            </a:r>
            <a:endParaRPr lang="en-US" sz="840" dirty="0"/>
          </a:p>
        </p:txBody>
      </p:sp>
      <p:sp>
        <p:nvSpPr>
          <p:cNvPr id="26" name="Text 24"/>
          <p:cNvSpPr/>
          <p:nvPr/>
        </p:nvSpPr>
        <p:spPr>
          <a:xfrm>
            <a:off x="6894576" y="2816352"/>
            <a:ext cx="1243584" cy="411480"/>
          </a:xfrm>
          <a:prstGeom prst="rect">
            <a:avLst/>
          </a:prstGeom>
          <a:noFill/>
          <a:ln/>
        </p:spPr>
        <p:txBody>
          <a:bodyPr wrap="square" lIns="0" tIns="0" rIns="0" bIns="0" rtlCol="0" anchor="ctr">
            <a:normAutofit/>
          </a:bodyPr>
          <a:lstStyle/>
          <a:p>
            <a:pPr marL="0" indent="0">
              <a:buNone/>
            </a:pPr>
            <a:r>
              <a:rPr lang="en-US" sz="650" dirty="0">
                <a:solidFill>
                  <a:srgbClr val="60758B"/>
                </a:solidFill>
              </a:rPr>
              <a:t>loads approved RF bundles and serves /predict + /predict-all</a:t>
            </a:r>
            <a:endParaRPr lang="en-US" sz="650" dirty="0"/>
          </a:p>
        </p:txBody>
      </p:sp>
      <p:sp>
        <p:nvSpPr>
          <p:cNvPr id="27" name="Shape 25"/>
          <p:cNvSpPr/>
          <p:nvPr/>
        </p:nvSpPr>
        <p:spPr>
          <a:xfrm>
            <a:off x="6784848" y="3291840"/>
            <a:ext cx="1463040" cy="45720"/>
          </a:xfrm>
          <a:prstGeom prst="rect">
            <a:avLst/>
          </a:prstGeom>
          <a:solidFill>
            <a:srgbClr val="1E90F3"/>
          </a:solidFill>
          <a:ln w="12700">
            <a:solidFill>
              <a:srgbClr val="1E90F3"/>
            </a:solidFill>
            <a:prstDash val="solid"/>
          </a:ln>
        </p:spPr>
      </p:sp>
      <p:sp>
        <p:nvSpPr>
          <p:cNvPr id="28" name="Shape 26"/>
          <p:cNvSpPr/>
          <p:nvPr/>
        </p:nvSpPr>
        <p:spPr>
          <a:xfrm>
            <a:off x="8915400" y="2377440"/>
            <a:ext cx="1463040" cy="960120"/>
          </a:xfrm>
          <a:prstGeom prst="roundRect">
            <a:avLst>
              <a:gd name="adj" fmla="val 6667"/>
            </a:avLst>
          </a:prstGeom>
          <a:solidFill>
            <a:srgbClr val="FFF4DF"/>
          </a:solidFill>
          <a:ln w="8890">
            <a:solidFill>
              <a:srgbClr val="C9D8E6"/>
            </a:solidFill>
            <a:prstDash val="solid"/>
          </a:ln>
        </p:spPr>
      </p:sp>
      <p:sp>
        <p:nvSpPr>
          <p:cNvPr id="29" name="Text 27"/>
          <p:cNvSpPr/>
          <p:nvPr/>
        </p:nvSpPr>
        <p:spPr>
          <a:xfrm>
            <a:off x="9025128" y="2487168"/>
            <a:ext cx="12435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GUIService</a:t>
            </a:r>
            <a:endParaRPr lang="en-US" sz="840" dirty="0"/>
          </a:p>
        </p:txBody>
      </p:sp>
      <p:sp>
        <p:nvSpPr>
          <p:cNvPr id="30" name="Text 28"/>
          <p:cNvSpPr/>
          <p:nvPr/>
        </p:nvSpPr>
        <p:spPr>
          <a:xfrm>
            <a:off x="9025128" y="2816352"/>
            <a:ext cx="1243584" cy="411480"/>
          </a:xfrm>
          <a:prstGeom prst="rect">
            <a:avLst/>
          </a:prstGeom>
          <a:noFill/>
          <a:ln/>
        </p:spPr>
        <p:txBody>
          <a:bodyPr wrap="square" lIns="0" tIns="0" rIns="0" bIns="0" rtlCol="0" anchor="ctr">
            <a:normAutofit/>
          </a:bodyPr>
          <a:lstStyle/>
          <a:p>
            <a:pPr marL="0" indent="0">
              <a:buNone/>
            </a:pPr>
            <a:r>
              <a:rPr lang="en-US" sz="650" dirty="0">
                <a:solidFill>
                  <a:srgbClr val="60758B"/>
                </a:solidFill>
              </a:rPr>
              <a:t>operator cockpit, manual prediction, history view</a:t>
            </a:r>
            <a:endParaRPr lang="en-US" sz="650" dirty="0"/>
          </a:p>
        </p:txBody>
      </p:sp>
      <p:sp>
        <p:nvSpPr>
          <p:cNvPr id="31" name="Shape 29"/>
          <p:cNvSpPr/>
          <p:nvPr/>
        </p:nvSpPr>
        <p:spPr>
          <a:xfrm>
            <a:off x="8915400" y="3291840"/>
            <a:ext cx="1463040" cy="45720"/>
          </a:xfrm>
          <a:prstGeom prst="rect">
            <a:avLst/>
          </a:prstGeom>
          <a:solidFill>
            <a:srgbClr val="F5A623"/>
          </a:solidFill>
          <a:ln w="12700">
            <a:solidFill>
              <a:srgbClr val="F5A623"/>
            </a:solidFill>
            <a:prstDash val="solid"/>
          </a:ln>
        </p:spPr>
      </p:sp>
      <p:sp>
        <p:nvSpPr>
          <p:cNvPr id="32" name="Shape 30"/>
          <p:cNvSpPr/>
          <p:nvPr/>
        </p:nvSpPr>
        <p:spPr>
          <a:xfrm>
            <a:off x="10424160" y="2377440"/>
            <a:ext cx="1463040" cy="960120"/>
          </a:xfrm>
          <a:prstGeom prst="roundRect">
            <a:avLst>
              <a:gd name="adj" fmla="val 6667"/>
            </a:avLst>
          </a:prstGeom>
          <a:solidFill>
            <a:srgbClr val="FFFFFF"/>
          </a:solidFill>
          <a:ln w="8890">
            <a:solidFill>
              <a:srgbClr val="C9D8E6"/>
            </a:solidFill>
            <a:prstDash val="solid"/>
          </a:ln>
        </p:spPr>
      </p:sp>
      <p:sp>
        <p:nvSpPr>
          <p:cNvPr id="33" name="Text 31"/>
          <p:cNvSpPr/>
          <p:nvPr/>
        </p:nvSpPr>
        <p:spPr>
          <a:xfrm>
            <a:off x="10533888" y="2487168"/>
            <a:ext cx="12435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PostgreSQL log</a:t>
            </a:r>
            <a:endParaRPr lang="en-US" sz="840" dirty="0"/>
          </a:p>
        </p:txBody>
      </p:sp>
      <p:sp>
        <p:nvSpPr>
          <p:cNvPr id="34" name="Text 32"/>
          <p:cNvSpPr/>
          <p:nvPr/>
        </p:nvSpPr>
        <p:spPr>
          <a:xfrm>
            <a:off x="10533888" y="2816352"/>
            <a:ext cx="1243584" cy="411480"/>
          </a:xfrm>
          <a:prstGeom prst="rect">
            <a:avLst/>
          </a:prstGeom>
          <a:noFill/>
          <a:ln/>
        </p:spPr>
        <p:txBody>
          <a:bodyPr wrap="square" lIns="0" tIns="0" rIns="0" bIns="0" rtlCol="0" anchor="ctr">
            <a:normAutofit/>
          </a:bodyPr>
          <a:lstStyle/>
          <a:p>
            <a:pPr marL="0" indent="0">
              <a:buNone/>
            </a:pPr>
            <a:r>
              <a:rPr lang="en-US" sz="650" dirty="0">
                <a:solidFill>
                  <a:srgbClr val="60758B"/>
                </a:solidFill>
              </a:rPr>
              <a:t>prediction traceability, status, model, source</a:t>
            </a:r>
            <a:endParaRPr lang="en-US" sz="650" dirty="0"/>
          </a:p>
        </p:txBody>
      </p:sp>
      <p:sp>
        <p:nvSpPr>
          <p:cNvPr id="35" name="Shape 33"/>
          <p:cNvSpPr/>
          <p:nvPr/>
        </p:nvSpPr>
        <p:spPr>
          <a:xfrm>
            <a:off x="10424160" y="3291840"/>
            <a:ext cx="1463040" cy="45720"/>
          </a:xfrm>
          <a:prstGeom prst="rect">
            <a:avLst/>
          </a:prstGeom>
          <a:solidFill>
            <a:srgbClr val="18B996"/>
          </a:solidFill>
          <a:ln w="12700">
            <a:solidFill>
              <a:srgbClr val="18B996"/>
            </a:solidFill>
            <a:prstDash val="solid"/>
          </a:ln>
        </p:spPr>
      </p:sp>
      <p:sp>
        <p:nvSpPr>
          <p:cNvPr id="36" name="Shape 34"/>
          <p:cNvSpPr/>
          <p:nvPr/>
        </p:nvSpPr>
        <p:spPr>
          <a:xfrm>
            <a:off x="685800" y="4069080"/>
            <a:ext cx="10789920" cy="960120"/>
          </a:xfrm>
          <a:prstGeom prst="roundRect">
            <a:avLst>
              <a:gd name="adj" fmla="val 5714"/>
            </a:avLst>
          </a:prstGeom>
          <a:solidFill>
            <a:srgbClr val="FFFFFF"/>
          </a:solidFill>
          <a:ln w="8890">
            <a:solidFill>
              <a:srgbClr val="D8E4EE"/>
            </a:solidFill>
            <a:prstDash val="solid"/>
          </a:ln>
        </p:spPr>
      </p:sp>
      <p:sp>
        <p:nvSpPr>
          <p:cNvPr id="37" name="Text 35"/>
          <p:cNvSpPr/>
          <p:nvPr/>
        </p:nvSpPr>
        <p:spPr>
          <a:xfrm>
            <a:off x="813816" y="4206240"/>
            <a:ext cx="105338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Most important architecture point</a:t>
            </a:r>
            <a:endParaRPr lang="en-US" sz="930" dirty="0"/>
          </a:p>
        </p:txBody>
      </p:sp>
      <p:sp>
        <p:nvSpPr>
          <p:cNvPr id="38" name="Text 36"/>
          <p:cNvSpPr/>
          <p:nvPr/>
        </p:nvSpPr>
        <p:spPr>
          <a:xfrm>
            <a:off x="813816" y="4526280"/>
            <a:ext cx="10533888" cy="393192"/>
          </a:xfrm>
          <a:prstGeom prst="rect">
            <a:avLst/>
          </a:prstGeom>
          <a:noFill/>
          <a:ln/>
        </p:spPr>
        <p:txBody>
          <a:bodyPr wrap="square" lIns="0" tIns="0" rIns="0" bIns="0" rtlCol="0" anchor="ctr">
            <a:normAutofit/>
          </a:bodyPr>
          <a:lstStyle/>
          <a:p>
            <a:pPr marL="0" indent="0">
              <a:buNone/>
            </a:pPr>
            <a:r>
              <a:rPr lang="en-US" sz="780" dirty="0">
                <a:solidFill>
                  <a:srgbClr val="60758B"/>
                </a:solidFill>
              </a:rPr>
              <a:t>Inference is governed by the exact saved feature list. The GUI should never send arbitrary column order; it should call PredictionService with a controlled feature payload and store the result for later comparison with real lab values.</a:t>
            </a:r>
            <a:endParaRPr lang="en-US" sz="780" dirty="0"/>
          </a:p>
        </p:txBody>
      </p:sp>
      <p:sp>
        <p:nvSpPr>
          <p:cNvPr id="39" name="Shape 37"/>
          <p:cNvSpPr/>
          <p:nvPr/>
        </p:nvSpPr>
        <p:spPr>
          <a:xfrm>
            <a:off x="685800" y="4069080"/>
            <a:ext cx="36576" cy="960120"/>
          </a:xfrm>
          <a:prstGeom prst="rect">
            <a:avLst/>
          </a:prstGeom>
          <a:solidFill>
            <a:srgbClr val="1E90F3"/>
          </a:solidFill>
          <a:ln w="12700">
            <a:solidFill>
              <a:srgbClr val="1E90F3"/>
            </a:solidFill>
            <a:prstDash val="solid"/>
          </a:ln>
        </p:spPr>
      </p:sp>
      <p:sp>
        <p:nvSpPr>
          <p:cNvPr id="40" name="Text 38"/>
          <p:cNvSpPr/>
          <p:nvPr/>
        </p:nvSpPr>
        <p:spPr>
          <a:xfrm>
            <a:off x="2560320" y="1618395"/>
            <a:ext cx="1371600" cy="182880"/>
          </a:xfrm>
          <a:prstGeom prst="roundRect">
            <a:avLst/>
          </a:prstGeom>
          <a:solidFill>
            <a:srgbClr val="16A05D"/>
          </a:solidFill>
          <a:ln>
            <a:solidFill>
              <a:srgbClr val="16A05D"/>
            </a:solidFill>
          </a:ln>
        </p:spPr>
        <p:txBody>
          <a:bodyPr wrap="square" lIns="127" tIns="127" rIns="127" bIns="127" rtlCol="0" anchor="ctr"/>
          <a:lstStyle/>
          <a:p>
            <a:pPr marL="0" indent="0" algn="ctr">
              <a:buNone/>
            </a:pPr>
            <a:r>
              <a:rPr lang="en-US" sz="650" b="1" dirty="0">
                <a:solidFill>
                  <a:srgbClr val="FFFFFF"/>
                </a:solidFill>
              </a:rPr>
              <a:t>OFFLINE LEARNING</a:t>
            </a:r>
            <a:endParaRPr lang="en-US" sz="650" dirty="0"/>
          </a:p>
        </p:txBody>
      </p:sp>
      <p:sp>
        <p:nvSpPr>
          <p:cNvPr id="41" name="Text 39"/>
          <p:cNvSpPr/>
          <p:nvPr/>
        </p:nvSpPr>
        <p:spPr>
          <a:xfrm>
            <a:off x="6830568" y="1614196"/>
            <a:ext cx="1371600" cy="182880"/>
          </a:xfrm>
          <a:prstGeom prst="roundRect">
            <a:avLst/>
          </a:prstGeom>
          <a:solidFill>
            <a:srgbClr val="1E90F3"/>
          </a:solidFill>
          <a:ln>
            <a:solidFill>
              <a:srgbClr val="1E90F3"/>
            </a:solidFill>
          </a:ln>
        </p:spPr>
        <p:txBody>
          <a:bodyPr wrap="square" lIns="127" tIns="127" rIns="127" bIns="127" rtlCol="0" anchor="ctr"/>
          <a:lstStyle/>
          <a:p>
            <a:pPr marL="0" indent="0" algn="ctr">
              <a:buNone/>
            </a:pPr>
            <a:r>
              <a:rPr lang="en-US" sz="650" b="1" dirty="0">
                <a:solidFill>
                  <a:srgbClr val="FFFFFF"/>
                </a:solidFill>
              </a:rPr>
              <a:t>ONLINE SERVING</a:t>
            </a:r>
            <a:endParaRPr lang="en-US" sz="650" dirty="0"/>
          </a:p>
        </p:txBody>
      </p:sp>
      <p:sp>
        <p:nvSpPr>
          <p:cNvPr id="42" name="Text 40"/>
          <p:cNvSpPr/>
          <p:nvPr/>
        </p:nvSpPr>
        <p:spPr>
          <a:xfrm>
            <a:off x="9098280" y="1600200"/>
            <a:ext cx="1828800" cy="182880"/>
          </a:xfrm>
          <a:prstGeom prst="roundRect">
            <a:avLst/>
          </a:prstGeom>
          <a:solidFill>
            <a:srgbClr val="F5A623"/>
          </a:solidFill>
          <a:ln>
            <a:solidFill>
              <a:srgbClr val="F5A623"/>
            </a:solidFill>
          </a:ln>
        </p:spPr>
        <p:txBody>
          <a:bodyPr wrap="square" lIns="127" tIns="127" rIns="127" bIns="127" rtlCol="0" anchor="ctr"/>
          <a:lstStyle/>
          <a:p>
            <a:pPr marL="0" indent="0" algn="ctr">
              <a:buNone/>
            </a:pPr>
            <a:r>
              <a:rPr lang="en-US" sz="650" b="1" dirty="0">
                <a:solidFill>
                  <a:srgbClr val="FFFFFF"/>
                </a:solidFill>
              </a:rPr>
              <a:t>HUMAN DECISION LAYER</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smtClean="0">
                <a:solidFill>
                  <a:srgbClr val="0F2942"/>
                </a:solidFill>
                <a:latin typeface="Aptos Display" pitchFamily="34" charset="0"/>
                <a:ea typeface="Aptos Display" pitchFamily="34" charset="-122"/>
                <a:cs typeface="Aptos Display" pitchFamily="34" charset="-120"/>
              </a:rPr>
              <a:t>GUI Service </a:t>
            </a:r>
            <a:r>
              <a:rPr lang="en-US" sz="2200" b="1" dirty="0">
                <a:solidFill>
                  <a:srgbClr val="0F2942"/>
                </a:solidFill>
                <a:latin typeface="Aptos Display" pitchFamily="34" charset="0"/>
                <a:ea typeface="Aptos Display" pitchFamily="34" charset="-122"/>
                <a:cs typeface="Aptos Display" pitchFamily="34" charset="-120"/>
              </a:rPr>
              <a:t>update: from API page to production cockpit</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GUI should be positioned as the human decision layer—not just a front-end form.</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10</a:t>
            </a:r>
            <a:endParaRPr lang="en-US" sz="550" dirty="0"/>
          </a:p>
        </p:txBody>
      </p:sp>
      <p:sp>
        <p:nvSpPr>
          <p:cNvPr id="7" name="Shape 5"/>
          <p:cNvSpPr/>
          <p:nvPr/>
        </p:nvSpPr>
        <p:spPr>
          <a:xfrm>
            <a:off x="594360" y="1143000"/>
            <a:ext cx="3657600" cy="2011680"/>
          </a:xfrm>
          <a:prstGeom prst="roundRect">
            <a:avLst>
              <a:gd name="adj" fmla="val 2727"/>
            </a:avLst>
          </a:prstGeom>
          <a:solidFill>
            <a:srgbClr val="FFFFFF"/>
          </a:solidFill>
          <a:ln w="8890">
            <a:solidFill>
              <a:srgbClr val="D8E4EE"/>
            </a:solidFill>
            <a:prstDash val="solid"/>
          </a:ln>
        </p:spPr>
      </p:sp>
      <p:sp>
        <p:nvSpPr>
          <p:cNvPr id="8" name="Text 6"/>
          <p:cNvSpPr/>
          <p:nvPr/>
        </p:nvSpPr>
        <p:spPr>
          <a:xfrm>
            <a:off x="722376" y="1280160"/>
            <a:ext cx="34015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What the GUI does now / next</a:t>
            </a:r>
            <a:endParaRPr lang="en-US" sz="930" dirty="0"/>
          </a:p>
        </p:txBody>
      </p:sp>
      <p:sp>
        <p:nvSpPr>
          <p:cNvPr id="9" name="Text 7"/>
          <p:cNvSpPr/>
          <p:nvPr/>
        </p:nvSpPr>
        <p:spPr>
          <a:xfrm>
            <a:off x="722376" y="1600200"/>
            <a:ext cx="3401568" cy="1444752"/>
          </a:xfrm>
          <a:prstGeom prst="rect">
            <a:avLst/>
          </a:prstGeom>
          <a:noFill/>
          <a:ln/>
        </p:spPr>
        <p:txBody>
          <a:bodyPr wrap="square" lIns="0" tIns="0" rIns="0" bIns="0" rtlCol="0" anchor="ctr">
            <a:normAutofit/>
          </a:bodyPr>
          <a:lstStyle/>
          <a:p>
            <a:pPr marL="0" indent="0">
              <a:buNone/>
            </a:pPr>
            <a:r>
              <a:rPr lang="en-US" sz="780" dirty="0">
                <a:solidFill>
                  <a:srgbClr val="60758B"/>
                </a:solidFill>
              </a:rPr>
              <a:t>• Calls PredictionService for target predictions.</a:t>
            </a:r>
            <a:endParaRPr lang="en-US" sz="780" dirty="0"/>
          </a:p>
          <a:p>
            <a:pPr marL="0" indent="0">
              <a:buNone/>
            </a:pPr>
            <a:r>
              <a:rPr lang="en-US" sz="780" dirty="0">
                <a:solidFill>
                  <a:srgbClr val="60758B"/>
                </a:solidFill>
              </a:rPr>
              <a:t>• Displays prediction output, model name, algorithm and missing features.</a:t>
            </a:r>
            <a:endParaRPr lang="en-US" sz="780" dirty="0"/>
          </a:p>
          <a:p>
            <a:pPr marL="0" indent="0">
              <a:buNone/>
            </a:pPr>
            <a:r>
              <a:rPr lang="en-US" sz="780" dirty="0">
                <a:solidFill>
                  <a:srgbClr val="60758B"/>
                </a:solidFill>
              </a:rPr>
              <a:t>• Shows history rows with time, order, board, target, prediction, model and status.</a:t>
            </a:r>
            <a:endParaRPr lang="en-US" sz="780" dirty="0"/>
          </a:p>
          <a:p>
            <a:pPr marL="0" indent="0">
              <a:buNone/>
            </a:pPr>
            <a:r>
              <a:rPr lang="en-US" sz="780" dirty="0">
                <a:solidFill>
                  <a:srgbClr val="60758B"/>
                </a:solidFill>
              </a:rPr>
              <a:t>• Uses color classes to highlight normal / attention / risk states.</a:t>
            </a:r>
            <a:endParaRPr lang="en-US" sz="780" dirty="0"/>
          </a:p>
        </p:txBody>
      </p:sp>
      <p:sp>
        <p:nvSpPr>
          <p:cNvPr id="10" name="Shape 8"/>
          <p:cNvSpPr/>
          <p:nvPr/>
        </p:nvSpPr>
        <p:spPr>
          <a:xfrm>
            <a:off x="594360" y="1143000"/>
            <a:ext cx="36576" cy="2011680"/>
          </a:xfrm>
          <a:prstGeom prst="rect">
            <a:avLst/>
          </a:prstGeom>
          <a:solidFill>
            <a:srgbClr val="1E90F3"/>
          </a:solidFill>
          <a:ln w="12700">
            <a:solidFill>
              <a:srgbClr val="1E90F3"/>
            </a:solidFill>
            <a:prstDash val="solid"/>
          </a:ln>
        </p:spPr>
      </p:sp>
      <p:sp>
        <p:nvSpPr>
          <p:cNvPr id="11" name="Text 9"/>
          <p:cNvSpPr/>
          <p:nvPr/>
        </p:nvSpPr>
        <p:spPr>
          <a:xfrm>
            <a:off x="4663440" y="1143000"/>
            <a:ext cx="1828800" cy="164592"/>
          </a:xfrm>
          <a:prstGeom prst="rect">
            <a:avLst/>
          </a:prstGeom>
          <a:noFill/>
          <a:ln/>
        </p:spPr>
        <p:txBody>
          <a:bodyPr wrap="square" lIns="0" tIns="0" rIns="0" bIns="0" rtlCol="0" anchor="ctr"/>
          <a:lstStyle/>
          <a:p>
            <a:pPr marL="0" indent="0">
              <a:buNone/>
            </a:pPr>
            <a:r>
              <a:rPr lang="en-US" sz="1000" b="1" dirty="0">
                <a:solidFill>
                  <a:srgbClr val="0F2942"/>
                </a:solidFill>
              </a:rPr>
              <a:t>Cockpit concept</a:t>
            </a:r>
            <a:endParaRPr lang="en-US" sz="1000" dirty="0"/>
          </a:p>
        </p:txBody>
      </p:sp>
      <p:sp>
        <p:nvSpPr>
          <p:cNvPr id="12" name="Text 10"/>
          <p:cNvSpPr/>
          <p:nvPr/>
        </p:nvSpPr>
        <p:spPr>
          <a:xfrm>
            <a:off x="4663440" y="1508760"/>
            <a:ext cx="1920240" cy="329184"/>
          </a:xfrm>
          <a:prstGeom prst="roundRect">
            <a:avLst/>
          </a:prstGeom>
          <a:solidFill>
            <a:srgbClr val="E9F4FF"/>
          </a:solidFill>
          <a:ln>
            <a:solidFill>
              <a:srgbClr val="C9E3FB"/>
            </a:solidFill>
          </a:ln>
        </p:spPr>
        <p:txBody>
          <a:bodyPr wrap="square" lIns="635" tIns="635" rIns="635" bIns="635" rtlCol="0" anchor="ctr"/>
          <a:lstStyle/>
          <a:p>
            <a:pPr marL="0" indent="0" algn="ctr">
              <a:buNone/>
            </a:pPr>
            <a:r>
              <a:rPr lang="en-US" sz="800" b="1" dirty="0">
                <a:solidFill>
                  <a:srgbClr val="0F2942"/>
                </a:solidFill>
              </a:rPr>
              <a:t>Prediction request</a:t>
            </a:r>
            <a:endParaRPr lang="en-US" sz="800" dirty="0"/>
          </a:p>
        </p:txBody>
      </p:sp>
      <p:sp>
        <p:nvSpPr>
          <p:cNvPr id="13" name="Text 11"/>
          <p:cNvSpPr/>
          <p:nvPr/>
        </p:nvSpPr>
        <p:spPr>
          <a:xfrm>
            <a:off x="6903720" y="1508760"/>
            <a:ext cx="1920240" cy="329184"/>
          </a:xfrm>
          <a:prstGeom prst="roundRect">
            <a:avLst/>
          </a:prstGeom>
          <a:solidFill>
            <a:srgbClr val="FFF4DF"/>
          </a:solidFill>
          <a:ln>
            <a:solidFill>
              <a:srgbClr val="F2D5A7"/>
            </a:solidFill>
          </a:ln>
        </p:spPr>
        <p:txBody>
          <a:bodyPr wrap="square" lIns="635" tIns="635" rIns="635" bIns="635" rtlCol="0" anchor="ctr"/>
          <a:lstStyle/>
          <a:p>
            <a:pPr marL="0" indent="0" algn="ctr">
              <a:buNone/>
            </a:pPr>
            <a:r>
              <a:rPr lang="en-US" sz="800" b="1" dirty="0">
                <a:solidFill>
                  <a:srgbClr val="0F2942"/>
                </a:solidFill>
              </a:rPr>
              <a:t>Risk / attention status</a:t>
            </a:r>
            <a:endParaRPr lang="en-US" sz="800" dirty="0"/>
          </a:p>
        </p:txBody>
      </p:sp>
      <p:sp>
        <p:nvSpPr>
          <p:cNvPr id="14" name="Text 12"/>
          <p:cNvSpPr/>
          <p:nvPr/>
        </p:nvSpPr>
        <p:spPr>
          <a:xfrm>
            <a:off x="9144000" y="1508760"/>
            <a:ext cx="1920240" cy="329184"/>
          </a:xfrm>
          <a:prstGeom prst="roundRect">
            <a:avLst/>
          </a:prstGeom>
          <a:solidFill>
            <a:srgbClr val="E9F8F2"/>
          </a:solidFill>
          <a:ln>
            <a:solidFill>
              <a:srgbClr val="CFEBDD"/>
            </a:solidFill>
          </a:ln>
        </p:spPr>
        <p:txBody>
          <a:bodyPr wrap="square" lIns="635" tIns="635" rIns="635" bIns="635" rtlCol="0" anchor="ctr"/>
          <a:lstStyle/>
          <a:p>
            <a:pPr marL="0" indent="0" algn="ctr">
              <a:buNone/>
            </a:pPr>
            <a:r>
              <a:rPr lang="en-US" sz="800" b="1" dirty="0">
                <a:solidFill>
                  <a:srgbClr val="0F2942"/>
                </a:solidFill>
              </a:rPr>
              <a:t>Prediction history</a:t>
            </a:r>
            <a:endParaRPr lang="en-US" sz="800" dirty="0"/>
          </a:p>
        </p:txBody>
      </p:sp>
      <p:sp>
        <p:nvSpPr>
          <p:cNvPr id="15" name="Shape 13"/>
          <p:cNvSpPr/>
          <p:nvPr/>
        </p:nvSpPr>
        <p:spPr>
          <a:xfrm>
            <a:off x="6601968" y="1673352"/>
            <a:ext cx="274320" cy="0"/>
          </a:xfrm>
          <a:prstGeom prst="line">
            <a:avLst/>
          </a:prstGeom>
          <a:noFill/>
          <a:ln w="13970">
            <a:solidFill>
              <a:srgbClr val="AFC4D7"/>
            </a:solidFill>
            <a:prstDash val="solid"/>
            <a:headEnd type="none"/>
            <a:tailEnd type="triangle"/>
          </a:ln>
        </p:spPr>
      </p:sp>
      <p:sp>
        <p:nvSpPr>
          <p:cNvPr id="16" name="Shape 14"/>
          <p:cNvSpPr/>
          <p:nvPr/>
        </p:nvSpPr>
        <p:spPr>
          <a:xfrm>
            <a:off x="8851392" y="1673352"/>
            <a:ext cx="274320" cy="0"/>
          </a:xfrm>
          <a:prstGeom prst="line">
            <a:avLst/>
          </a:prstGeom>
          <a:noFill/>
          <a:ln w="13970">
            <a:solidFill>
              <a:srgbClr val="AFC4D7"/>
            </a:solidFill>
            <a:prstDash val="solid"/>
            <a:headEnd type="none"/>
            <a:tailEnd type="triangle"/>
          </a:ln>
        </p:spPr>
      </p:sp>
      <p:sp>
        <p:nvSpPr>
          <p:cNvPr id="17" name="Text 15"/>
          <p:cNvSpPr/>
          <p:nvPr/>
        </p:nvSpPr>
        <p:spPr>
          <a:xfrm>
            <a:off x="4663440" y="2331720"/>
            <a:ext cx="868680" cy="310896"/>
          </a:xfrm>
          <a:prstGeom prst="rect">
            <a:avLst/>
          </a:prstGeom>
          <a:solidFill>
            <a:srgbClr val="0B253D"/>
          </a:solidFill>
          <a:ln>
            <a:solidFill>
              <a:srgbClr val="D8E4EE"/>
            </a:solidFill>
          </a:ln>
        </p:spPr>
        <p:txBody>
          <a:bodyPr wrap="square" lIns="127" tIns="127" rIns="127" bIns="127" rtlCol="0" anchor="ctr">
            <a:normAutofit/>
          </a:bodyPr>
          <a:lstStyle/>
          <a:p>
            <a:pPr marL="0" indent="0" algn="ctr">
              <a:buNone/>
            </a:pPr>
            <a:r>
              <a:rPr lang="en-US" sz="680" b="1" dirty="0">
                <a:solidFill>
                  <a:srgbClr val="FFFFFF"/>
                </a:solidFill>
              </a:rPr>
              <a:t>Order</a:t>
            </a:r>
            <a:endParaRPr lang="en-US" sz="680" dirty="0"/>
          </a:p>
        </p:txBody>
      </p:sp>
      <p:sp>
        <p:nvSpPr>
          <p:cNvPr id="18" name="Text 16"/>
          <p:cNvSpPr/>
          <p:nvPr/>
        </p:nvSpPr>
        <p:spPr>
          <a:xfrm>
            <a:off x="5532120" y="2331720"/>
            <a:ext cx="868680" cy="310896"/>
          </a:xfrm>
          <a:prstGeom prst="rect">
            <a:avLst/>
          </a:prstGeom>
          <a:solidFill>
            <a:srgbClr val="0B253D"/>
          </a:solidFill>
          <a:ln>
            <a:solidFill>
              <a:srgbClr val="D8E4EE"/>
            </a:solidFill>
          </a:ln>
        </p:spPr>
        <p:txBody>
          <a:bodyPr wrap="square" lIns="127" tIns="127" rIns="127" bIns="127" rtlCol="0" anchor="ctr">
            <a:normAutofit/>
          </a:bodyPr>
          <a:lstStyle/>
          <a:p>
            <a:pPr marL="0" indent="0" algn="ctr">
              <a:buNone/>
            </a:pPr>
            <a:r>
              <a:rPr lang="en-US" sz="680" b="1" dirty="0">
                <a:solidFill>
                  <a:srgbClr val="FFFFFF"/>
                </a:solidFill>
              </a:rPr>
              <a:t>Board</a:t>
            </a:r>
            <a:endParaRPr lang="en-US" sz="680" dirty="0"/>
          </a:p>
        </p:txBody>
      </p:sp>
      <p:sp>
        <p:nvSpPr>
          <p:cNvPr id="19" name="Text 17"/>
          <p:cNvSpPr/>
          <p:nvPr/>
        </p:nvSpPr>
        <p:spPr>
          <a:xfrm>
            <a:off x="6400800" y="2331720"/>
            <a:ext cx="1234440" cy="310896"/>
          </a:xfrm>
          <a:prstGeom prst="rect">
            <a:avLst/>
          </a:prstGeom>
          <a:solidFill>
            <a:srgbClr val="0B253D"/>
          </a:solidFill>
          <a:ln>
            <a:solidFill>
              <a:srgbClr val="D8E4EE"/>
            </a:solidFill>
          </a:ln>
        </p:spPr>
        <p:txBody>
          <a:bodyPr wrap="square" lIns="127" tIns="127" rIns="127" bIns="127" rtlCol="0" anchor="ctr">
            <a:normAutofit/>
          </a:bodyPr>
          <a:lstStyle/>
          <a:p>
            <a:pPr marL="0" indent="0" algn="ctr">
              <a:buNone/>
            </a:pPr>
            <a:r>
              <a:rPr lang="en-US" sz="680" b="1" dirty="0">
                <a:solidFill>
                  <a:srgbClr val="FFFFFF"/>
                </a:solidFill>
              </a:rPr>
              <a:t>Target</a:t>
            </a:r>
            <a:endParaRPr lang="en-US" sz="680" dirty="0"/>
          </a:p>
        </p:txBody>
      </p:sp>
      <p:sp>
        <p:nvSpPr>
          <p:cNvPr id="20" name="Text 18"/>
          <p:cNvSpPr/>
          <p:nvPr/>
        </p:nvSpPr>
        <p:spPr>
          <a:xfrm>
            <a:off x="7635240" y="2331720"/>
            <a:ext cx="1051560" cy="310896"/>
          </a:xfrm>
          <a:prstGeom prst="rect">
            <a:avLst/>
          </a:prstGeom>
          <a:solidFill>
            <a:srgbClr val="0B253D"/>
          </a:solidFill>
          <a:ln>
            <a:solidFill>
              <a:srgbClr val="D8E4EE"/>
            </a:solidFill>
          </a:ln>
        </p:spPr>
        <p:txBody>
          <a:bodyPr wrap="square" lIns="127" tIns="127" rIns="127" bIns="127" rtlCol="0" anchor="ctr">
            <a:normAutofit/>
          </a:bodyPr>
          <a:lstStyle/>
          <a:p>
            <a:pPr marL="0" indent="0" algn="ctr">
              <a:buNone/>
            </a:pPr>
            <a:r>
              <a:rPr lang="en-US" sz="680" b="1" dirty="0">
                <a:solidFill>
                  <a:srgbClr val="FFFFFF"/>
                </a:solidFill>
              </a:rPr>
              <a:t>Prediction</a:t>
            </a:r>
            <a:endParaRPr lang="en-US" sz="680" dirty="0"/>
          </a:p>
        </p:txBody>
      </p:sp>
      <p:sp>
        <p:nvSpPr>
          <p:cNvPr id="21" name="Text 19"/>
          <p:cNvSpPr/>
          <p:nvPr/>
        </p:nvSpPr>
        <p:spPr>
          <a:xfrm>
            <a:off x="8686800" y="2331720"/>
            <a:ext cx="1143000" cy="310896"/>
          </a:xfrm>
          <a:prstGeom prst="rect">
            <a:avLst/>
          </a:prstGeom>
          <a:solidFill>
            <a:srgbClr val="0B253D"/>
          </a:solidFill>
          <a:ln>
            <a:solidFill>
              <a:srgbClr val="D8E4EE"/>
            </a:solidFill>
          </a:ln>
        </p:spPr>
        <p:txBody>
          <a:bodyPr wrap="square" lIns="127" tIns="127" rIns="127" bIns="127" rtlCol="0" anchor="ctr">
            <a:normAutofit/>
          </a:bodyPr>
          <a:lstStyle/>
          <a:p>
            <a:pPr marL="0" indent="0" algn="ctr">
              <a:buNone/>
            </a:pPr>
            <a:r>
              <a:rPr lang="en-US" sz="680" b="1" dirty="0">
                <a:solidFill>
                  <a:srgbClr val="FFFFFF"/>
                </a:solidFill>
              </a:rPr>
              <a:t>Status</a:t>
            </a:r>
            <a:endParaRPr lang="en-US" sz="680" dirty="0"/>
          </a:p>
        </p:txBody>
      </p:sp>
      <p:sp>
        <p:nvSpPr>
          <p:cNvPr id="22" name="Text 20"/>
          <p:cNvSpPr/>
          <p:nvPr/>
        </p:nvSpPr>
        <p:spPr>
          <a:xfrm>
            <a:off x="4663440" y="2679192"/>
            <a:ext cx="86868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smtClean="0">
                <a:solidFill>
                  <a:srgbClr val="0F2942"/>
                </a:solidFill>
              </a:rPr>
              <a:t>PO-219882</a:t>
            </a:r>
            <a:endParaRPr lang="en-US" sz="680" dirty="0"/>
          </a:p>
        </p:txBody>
      </p:sp>
      <p:sp>
        <p:nvSpPr>
          <p:cNvPr id="23" name="Text 21"/>
          <p:cNvSpPr/>
          <p:nvPr/>
        </p:nvSpPr>
        <p:spPr>
          <a:xfrm>
            <a:off x="5532120" y="2679192"/>
            <a:ext cx="86868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smtClean="0">
                <a:solidFill>
                  <a:srgbClr val="0F2942"/>
                </a:solidFill>
              </a:rPr>
              <a:t>B-18</a:t>
            </a:r>
            <a:endParaRPr lang="en-US" sz="680" dirty="0"/>
          </a:p>
        </p:txBody>
      </p:sp>
      <p:sp>
        <p:nvSpPr>
          <p:cNvPr id="24" name="Text 22"/>
          <p:cNvSpPr/>
          <p:nvPr/>
        </p:nvSpPr>
        <p:spPr>
          <a:xfrm>
            <a:off x="6400800" y="2679192"/>
            <a:ext cx="123444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Density</a:t>
            </a:r>
            <a:endParaRPr lang="en-US" sz="680" dirty="0"/>
          </a:p>
        </p:txBody>
      </p:sp>
      <p:sp>
        <p:nvSpPr>
          <p:cNvPr id="25" name="Text 23"/>
          <p:cNvSpPr/>
          <p:nvPr/>
        </p:nvSpPr>
        <p:spPr>
          <a:xfrm>
            <a:off x="7635240" y="2679192"/>
            <a:ext cx="105156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758.4</a:t>
            </a:r>
            <a:endParaRPr lang="en-US" sz="680" dirty="0"/>
          </a:p>
        </p:txBody>
      </p:sp>
      <p:sp>
        <p:nvSpPr>
          <p:cNvPr id="26" name="Text 24"/>
          <p:cNvSpPr/>
          <p:nvPr/>
        </p:nvSpPr>
        <p:spPr>
          <a:xfrm>
            <a:off x="8686800" y="2679192"/>
            <a:ext cx="1143000" cy="310896"/>
          </a:xfrm>
          <a:prstGeom prst="rect">
            <a:avLst/>
          </a:prstGeom>
          <a:solidFill>
            <a:srgbClr val="E9F8F2"/>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OK</a:t>
            </a:r>
            <a:endParaRPr lang="en-US" sz="680" dirty="0"/>
          </a:p>
        </p:txBody>
      </p:sp>
      <p:sp>
        <p:nvSpPr>
          <p:cNvPr id="27" name="Text 25"/>
          <p:cNvSpPr/>
          <p:nvPr/>
        </p:nvSpPr>
        <p:spPr>
          <a:xfrm>
            <a:off x="4663440" y="3026664"/>
            <a:ext cx="86868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smtClean="0">
                <a:solidFill>
                  <a:srgbClr val="0F2942"/>
                </a:solidFill>
              </a:rPr>
              <a:t>PO-247162</a:t>
            </a:r>
            <a:endParaRPr lang="en-US" sz="680" dirty="0"/>
          </a:p>
        </p:txBody>
      </p:sp>
      <p:sp>
        <p:nvSpPr>
          <p:cNvPr id="28" name="Text 26"/>
          <p:cNvSpPr/>
          <p:nvPr/>
        </p:nvSpPr>
        <p:spPr>
          <a:xfrm>
            <a:off x="5532120" y="3026664"/>
            <a:ext cx="86868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smtClean="0">
                <a:solidFill>
                  <a:srgbClr val="0F2942"/>
                </a:solidFill>
              </a:rPr>
              <a:t>B-22</a:t>
            </a:r>
            <a:endParaRPr lang="en-US" sz="680" dirty="0"/>
          </a:p>
        </p:txBody>
      </p:sp>
      <p:sp>
        <p:nvSpPr>
          <p:cNvPr id="29" name="Text 27"/>
          <p:cNvSpPr/>
          <p:nvPr/>
        </p:nvSpPr>
        <p:spPr>
          <a:xfrm>
            <a:off x="6400800" y="3026664"/>
            <a:ext cx="123444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Bending</a:t>
            </a:r>
            <a:endParaRPr lang="en-US" sz="680" dirty="0"/>
          </a:p>
        </p:txBody>
      </p:sp>
      <p:sp>
        <p:nvSpPr>
          <p:cNvPr id="30" name="Text 28"/>
          <p:cNvSpPr/>
          <p:nvPr/>
        </p:nvSpPr>
        <p:spPr>
          <a:xfrm>
            <a:off x="7635240" y="3026664"/>
            <a:ext cx="105156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smtClean="0">
                <a:solidFill>
                  <a:srgbClr val="0F2942"/>
                </a:solidFill>
              </a:rPr>
              <a:t>28.7</a:t>
            </a:r>
            <a:endParaRPr lang="en-US" sz="680" dirty="0"/>
          </a:p>
        </p:txBody>
      </p:sp>
      <p:sp>
        <p:nvSpPr>
          <p:cNvPr id="31" name="Text 29"/>
          <p:cNvSpPr/>
          <p:nvPr/>
        </p:nvSpPr>
        <p:spPr>
          <a:xfrm>
            <a:off x="8686800" y="3026664"/>
            <a:ext cx="1143000" cy="310896"/>
          </a:xfrm>
          <a:prstGeom prst="rect">
            <a:avLst/>
          </a:prstGeom>
          <a:solidFill>
            <a:srgbClr val="FFF4D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ATTENTION</a:t>
            </a:r>
            <a:endParaRPr lang="en-US" sz="680" dirty="0"/>
          </a:p>
        </p:txBody>
      </p:sp>
      <p:sp>
        <p:nvSpPr>
          <p:cNvPr id="32" name="Text 30"/>
          <p:cNvSpPr/>
          <p:nvPr/>
        </p:nvSpPr>
        <p:spPr>
          <a:xfrm>
            <a:off x="4663440" y="3374136"/>
            <a:ext cx="86868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smtClean="0">
                <a:solidFill>
                  <a:srgbClr val="0F2942"/>
                </a:solidFill>
              </a:rPr>
              <a:t>PO-289654</a:t>
            </a:r>
            <a:endParaRPr lang="en-US" sz="680" dirty="0"/>
          </a:p>
        </p:txBody>
      </p:sp>
      <p:sp>
        <p:nvSpPr>
          <p:cNvPr id="33" name="Text 31"/>
          <p:cNvSpPr/>
          <p:nvPr/>
        </p:nvSpPr>
        <p:spPr>
          <a:xfrm>
            <a:off x="5532120" y="3374136"/>
            <a:ext cx="86868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smtClean="0">
                <a:solidFill>
                  <a:srgbClr val="0F2942"/>
                </a:solidFill>
              </a:rPr>
              <a:t>B-16</a:t>
            </a:r>
            <a:endParaRPr lang="en-US" sz="680" dirty="0"/>
          </a:p>
        </p:txBody>
      </p:sp>
      <p:sp>
        <p:nvSpPr>
          <p:cNvPr id="34" name="Text 32"/>
          <p:cNvSpPr/>
          <p:nvPr/>
        </p:nvSpPr>
        <p:spPr>
          <a:xfrm>
            <a:off x="6400800" y="3374136"/>
            <a:ext cx="123444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Density</a:t>
            </a:r>
            <a:endParaRPr lang="en-US" sz="680" dirty="0"/>
          </a:p>
        </p:txBody>
      </p:sp>
      <p:sp>
        <p:nvSpPr>
          <p:cNvPr id="35" name="Text 33"/>
          <p:cNvSpPr/>
          <p:nvPr/>
        </p:nvSpPr>
        <p:spPr>
          <a:xfrm>
            <a:off x="7635240" y="3374136"/>
            <a:ext cx="105156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smtClean="0">
                <a:solidFill>
                  <a:srgbClr val="0F2942"/>
                </a:solidFill>
              </a:rPr>
              <a:t>771.2</a:t>
            </a:r>
            <a:endParaRPr lang="en-US" sz="680" dirty="0"/>
          </a:p>
        </p:txBody>
      </p:sp>
      <p:sp>
        <p:nvSpPr>
          <p:cNvPr id="36" name="Text 34"/>
          <p:cNvSpPr/>
          <p:nvPr/>
        </p:nvSpPr>
        <p:spPr>
          <a:xfrm>
            <a:off x="8686800" y="3374136"/>
            <a:ext cx="1143000" cy="310896"/>
          </a:xfrm>
          <a:prstGeom prst="rect">
            <a:avLst/>
          </a:prstGeom>
          <a:solidFill>
            <a:srgbClr val="FFEDEA"/>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HIGH</a:t>
            </a:r>
            <a:endParaRPr lang="en-US" sz="680" dirty="0"/>
          </a:p>
        </p:txBody>
      </p:sp>
      <p:sp>
        <p:nvSpPr>
          <p:cNvPr id="37" name="Shape 35"/>
          <p:cNvSpPr/>
          <p:nvPr/>
        </p:nvSpPr>
        <p:spPr>
          <a:xfrm>
            <a:off x="521208" y="4347972"/>
            <a:ext cx="3657600" cy="960120"/>
          </a:xfrm>
          <a:prstGeom prst="roundRect">
            <a:avLst>
              <a:gd name="adj" fmla="val 5714"/>
            </a:avLst>
          </a:prstGeom>
          <a:solidFill>
            <a:srgbClr val="FFF4DF"/>
          </a:solidFill>
          <a:ln w="8890">
            <a:solidFill>
              <a:srgbClr val="F2D5A7"/>
            </a:solidFill>
            <a:prstDash val="solid"/>
          </a:ln>
        </p:spPr>
      </p:sp>
      <p:sp>
        <p:nvSpPr>
          <p:cNvPr id="38" name="Text 36"/>
          <p:cNvSpPr/>
          <p:nvPr/>
        </p:nvSpPr>
        <p:spPr>
          <a:xfrm>
            <a:off x="594360" y="4446114"/>
            <a:ext cx="34015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Why yellow appears</a:t>
            </a:r>
            <a:endParaRPr lang="en-US" sz="930" dirty="0"/>
          </a:p>
        </p:txBody>
      </p:sp>
      <p:sp>
        <p:nvSpPr>
          <p:cNvPr id="39" name="Text 37"/>
          <p:cNvSpPr/>
          <p:nvPr/>
        </p:nvSpPr>
        <p:spPr>
          <a:xfrm>
            <a:off x="594360" y="4727510"/>
            <a:ext cx="3401568" cy="393192"/>
          </a:xfrm>
          <a:prstGeom prst="rect">
            <a:avLst/>
          </a:prstGeom>
          <a:noFill/>
          <a:ln/>
        </p:spPr>
        <p:txBody>
          <a:bodyPr wrap="square" lIns="0" tIns="0" rIns="0" bIns="0" rtlCol="0" anchor="ctr">
            <a:normAutofit/>
          </a:bodyPr>
          <a:lstStyle/>
          <a:p>
            <a:pPr marL="0" indent="0">
              <a:buNone/>
            </a:pPr>
            <a:r>
              <a:rPr lang="en-US" sz="780" dirty="0">
                <a:solidFill>
                  <a:srgbClr val="60758B"/>
                </a:solidFill>
              </a:rPr>
              <a:t>Yellow should be treated as an attention / warning color. It means the prediction crossed a configured threshold or needs operator review; it should not be interpreted as a system failure.</a:t>
            </a:r>
            <a:endParaRPr lang="en-US" sz="780" dirty="0"/>
          </a:p>
        </p:txBody>
      </p:sp>
      <p:sp>
        <p:nvSpPr>
          <p:cNvPr id="40" name="Shape 38"/>
          <p:cNvSpPr/>
          <p:nvPr/>
        </p:nvSpPr>
        <p:spPr>
          <a:xfrm>
            <a:off x="524629" y="4347972"/>
            <a:ext cx="36576" cy="960120"/>
          </a:xfrm>
          <a:prstGeom prst="rect">
            <a:avLst/>
          </a:prstGeom>
          <a:solidFill>
            <a:srgbClr val="F5A623"/>
          </a:solidFill>
          <a:ln w="12700">
            <a:solidFill>
              <a:srgbClr val="F5A623"/>
            </a:solidFill>
            <a:prstDash val="solid"/>
          </a:ln>
        </p:spPr>
      </p:sp>
      <p:sp>
        <p:nvSpPr>
          <p:cNvPr id="41" name="Shape 39"/>
          <p:cNvSpPr/>
          <p:nvPr/>
        </p:nvSpPr>
        <p:spPr>
          <a:xfrm>
            <a:off x="4663440" y="4343400"/>
            <a:ext cx="6355080" cy="964692"/>
          </a:xfrm>
          <a:prstGeom prst="roundRect">
            <a:avLst>
              <a:gd name="adj" fmla="val 6316"/>
            </a:avLst>
          </a:prstGeom>
          <a:solidFill>
            <a:srgbClr val="FFFFFF"/>
          </a:solidFill>
          <a:ln w="8890">
            <a:solidFill>
              <a:srgbClr val="D8E4EE"/>
            </a:solidFill>
            <a:prstDash val="solid"/>
          </a:ln>
        </p:spPr>
      </p:sp>
      <p:sp>
        <p:nvSpPr>
          <p:cNvPr id="42" name="Text 40"/>
          <p:cNvSpPr/>
          <p:nvPr/>
        </p:nvSpPr>
        <p:spPr>
          <a:xfrm>
            <a:off x="4791456" y="4480560"/>
            <a:ext cx="6099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Recommended GUI wording</a:t>
            </a:r>
            <a:endParaRPr lang="en-US" sz="930" dirty="0"/>
          </a:p>
        </p:txBody>
      </p:sp>
      <p:sp>
        <p:nvSpPr>
          <p:cNvPr id="43" name="Text 41"/>
          <p:cNvSpPr/>
          <p:nvPr/>
        </p:nvSpPr>
        <p:spPr>
          <a:xfrm>
            <a:off x="4791456" y="4800600"/>
            <a:ext cx="6099048" cy="301752"/>
          </a:xfrm>
          <a:prstGeom prst="rect">
            <a:avLst/>
          </a:prstGeom>
          <a:noFill/>
          <a:ln/>
        </p:spPr>
        <p:txBody>
          <a:bodyPr wrap="square" lIns="0" tIns="0" rIns="0" bIns="0" rtlCol="0" anchor="ctr">
            <a:normAutofit/>
          </a:bodyPr>
          <a:lstStyle/>
          <a:p>
            <a:pPr marL="0" indent="0">
              <a:buNone/>
            </a:pPr>
            <a:r>
              <a:rPr lang="en-US" sz="780" dirty="0">
                <a:solidFill>
                  <a:srgbClr val="60758B"/>
                </a:solidFill>
              </a:rPr>
              <a:t>Use neutral production language: Normal, Attention, Risk, Missing input, Model unavailable. Avoid confusing colors unless the legend is visible on the page.</a:t>
            </a:r>
            <a:endParaRPr lang="en-US" sz="780" dirty="0"/>
          </a:p>
        </p:txBody>
      </p:sp>
      <p:sp>
        <p:nvSpPr>
          <p:cNvPr id="44" name="Shape 42"/>
          <p:cNvSpPr/>
          <p:nvPr/>
        </p:nvSpPr>
        <p:spPr>
          <a:xfrm>
            <a:off x="4663439" y="4343400"/>
            <a:ext cx="45719" cy="964692"/>
          </a:xfrm>
          <a:prstGeom prst="rect">
            <a:avLst/>
          </a:prstGeom>
          <a:solidFill>
            <a:srgbClr val="18B996"/>
          </a:solidFill>
          <a:ln w="12700">
            <a:solidFill>
              <a:srgbClr val="18B996"/>
            </a:solidFill>
            <a:prstDash val="solid"/>
          </a:ln>
        </p:spPr>
      </p:sp>
      <p:sp>
        <p:nvSpPr>
          <p:cNvPr id="45" name="Text 43"/>
          <p:cNvSpPr/>
          <p:nvPr/>
        </p:nvSpPr>
        <p:spPr>
          <a:xfrm>
            <a:off x="630936" y="5927738"/>
            <a:ext cx="1508760" cy="182880"/>
          </a:xfrm>
          <a:prstGeom prst="roundRect">
            <a:avLst/>
          </a:prstGeom>
          <a:solidFill>
            <a:srgbClr val="1E90F3"/>
          </a:solidFill>
          <a:ln>
            <a:solidFill>
              <a:srgbClr val="1E90F3"/>
            </a:solidFill>
          </a:ln>
        </p:spPr>
        <p:txBody>
          <a:bodyPr wrap="square" lIns="127" tIns="127" rIns="127" bIns="127" rtlCol="0" anchor="ctr"/>
          <a:lstStyle/>
          <a:p>
            <a:pPr marL="0" indent="0" algn="ctr">
              <a:buNone/>
            </a:pPr>
            <a:r>
              <a:rPr lang="en-US" sz="650" b="1" dirty="0">
                <a:solidFill>
                  <a:srgbClr val="FFFFFF"/>
                </a:solidFill>
              </a:rPr>
              <a:t>OPERATOR-FACING</a:t>
            </a:r>
            <a:endParaRPr lang="en-US" sz="650" dirty="0"/>
          </a:p>
        </p:txBody>
      </p:sp>
      <p:sp>
        <p:nvSpPr>
          <p:cNvPr id="46" name="Text 44"/>
          <p:cNvSpPr/>
          <p:nvPr/>
        </p:nvSpPr>
        <p:spPr>
          <a:xfrm>
            <a:off x="2706624" y="5927738"/>
            <a:ext cx="1417320" cy="182880"/>
          </a:xfrm>
          <a:prstGeom prst="roundRect">
            <a:avLst/>
          </a:prstGeom>
          <a:solidFill>
            <a:srgbClr val="18B996"/>
          </a:solidFill>
          <a:ln>
            <a:solidFill>
              <a:srgbClr val="18B996"/>
            </a:solidFill>
          </a:ln>
        </p:spPr>
        <p:txBody>
          <a:bodyPr wrap="square" lIns="127" tIns="127" rIns="127" bIns="127" rtlCol="0" anchor="ctr"/>
          <a:lstStyle/>
          <a:p>
            <a:pPr marL="0" indent="0" algn="ctr">
              <a:buNone/>
            </a:pPr>
            <a:r>
              <a:rPr lang="en-US" sz="650" b="1" dirty="0">
                <a:solidFill>
                  <a:srgbClr val="FFFFFF"/>
                </a:solidFill>
              </a:rPr>
              <a:t>TRACEABLE OUTPUT</a:t>
            </a:r>
            <a:endParaRPr lang="en-US" sz="650" dirty="0"/>
          </a:p>
        </p:txBody>
      </p:sp>
      <p:sp>
        <p:nvSpPr>
          <p:cNvPr id="47" name="Text 45"/>
          <p:cNvSpPr/>
          <p:nvPr/>
        </p:nvSpPr>
        <p:spPr>
          <a:xfrm>
            <a:off x="4823460" y="5927738"/>
            <a:ext cx="1600200" cy="182880"/>
          </a:xfrm>
          <a:prstGeom prst="roundRect">
            <a:avLst/>
          </a:prstGeom>
          <a:solidFill>
            <a:srgbClr val="F5A623"/>
          </a:solidFill>
          <a:ln>
            <a:solidFill>
              <a:srgbClr val="F5A623"/>
            </a:solidFill>
          </a:ln>
        </p:spPr>
        <p:txBody>
          <a:bodyPr wrap="square" lIns="127" tIns="127" rIns="127" bIns="127" rtlCol="0" anchor="ctr"/>
          <a:lstStyle/>
          <a:p>
            <a:pPr marL="0" indent="0" algn="ctr">
              <a:buNone/>
            </a:pPr>
            <a:r>
              <a:rPr lang="en-US" sz="650" b="1" dirty="0">
                <a:solidFill>
                  <a:srgbClr val="FFFFFF"/>
                </a:solidFill>
              </a:rPr>
              <a:t>CLEAR STATUS LEGEND</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Prediction logging: the production traceability layer</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PostgreSQL logging turns predictions from one-off API results into auditable production records.</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11</a:t>
            </a:r>
            <a:endParaRPr lang="en-US" sz="550" dirty="0"/>
          </a:p>
        </p:txBody>
      </p:sp>
      <p:sp>
        <p:nvSpPr>
          <p:cNvPr id="7" name="Shape 5"/>
          <p:cNvSpPr/>
          <p:nvPr/>
        </p:nvSpPr>
        <p:spPr>
          <a:xfrm>
            <a:off x="2606040" y="2057400"/>
            <a:ext cx="731520" cy="0"/>
          </a:xfrm>
          <a:prstGeom prst="line">
            <a:avLst/>
          </a:prstGeom>
          <a:noFill/>
          <a:ln w="13970">
            <a:solidFill>
              <a:srgbClr val="AFC4D7"/>
            </a:solidFill>
            <a:prstDash val="solid"/>
            <a:headEnd type="none"/>
            <a:tailEnd type="triangle"/>
          </a:ln>
        </p:spPr>
      </p:sp>
      <p:sp>
        <p:nvSpPr>
          <p:cNvPr id="8" name="Shape 6"/>
          <p:cNvSpPr/>
          <p:nvPr/>
        </p:nvSpPr>
        <p:spPr>
          <a:xfrm>
            <a:off x="5303520" y="2057400"/>
            <a:ext cx="731520" cy="0"/>
          </a:xfrm>
          <a:prstGeom prst="line">
            <a:avLst/>
          </a:prstGeom>
          <a:noFill/>
          <a:ln w="13970">
            <a:solidFill>
              <a:srgbClr val="AFC4D7"/>
            </a:solidFill>
            <a:prstDash val="solid"/>
            <a:headEnd type="none"/>
            <a:tailEnd type="triangle"/>
          </a:ln>
        </p:spPr>
      </p:sp>
      <p:sp>
        <p:nvSpPr>
          <p:cNvPr id="9" name="Shape 7"/>
          <p:cNvSpPr/>
          <p:nvPr/>
        </p:nvSpPr>
        <p:spPr>
          <a:xfrm>
            <a:off x="8001000" y="2057400"/>
            <a:ext cx="731520" cy="0"/>
          </a:xfrm>
          <a:prstGeom prst="line">
            <a:avLst/>
          </a:prstGeom>
          <a:noFill/>
          <a:ln w="13970">
            <a:solidFill>
              <a:srgbClr val="AFC4D7"/>
            </a:solidFill>
            <a:prstDash val="solid"/>
            <a:headEnd type="none"/>
            <a:tailEnd type="triangle"/>
          </a:ln>
        </p:spPr>
      </p:sp>
      <p:sp>
        <p:nvSpPr>
          <p:cNvPr id="10" name="Shape 8"/>
          <p:cNvSpPr/>
          <p:nvPr/>
        </p:nvSpPr>
        <p:spPr>
          <a:xfrm>
            <a:off x="777240" y="1508760"/>
            <a:ext cx="1920240" cy="1097280"/>
          </a:xfrm>
          <a:prstGeom prst="roundRect">
            <a:avLst>
              <a:gd name="adj" fmla="val 5833"/>
            </a:avLst>
          </a:prstGeom>
          <a:solidFill>
            <a:srgbClr val="FFFFFF"/>
          </a:solidFill>
          <a:ln w="8890">
            <a:solidFill>
              <a:srgbClr val="C9D8E6"/>
            </a:solidFill>
            <a:prstDash val="solid"/>
          </a:ln>
        </p:spPr>
      </p:sp>
      <p:sp>
        <p:nvSpPr>
          <p:cNvPr id="11" name="Text 9"/>
          <p:cNvSpPr/>
          <p:nvPr/>
        </p:nvSpPr>
        <p:spPr>
          <a:xfrm>
            <a:off x="886968" y="1618488"/>
            <a:ext cx="17007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Prediction request</a:t>
            </a:r>
            <a:endParaRPr lang="en-US" sz="840" dirty="0"/>
          </a:p>
        </p:txBody>
      </p:sp>
      <p:sp>
        <p:nvSpPr>
          <p:cNvPr id="12" name="Text 10"/>
          <p:cNvSpPr/>
          <p:nvPr/>
        </p:nvSpPr>
        <p:spPr>
          <a:xfrm>
            <a:off x="886968" y="1947672"/>
            <a:ext cx="1700784" cy="548640"/>
          </a:xfrm>
          <a:prstGeom prst="rect">
            <a:avLst/>
          </a:prstGeom>
          <a:noFill/>
          <a:ln/>
        </p:spPr>
        <p:txBody>
          <a:bodyPr wrap="square" lIns="0" tIns="0" rIns="0" bIns="0" rtlCol="0" anchor="ctr">
            <a:normAutofit/>
          </a:bodyPr>
          <a:lstStyle/>
          <a:p>
            <a:pPr marL="0" indent="0">
              <a:buNone/>
            </a:pPr>
            <a:r>
              <a:rPr lang="en-US" sz="650" dirty="0">
                <a:solidFill>
                  <a:srgbClr val="60758B"/>
                </a:solidFill>
              </a:rPr>
              <a:t>features, target, source</a:t>
            </a:r>
            <a:endParaRPr lang="en-US" sz="650" dirty="0"/>
          </a:p>
        </p:txBody>
      </p:sp>
      <p:sp>
        <p:nvSpPr>
          <p:cNvPr id="13" name="Shape 11"/>
          <p:cNvSpPr/>
          <p:nvPr/>
        </p:nvSpPr>
        <p:spPr>
          <a:xfrm>
            <a:off x="777240" y="2560320"/>
            <a:ext cx="1920240" cy="45720"/>
          </a:xfrm>
          <a:prstGeom prst="rect">
            <a:avLst/>
          </a:prstGeom>
          <a:solidFill>
            <a:srgbClr val="1E90F3"/>
          </a:solidFill>
          <a:ln w="12700">
            <a:solidFill>
              <a:srgbClr val="1E90F3"/>
            </a:solidFill>
            <a:prstDash val="solid"/>
          </a:ln>
        </p:spPr>
      </p:sp>
      <p:sp>
        <p:nvSpPr>
          <p:cNvPr id="14" name="Shape 12"/>
          <p:cNvSpPr/>
          <p:nvPr/>
        </p:nvSpPr>
        <p:spPr>
          <a:xfrm>
            <a:off x="3474720" y="1508760"/>
            <a:ext cx="1920240" cy="1097280"/>
          </a:xfrm>
          <a:prstGeom prst="roundRect">
            <a:avLst>
              <a:gd name="adj" fmla="val 5833"/>
            </a:avLst>
          </a:prstGeom>
          <a:solidFill>
            <a:srgbClr val="FFFFFF"/>
          </a:solidFill>
          <a:ln w="8890">
            <a:solidFill>
              <a:srgbClr val="C9D8E6"/>
            </a:solidFill>
            <a:prstDash val="solid"/>
          </a:ln>
        </p:spPr>
      </p:sp>
      <p:sp>
        <p:nvSpPr>
          <p:cNvPr id="15" name="Text 13"/>
          <p:cNvSpPr/>
          <p:nvPr/>
        </p:nvSpPr>
        <p:spPr>
          <a:xfrm>
            <a:off x="3584448" y="1618488"/>
            <a:ext cx="17007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PredictionService response</a:t>
            </a:r>
            <a:endParaRPr lang="en-US" sz="840" dirty="0"/>
          </a:p>
        </p:txBody>
      </p:sp>
      <p:sp>
        <p:nvSpPr>
          <p:cNvPr id="16" name="Text 14"/>
          <p:cNvSpPr/>
          <p:nvPr/>
        </p:nvSpPr>
        <p:spPr>
          <a:xfrm>
            <a:off x="3584448" y="1947672"/>
            <a:ext cx="1700784" cy="548640"/>
          </a:xfrm>
          <a:prstGeom prst="rect">
            <a:avLst/>
          </a:prstGeom>
          <a:noFill/>
          <a:ln/>
        </p:spPr>
        <p:txBody>
          <a:bodyPr wrap="square" lIns="0" tIns="0" rIns="0" bIns="0" rtlCol="0" anchor="ctr">
            <a:normAutofit/>
          </a:bodyPr>
          <a:lstStyle/>
          <a:p>
            <a:pPr marL="0" indent="0">
              <a:buNone/>
            </a:pPr>
            <a:r>
              <a:rPr lang="en-US" sz="650" dirty="0">
                <a:solidFill>
                  <a:srgbClr val="60758B"/>
                </a:solidFill>
              </a:rPr>
              <a:t>prediction, model, algorithm, missing inputs</a:t>
            </a:r>
            <a:endParaRPr lang="en-US" sz="650" dirty="0"/>
          </a:p>
        </p:txBody>
      </p:sp>
      <p:sp>
        <p:nvSpPr>
          <p:cNvPr id="17" name="Shape 15"/>
          <p:cNvSpPr/>
          <p:nvPr/>
        </p:nvSpPr>
        <p:spPr>
          <a:xfrm>
            <a:off x="3474720" y="2560320"/>
            <a:ext cx="1920240" cy="45720"/>
          </a:xfrm>
          <a:prstGeom prst="rect">
            <a:avLst/>
          </a:prstGeom>
          <a:solidFill>
            <a:srgbClr val="1E90F3"/>
          </a:solidFill>
          <a:ln w="12700">
            <a:solidFill>
              <a:srgbClr val="1E90F3"/>
            </a:solidFill>
            <a:prstDash val="solid"/>
          </a:ln>
        </p:spPr>
      </p:sp>
      <p:sp>
        <p:nvSpPr>
          <p:cNvPr id="18" name="Shape 16"/>
          <p:cNvSpPr/>
          <p:nvPr/>
        </p:nvSpPr>
        <p:spPr>
          <a:xfrm>
            <a:off x="6172200" y="1508760"/>
            <a:ext cx="1920240" cy="1097280"/>
          </a:xfrm>
          <a:prstGeom prst="roundRect">
            <a:avLst>
              <a:gd name="adj" fmla="val 5833"/>
            </a:avLst>
          </a:prstGeom>
          <a:solidFill>
            <a:srgbClr val="FFF4DF"/>
          </a:solidFill>
          <a:ln w="8890">
            <a:solidFill>
              <a:srgbClr val="C9D8E6"/>
            </a:solidFill>
            <a:prstDash val="solid"/>
          </a:ln>
        </p:spPr>
      </p:sp>
      <p:sp>
        <p:nvSpPr>
          <p:cNvPr id="19" name="Text 17"/>
          <p:cNvSpPr/>
          <p:nvPr/>
        </p:nvSpPr>
        <p:spPr>
          <a:xfrm>
            <a:off x="6281928" y="1618488"/>
            <a:ext cx="17007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prediction_log table</a:t>
            </a:r>
            <a:endParaRPr lang="en-US" sz="840" dirty="0"/>
          </a:p>
        </p:txBody>
      </p:sp>
      <p:sp>
        <p:nvSpPr>
          <p:cNvPr id="20" name="Text 18"/>
          <p:cNvSpPr/>
          <p:nvPr/>
        </p:nvSpPr>
        <p:spPr>
          <a:xfrm>
            <a:off x="6281928" y="1947672"/>
            <a:ext cx="1700784" cy="548640"/>
          </a:xfrm>
          <a:prstGeom prst="rect">
            <a:avLst/>
          </a:prstGeom>
          <a:noFill/>
          <a:ln/>
        </p:spPr>
        <p:txBody>
          <a:bodyPr wrap="square" lIns="0" tIns="0" rIns="0" bIns="0" rtlCol="0" anchor="ctr">
            <a:normAutofit/>
          </a:bodyPr>
          <a:lstStyle/>
          <a:p>
            <a:pPr marL="0" indent="0">
              <a:buNone/>
            </a:pPr>
            <a:r>
              <a:rPr lang="en-US" sz="650" dirty="0">
                <a:solidFill>
                  <a:srgbClr val="60758B"/>
                </a:solidFill>
              </a:rPr>
              <a:t>created_at, order, board, target, prediction, model, status</a:t>
            </a:r>
            <a:endParaRPr lang="en-US" sz="650" dirty="0"/>
          </a:p>
        </p:txBody>
      </p:sp>
      <p:sp>
        <p:nvSpPr>
          <p:cNvPr id="21" name="Shape 19"/>
          <p:cNvSpPr/>
          <p:nvPr/>
        </p:nvSpPr>
        <p:spPr>
          <a:xfrm>
            <a:off x="6172200" y="2560320"/>
            <a:ext cx="1920240" cy="45720"/>
          </a:xfrm>
          <a:prstGeom prst="rect">
            <a:avLst/>
          </a:prstGeom>
          <a:solidFill>
            <a:srgbClr val="F5A623"/>
          </a:solidFill>
          <a:ln w="12700">
            <a:solidFill>
              <a:srgbClr val="F5A623"/>
            </a:solidFill>
            <a:prstDash val="solid"/>
          </a:ln>
        </p:spPr>
      </p:sp>
      <p:sp>
        <p:nvSpPr>
          <p:cNvPr id="22" name="Shape 20"/>
          <p:cNvSpPr/>
          <p:nvPr/>
        </p:nvSpPr>
        <p:spPr>
          <a:xfrm>
            <a:off x="8869680" y="1508760"/>
            <a:ext cx="1920240" cy="1097280"/>
          </a:xfrm>
          <a:prstGeom prst="roundRect">
            <a:avLst>
              <a:gd name="adj" fmla="val 5833"/>
            </a:avLst>
          </a:prstGeom>
          <a:solidFill>
            <a:srgbClr val="E9F8F2"/>
          </a:solidFill>
          <a:ln w="8890">
            <a:solidFill>
              <a:srgbClr val="C9D8E6"/>
            </a:solidFill>
            <a:prstDash val="solid"/>
          </a:ln>
        </p:spPr>
      </p:sp>
      <p:sp>
        <p:nvSpPr>
          <p:cNvPr id="23" name="Text 21"/>
          <p:cNvSpPr/>
          <p:nvPr/>
        </p:nvSpPr>
        <p:spPr>
          <a:xfrm>
            <a:off x="8979408" y="1618488"/>
            <a:ext cx="17007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Monitoring view</a:t>
            </a:r>
            <a:endParaRPr lang="en-US" sz="840" dirty="0"/>
          </a:p>
        </p:txBody>
      </p:sp>
      <p:sp>
        <p:nvSpPr>
          <p:cNvPr id="24" name="Text 22"/>
          <p:cNvSpPr/>
          <p:nvPr/>
        </p:nvSpPr>
        <p:spPr>
          <a:xfrm>
            <a:off x="8979408" y="1947672"/>
            <a:ext cx="1700784" cy="548640"/>
          </a:xfrm>
          <a:prstGeom prst="rect">
            <a:avLst/>
          </a:prstGeom>
          <a:noFill/>
          <a:ln/>
        </p:spPr>
        <p:txBody>
          <a:bodyPr wrap="square" lIns="0" tIns="0" rIns="0" bIns="0" rtlCol="0" anchor="ctr">
            <a:normAutofit/>
          </a:bodyPr>
          <a:lstStyle/>
          <a:p>
            <a:pPr marL="0" indent="0">
              <a:buNone/>
            </a:pPr>
            <a:r>
              <a:rPr lang="en-US" sz="650" dirty="0">
                <a:solidFill>
                  <a:srgbClr val="60758B"/>
                </a:solidFill>
              </a:rPr>
              <a:t>predicted vs actual, drift, trust</a:t>
            </a:r>
            <a:endParaRPr lang="en-US" sz="650" dirty="0"/>
          </a:p>
        </p:txBody>
      </p:sp>
      <p:sp>
        <p:nvSpPr>
          <p:cNvPr id="25" name="Shape 23"/>
          <p:cNvSpPr/>
          <p:nvPr/>
        </p:nvSpPr>
        <p:spPr>
          <a:xfrm>
            <a:off x="8869680" y="2560320"/>
            <a:ext cx="1920240" cy="45720"/>
          </a:xfrm>
          <a:prstGeom prst="rect">
            <a:avLst/>
          </a:prstGeom>
          <a:solidFill>
            <a:srgbClr val="16A05D"/>
          </a:solidFill>
          <a:ln w="12700">
            <a:solidFill>
              <a:srgbClr val="16A05D"/>
            </a:solidFill>
            <a:prstDash val="solid"/>
          </a:ln>
        </p:spPr>
      </p:sp>
      <p:sp>
        <p:nvSpPr>
          <p:cNvPr id="26" name="Shape 24"/>
          <p:cNvSpPr/>
          <p:nvPr/>
        </p:nvSpPr>
        <p:spPr>
          <a:xfrm>
            <a:off x="777240" y="3246120"/>
            <a:ext cx="5120640" cy="1874520"/>
          </a:xfrm>
          <a:prstGeom prst="roundRect">
            <a:avLst>
              <a:gd name="adj" fmla="val 2927"/>
            </a:avLst>
          </a:prstGeom>
          <a:solidFill>
            <a:srgbClr val="FFFFFF"/>
          </a:solidFill>
          <a:ln w="8890">
            <a:solidFill>
              <a:srgbClr val="D8E4EE"/>
            </a:solidFill>
            <a:prstDash val="solid"/>
          </a:ln>
        </p:spPr>
      </p:sp>
      <p:sp>
        <p:nvSpPr>
          <p:cNvPr id="27" name="Text 25"/>
          <p:cNvSpPr/>
          <p:nvPr/>
        </p:nvSpPr>
        <p:spPr>
          <a:xfrm>
            <a:off x="905256" y="3383280"/>
            <a:ext cx="486460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Why this matters</a:t>
            </a:r>
            <a:endParaRPr lang="en-US" sz="930" dirty="0"/>
          </a:p>
        </p:txBody>
      </p:sp>
      <p:sp>
        <p:nvSpPr>
          <p:cNvPr id="28" name="Text 26"/>
          <p:cNvSpPr/>
          <p:nvPr/>
        </p:nvSpPr>
        <p:spPr>
          <a:xfrm>
            <a:off x="905256" y="3703320"/>
            <a:ext cx="4864608" cy="1307592"/>
          </a:xfrm>
          <a:prstGeom prst="rect">
            <a:avLst/>
          </a:prstGeom>
          <a:noFill/>
          <a:ln/>
        </p:spPr>
        <p:txBody>
          <a:bodyPr wrap="square" lIns="0" tIns="0" rIns="0" bIns="0" rtlCol="0" anchor="ctr">
            <a:normAutofit/>
          </a:bodyPr>
          <a:lstStyle/>
          <a:p>
            <a:pPr marL="0" indent="0">
              <a:buNone/>
            </a:pPr>
            <a:r>
              <a:rPr lang="en-US" sz="780" dirty="0">
                <a:solidFill>
                  <a:srgbClr val="60758B"/>
                </a:solidFill>
              </a:rPr>
              <a:t>• Production AI needs traceability: which model predicted what, when, and from which input source.</a:t>
            </a:r>
            <a:endParaRPr lang="en-US" sz="780" dirty="0"/>
          </a:p>
          <a:p>
            <a:pPr marL="0" indent="0">
              <a:buNone/>
            </a:pPr>
            <a:r>
              <a:rPr lang="en-US" sz="780" dirty="0">
                <a:solidFill>
                  <a:srgbClr val="60758B"/>
                </a:solidFill>
              </a:rPr>
              <a:t>• Logs enable comparison against later lab results.</a:t>
            </a:r>
            <a:endParaRPr lang="en-US" sz="780" dirty="0"/>
          </a:p>
          <a:p>
            <a:pPr marL="0" indent="0">
              <a:buNone/>
            </a:pPr>
            <a:r>
              <a:rPr lang="en-US" sz="780" dirty="0">
                <a:solidFill>
                  <a:srgbClr val="60758B"/>
                </a:solidFill>
              </a:rPr>
              <a:t>• Logs enable model drift monitoring and retraining triggers.</a:t>
            </a:r>
            <a:endParaRPr lang="en-US" sz="780" dirty="0"/>
          </a:p>
          <a:p>
            <a:pPr marL="0" indent="0">
              <a:buNone/>
            </a:pPr>
            <a:r>
              <a:rPr lang="en-US" sz="780" dirty="0">
                <a:solidFill>
                  <a:srgbClr val="60758B"/>
                </a:solidFill>
              </a:rPr>
              <a:t>• Logs support management reporting and operator trust building.</a:t>
            </a:r>
            <a:endParaRPr lang="en-US" sz="780" dirty="0"/>
          </a:p>
        </p:txBody>
      </p:sp>
      <p:sp>
        <p:nvSpPr>
          <p:cNvPr id="29" name="Shape 27"/>
          <p:cNvSpPr/>
          <p:nvPr/>
        </p:nvSpPr>
        <p:spPr>
          <a:xfrm>
            <a:off x="777240" y="3246120"/>
            <a:ext cx="36576" cy="1874520"/>
          </a:xfrm>
          <a:prstGeom prst="rect">
            <a:avLst/>
          </a:prstGeom>
          <a:solidFill>
            <a:srgbClr val="16A05D"/>
          </a:solidFill>
          <a:ln w="12700">
            <a:solidFill>
              <a:srgbClr val="16A05D"/>
            </a:solidFill>
            <a:prstDash val="solid"/>
          </a:ln>
        </p:spPr>
      </p:sp>
      <p:sp>
        <p:nvSpPr>
          <p:cNvPr id="30" name="Shape 28"/>
          <p:cNvSpPr/>
          <p:nvPr/>
        </p:nvSpPr>
        <p:spPr>
          <a:xfrm>
            <a:off x="6263640" y="3246120"/>
            <a:ext cx="4800600" cy="914400"/>
          </a:xfrm>
          <a:prstGeom prst="roundRect">
            <a:avLst>
              <a:gd name="adj" fmla="val 6000"/>
            </a:avLst>
          </a:prstGeom>
          <a:solidFill>
            <a:srgbClr val="E9F4FF"/>
          </a:solidFill>
          <a:ln w="8890">
            <a:solidFill>
              <a:srgbClr val="D8E4EE"/>
            </a:solidFill>
            <a:prstDash val="solid"/>
          </a:ln>
        </p:spPr>
      </p:sp>
      <p:sp>
        <p:nvSpPr>
          <p:cNvPr id="31" name="Text 29"/>
          <p:cNvSpPr/>
          <p:nvPr/>
        </p:nvSpPr>
        <p:spPr>
          <a:xfrm>
            <a:off x="6391656" y="3383280"/>
            <a:ext cx="45445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Minimum useful fields</a:t>
            </a:r>
            <a:endParaRPr lang="en-US" sz="930" dirty="0"/>
          </a:p>
        </p:txBody>
      </p:sp>
      <p:sp>
        <p:nvSpPr>
          <p:cNvPr id="32" name="Text 30"/>
          <p:cNvSpPr/>
          <p:nvPr/>
        </p:nvSpPr>
        <p:spPr>
          <a:xfrm>
            <a:off x="6391656" y="3703320"/>
            <a:ext cx="4544568" cy="347472"/>
          </a:xfrm>
          <a:prstGeom prst="rect">
            <a:avLst/>
          </a:prstGeom>
          <a:noFill/>
          <a:ln/>
        </p:spPr>
        <p:txBody>
          <a:bodyPr wrap="square" lIns="0" tIns="0" rIns="0" bIns="0" rtlCol="0" anchor="ctr">
            <a:normAutofit/>
          </a:bodyPr>
          <a:lstStyle/>
          <a:p>
            <a:pPr marL="0" indent="0">
              <a:buNone/>
            </a:pPr>
            <a:r>
              <a:rPr lang="en-US" sz="780" dirty="0">
                <a:solidFill>
                  <a:srgbClr val="60758B"/>
                </a:solidFill>
              </a:rPr>
              <a:t>id, created_at, production_order, board_id, target_name, prediction_value, model_name, algorithm_name, source, status, missing_features_json, request_payload_json</a:t>
            </a:r>
            <a:endParaRPr lang="en-US" sz="780" dirty="0"/>
          </a:p>
        </p:txBody>
      </p:sp>
      <p:sp>
        <p:nvSpPr>
          <p:cNvPr id="33" name="Shape 31"/>
          <p:cNvSpPr/>
          <p:nvPr/>
        </p:nvSpPr>
        <p:spPr>
          <a:xfrm>
            <a:off x="6263640" y="3246120"/>
            <a:ext cx="36576" cy="914400"/>
          </a:xfrm>
          <a:prstGeom prst="rect">
            <a:avLst/>
          </a:prstGeom>
          <a:solidFill>
            <a:srgbClr val="1E90F3"/>
          </a:solidFill>
          <a:ln w="12700">
            <a:solidFill>
              <a:srgbClr val="1E90F3"/>
            </a:solidFill>
            <a:prstDash val="solid"/>
          </a:ln>
        </p:spPr>
      </p:sp>
      <p:sp>
        <p:nvSpPr>
          <p:cNvPr id="34" name="Shape 32"/>
          <p:cNvSpPr/>
          <p:nvPr/>
        </p:nvSpPr>
        <p:spPr>
          <a:xfrm>
            <a:off x="6263640" y="4480560"/>
            <a:ext cx="4800600" cy="914400"/>
          </a:xfrm>
          <a:prstGeom prst="roundRect">
            <a:avLst>
              <a:gd name="adj" fmla="val 6000"/>
            </a:avLst>
          </a:prstGeom>
          <a:solidFill>
            <a:srgbClr val="FFFFFF"/>
          </a:solidFill>
          <a:ln w="8890">
            <a:solidFill>
              <a:srgbClr val="D8E4EE"/>
            </a:solidFill>
            <a:prstDash val="solid"/>
          </a:ln>
        </p:spPr>
      </p:sp>
      <p:sp>
        <p:nvSpPr>
          <p:cNvPr id="35" name="Text 33"/>
          <p:cNvSpPr/>
          <p:nvPr/>
        </p:nvSpPr>
        <p:spPr>
          <a:xfrm>
            <a:off x="6391656" y="4617720"/>
            <a:ext cx="45445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Recommended next implementation</a:t>
            </a:r>
            <a:endParaRPr lang="en-US" sz="930" dirty="0"/>
          </a:p>
        </p:txBody>
      </p:sp>
      <p:sp>
        <p:nvSpPr>
          <p:cNvPr id="36" name="Text 34"/>
          <p:cNvSpPr/>
          <p:nvPr/>
        </p:nvSpPr>
        <p:spPr>
          <a:xfrm>
            <a:off x="6391656" y="4937760"/>
            <a:ext cx="4544568" cy="347472"/>
          </a:xfrm>
          <a:prstGeom prst="rect">
            <a:avLst/>
          </a:prstGeom>
          <a:noFill/>
          <a:ln/>
        </p:spPr>
        <p:txBody>
          <a:bodyPr wrap="square" lIns="0" tIns="0" rIns="0" bIns="0" rtlCol="0" anchor="ctr">
            <a:normAutofit/>
          </a:bodyPr>
          <a:lstStyle/>
          <a:p>
            <a:pPr marL="0" indent="0">
              <a:buNone/>
            </a:pPr>
            <a:r>
              <a:rPr lang="en-US" sz="780" dirty="0">
                <a:solidFill>
                  <a:srgbClr val="60758B"/>
                </a:solidFill>
              </a:rPr>
              <a:t>Keep the GUI simple: first read from prediction_log and render the last predictions. Later add filtering by target, order, time range, status and model version.</a:t>
            </a:r>
            <a:endParaRPr lang="en-US" sz="780" dirty="0"/>
          </a:p>
        </p:txBody>
      </p:sp>
      <p:sp>
        <p:nvSpPr>
          <p:cNvPr id="37" name="Shape 35"/>
          <p:cNvSpPr/>
          <p:nvPr/>
        </p:nvSpPr>
        <p:spPr>
          <a:xfrm>
            <a:off x="6263640" y="4480560"/>
            <a:ext cx="36576" cy="914400"/>
          </a:xfrm>
          <a:prstGeom prst="rect">
            <a:avLst/>
          </a:prstGeom>
          <a:solidFill>
            <a:srgbClr val="18B996"/>
          </a:solidFill>
          <a:ln w="12700">
            <a:solidFill>
              <a:srgbClr val="18B996"/>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Current maturity: proven value vs. production hardening</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This framing avoids overselling while still showing clear progress.</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12</a:t>
            </a:r>
            <a:endParaRPr lang="en-US" sz="550" dirty="0"/>
          </a:p>
        </p:txBody>
      </p:sp>
      <p:sp>
        <p:nvSpPr>
          <p:cNvPr id="7" name="Shape 5"/>
          <p:cNvSpPr/>
          <p:nvPr/>
        </p:nvSpPr>
        <p:spPr>
          <a:xfrm>
            <a:off x="685800" y="1143000"/>
            <a:ext cx="5257800" cy="2926080"/>
          </a:xfrm>
          <a:prstGeom prst="roundRect">
            <a:avLst>
              <a:gd name="adj" fmla="val 1875"/>
            </a:avLst>
          </a:prstGeom>
          <a:solidFill>
            <a:srgbClr val="FFFFFF"/>
          </a:solidFill>
          <a:ln w="8890">
            <a:solidFill>
              <a:srgbClr val="D8E4EE"/>
            </a:solidFill>
            <a:prstDash val="solid"/>
          </a:ln>
        </p:spPr>
      </p:sp>
      <p:sp>
        <p:nvSpPr>
          <p:cNvPr id="8" name="Text 6"/>
          <p:cNvSpPr/>
          <p:nvPr/>
        </p:nvSpPr>
        <p:spPr>
          <a:xfrm>
            <a:off x="813816" y="1280160"/>
            <a:ext cx="50017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Already proven</a:t>
            </a:r>
            <a:endParaRPr lang="en-US" sz="930" dirty="0"/>
          </a:p>
        </p:txBody>
      </p:sp>
      <p:sp>
        <p:nvSpPr>
          <p:cNvPr id="9" name="Text 7"/>
          <p:cNvSpPr/>
          <p:nvPr/>
        </p:nvSpPr>
        <p:spPr>
          <a:xfrm>
            <a:off x="813816" y="1600200"/>
            <a:ext cx="5001768" cy="2359152"/>
          </a:xfrm>
          <a:prstGeom prst="rect">
            <a:avLst/>
          </a:prstGeom>
          <a:noFill/>
          <a:ln/>
        </p:spPr>
        <p:txBody>
          <a:bodyPr wrap="square" lIns="0" tIns="0" rIns="0" bIns="0" rtlCol="0" anchor="ctr">
            <a:normAutofit/>
          </a:bodyPr>
          <a:lstStyle/>
          <a:p>
            <a:pPr marL="0" indent="0">
              <a:buNone/>
            </a:pPr>
            <a:r>
              <a:rPr lang="en-US" sz="780" dirty="0">
                <a:solidFill>
                  <a:srgbClr val="60758B"/>
                </a:solidFill>
              </a:rPr>
              <a:t>• Repeatable MDF1 data preparation and engineered-feature generation exist</a:t>
            </a:r>
            <a:r>
              <a:rPr lang="en-US" sz="780" dirty="0" smtClean="0">
                <a:solidFill>
                  <a:srgbClr val="60758B"/>
                </a:solidFill>
              </a:rPr>
              <a:t>.</a:t>
            </a:r>
          </a:p>
          <a:p>
            <a:pPr marL="0" indent="0">
              <a:buNone/>
            </a:pPr>
            <a:endParaRPr lang="en-US" sz="780" dirty="0"/>
          </a:p>
          <a:p>
            <a:pPr marL="0" indent="0">
              <a:buNone/>
            </a:pPr>
            <a:r>
              <a:rPr lang="en-US" sz="780" dirty="0">
                <a:solidFill>
                  <a:srgbClr val="60758B"/>
                </a:solidFill>
              </a:rPr>
              <a:t>• Five quality targets have been benchmarked with consistent RF baselines</a:t>
            </a:r>
            <a:r>
              <a:rPr lang="en-US" sz="780" dirty="0" smtClean="0">
                <a:solidFill>
                  <a:srgbClr val="60758B"/>
                </a:solidFill>
              </a:rPr>
              <a:t>.</a:t>
            </a:r>
          </a:p>
          <a:p>
            <a:pPr marL="0" indent="0">
              <a:buNone/>
            </a:pPr>
            <a:endParaRPr lang="en-US" sz="780" dirty="0"/>
          </a:p>
          <a:p>
            <a:pPr marL="0" indent="0">
              <a:buNone/>
            </a:pPr>
            <a:r>
              <a:rPr lang="en-US" sz="780" dirty="0">
                <a:solidFill>
                  <a:srgbClr val="60758B"/>
                </a:solidFill>
              </a:rPr>
              <a:t>• Artifact bundles are structured and readable by a separate </a:t>
            </a:r>
            <a:r>
              <a:rPr lang="en-US" sz="780" dirty="0" smtClean="0">
                <a:solidFill>
                  <a:srgbClr val="60758B"/>
                </a:solidFill>
              </a:rPr>
              <a:t>Prediction Service.</a:t>
            </a:r>
          </a:p>
          <a:p>
            <a:pPr marL="0" indent="0">
              <a:buNone/>
            </a:pPr>
            <a:endParaRPr lang="en-US" sz="780" dirty="0"/>
          </a:p>
          <a:p>
            <a:pPr marL="0" indent="0">
              <a:buNone/>
            </a:pPr>
            <a:r>
              <a:rPr lang="en-US" sz="780" dirty="0">
                <a:solidFill>
                  <a:srgbClr val="60758B"/>
                </a:solidFill>
              </a:rPr>
              <a:t>• /predict and /predict-all patterns support live predictions</a:t>
            </a:r>
            <a:r>
              <a:rPr lang="en-US" sz="780" dirty="0" smtClean="0">
                <a:solidFill>
                  <a:srgbClr val="60758B"/>
                </a:solidFill>
              </a:rPr>
              <a:t>.</a:t>
            </a:r>
          </a:p>
          <a:p>
            <a:pPr marL="0" indent="0">
              <a:buNone/>
            </a:pPr>
            <a:endParaRPr lang="en-US" sz="780" dirty="0"/>
          </a:p>
          <a:p>
            <a:pPr marL="0" indent="0">
              <a:buNone/>
            </a:pPr>
            <a:r>
              <a:rPr lang="en-US" sz="780" dirty="0">
                <a:solidFill>
                  <a:srgbClr val="60758B"/>
                </a:solidFill>
              </a:rPr>
              <a:t>• Density and bending have named RF bundles in the served state</a:t>
            </a:r>
            <a:r>
              <a:rPr lang="en-US" sz="780" dirty="0" smtClean="0">
                <a:solidFill>
                  <a:srgbClr val="60758B"/>
                </a:solidFill>
              </a:rPr>
              <a:t>.</a:t>
            </a:r>
          </a:p>
          <a:p>
            <a:pPr marL="0" indent="0">
              <a:buNone/>
            </a:pPr>
            <a:endParaRPr lang="en-US" sz="780" dirty="0"/>
          </a:p>
          <a:p>
            <a:pPr marL="0" indent="0">
              <a:buNone/>
            </a:pPr>
            <a:r>
              <a:rPr lang="en-US" sz="780" dirty="0">
                <a:solidFill>
                  <a:srgbClr val="60758B"/>
                </a:solidFill>
              </a:rPr>
              <a:t>• </a:t>
            </a:r>
            <a:r>
              <a:rPr lang="en-US" sz="780" dirty="0" smtClean="0">
                <a:solidFill>
                  <a:srgbClr val="60758B"/>
                </a:solidFill>
              </a:rPr>
              <a:t>GUI Service </a:t>
            </a:r>
            <a:r>
              <a:rPr lang="en-US" sz="780" dirty="0">
                <a:solidFill>
                  <a:srgbClr val="60758B"/>
                </a:solidFill>
              </a:rPr>
              <a:t>direction now makes the system visible to operators.</a:t>
            </a:r>
            <a:endParaRPr lang="en-US" sz="780" dirty="0"/>
          </a:p>
        </p:txBody>
      </p:sp>
      <p:sp>
        <p:nvSpPr>
          <p:cNvPr id="10" name="Shape 8"/>
          <p:cNvSpPr/>
          <p:nvPr/>
        </p:nvSpPr>
        <p:spPr>
          <a:xfrm>
            <a:off x="685800" y="1143000"/>
            <a:ext cx="36576" cy="2926080"/>
          </a:xfrm>
          <a:prstGeom prst="rect">
            <a:avLst/>
          </a:prstGeom>
          <a:solidFill>
            <a:srgbClr val="16A05D"/>
          </a:solidFill>
          <a:ln w="12700">
            <a:solidFill>
              <a:srgbClr val="16A05D"/>
            </a:solidFill>
            <a:prstDash val="solid"/>
          </a:ln>
        </p:spPr>
      </p:sp>
      <p:sp>
        <p:nvSpPr>
          <p:cNvPr id="11" name="Shape 9"/>
          <p:cNvSpPr/>
          <p:nvPr/>
        </p:nvSpPr>
        <p:spPr>
          <a:xfrm>
            <a:off x="6263640" y="1143000"/>
            <a:ext cx="5257800" cy="2926080"/>
          </a:xfrm>
          <a:prstGeom prst="roundRect">
            <a:avLst>
              <a:gd name="adj" fmla="val 1875"/>
            </a:avLst>
          </a:prstGeom>
          <a:solidFill>
            <a:srgbClr val="FFFFFF"/>
          </a:solidFill>
          <a:ln w="8890">
            <a:solidFill>
              <a:srgbClr val="D8E4EE"/>
            </a:solidFill>
            <a:prstDash val="solid"/>
          </a:ln>
        </p:spPr>
      </p:sp>
      <p:sp>
        <p:nvSpPr>
          <p:cNvPr id="12" name="Text 10"/>
          <p:cNvSpPr/>
          <p:nvPr/>
        </p:nvSpPr>
        <p:spPr>
          <a:xfrm>
            <a:off x="6391656" y="1280160"/>
            <a:ext cx="50017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Still open before production confidence</a:t>
            </a:r>
            <a:endParaRPr lang="en-US" sz="930" dirty="0"/>
          </a:p>
        </p:txBody>
      </p:sp>
      <p:sp>
        <p:nvSpPr>
          <p:cNvPr id="13" name="Text 11"/>
          <p:cNvSpPr/>
          <p:nvPr/>
        </p:nvSpPr>
        <p:spPr>
          <a:xfrm>
            <a:off x="6391656" y="1600200"/>
            <a:ext cx="5001768" cy="2359152"/>
          </a:xfrm>
          <a:prstGeom prst="rect">
            <a:avLst/>
          </a:prstGeom>
          <a:noFill/>
          <a:ln/>
        </p:spPr>
        <p:txBody>
          <a:bodyPr wrap="square" lIns="0" tIns="0" rIns="0" bIns="0" rtlCol="0" anchor="ctr">
            <a:normAutofit/>
          </a:bodyPr>
          <a:lstStyle/>
          <a:p>
            <a:pPr marL="0" indent="0">
              <a:buNone/>
            </a:pPr>
            <a:r>
              <a:rPr lang="en-US" sz="780" dirty="0">
                <a:solidFill>
                  <a:srgbClr val="60758B"/>
                </a:solidFill>
              </a:rPr>
              <a:t>• Unify one official metric view across deck, comparison sheets and served bundles</a:t>
            </a:r>
            <a:r>
              <a:rPr lang="en-US" sz="780" dirty="0" smtClean="0">
                <a:solidFill>
                  <a:srgbClr val="60758B"/>
                </a:solidFill>
              </a:rPr>
              <a:t>.</a:t>
            </a:r>
          </a:p>
          <a:p>
            <a:pPr marL="0" indent="0">
              <a:buNone/>
            </a:pPr>
            <a:endParaRPr lang="en-US" sz="780" dirty="0"/>
          </a:p>
          <a:p>
            <a:pPr marL="0" indent="0">
              <a:buNone/>
            </a:pPr>
            <a:r>
              <a:rPr lang="en-US" sz="780" dirty="0">
                <a:solidFill>
                  <a:srgbClr val="60758B"/>
                </a:solidFill>
              </a:rPr>
              <a:t>• Harden API behavior: default model handling, error messages, packaging / Docker</a:t>
            </a:r>
            <a:r>
              <a:rPr lang="en-US" sz="780" dirty="0" smtClean="0">
                <a:solidFill>
                  <a:srgbClr val="60758B"/>
                </a:solidFill>
              </a:rPr>
              <a:t>.</a:t>
            </a:r>
          </a:p>
          <a:p>
            <a:pPr marL="0" indent="0">
              <a:buNone/>
            </a:pPr>
            <a:endParaRPr lang="en-US" sz="780" dirty="0"/>
          </a:p>
          <a:p>
            <a:pPr marL="0" indent="0">
              <a:buNone/>
            </a:pPr>
            <a:r>
              <a:rPr lang="en-US" sz="780" dirty="0">
                <a:solidFill>
                  <a:srgbClr val="60758B"/>
                </a:solidFill>
              </a:rPr>
              <a:t>• Improve repo / release hygiene around unstaged changes and artifact promotion flow</a:t>
            </a:r>
            <a:r>
              <a:rPr lang="en-US" sz="780" dirty="0" smtClean="0">
                <a:solidFill>
                  <a:srgbClr val="60758B"/>
                </a:solidFill>
              </a:rPr>
              <a:t>.</a:t>
            </a:r>
          </a:p>
          <a:p>
            <a:pPr marL="0" indent="0">
              <a:buNone/>
            </a:pPr>
            <a:endParaRPr lang="en-US" sz="780" dirty="0"/>
          </a:p>
          <a:p>
            <a:pPr marL="0" indent="0">
              <a:buNone/>
            </a:pPr>
            <a:r>
              <a:rPr lang="en-US" sz="780" dirty="0">
                <a:solidFill>
                  <a:srgbClr val="60758B"/>
                </a:solidFill>
              </a:rPr>
              <a:t>• Add prediction logging, monitoring and drift control</a:t>
            </a:r>
            <a:r>
              <a:rPr lang="en-US" sz="780" dirty="0" smtClean="0">
                <a:solidFill>
                  <a:srgbClr val="60758B"/>
                </a:solidFill>
              </a:rPr>
              <a:t>.</a:t>
            </a:r>
          </a:p>
          <a:p>
            <a:pPr marL="0" indent="0">
              <a:buNone/>
            </a:pPr>
            <a:endParaRPr lang="en-US" sz="780" dirty="0"/>
          </a:p>
          <a:p>
            <a:pPr marL="0" indent="0">
              <a:buNone/>
            </a:pPr>
            <a:r>
              <a:rPr lang="en-US" sz="780" dirty="0">
                <a:solidFill>
                  <a:srgbClr val="60758B"/>
                </a:solidFill>
              </a:rPr>
              <a:t>• Collect more data to strengthen generalization, especially lower-ranked targets</a:t>
            </a:r>
            <a:r>
              <a:rPr lang="en-US" sz="780" dirty="0" smtClean="0">
                <a:solidFill>
                  <a:srgbClr val="60758B"/>
                </a:solidFill>
              </a:rPr>
              <a:t>.</a:t>
            </a:r>
          </a:p>
          <a:p>
            <a:pPr marL="0" indent="0">
              <a:buNone/>
            </a:pPr>
            <a:endParaRPr lang="en-US" sz="780" dirty="0"/>
          </a:p>
          <a:p>
            <a:pPr marL="0" indent="0">
              <a:buNone/>
            </a:pPr>
            <a:r>
              <a:rPr lang="en-US" sz="780" dirty="0">
                <a:solidFill>
                  <a:srgbClr val="60758B"/>
                </a:solidFill>
              </a:rPr>
              <a:t>• Stabilize GUI configuration, status legend and DB-backed history.</a:t>
            </a:r>
            <a:endParaRPr lang="en-US" sz="780" dirty="0"/>
          </a:p>
        </p:txBody>
      </p:sp>
      <p:sp>
        <p:nvSpPr>
          <p:cNvPr id="14" name="Shape 12"/>
          <p:cNvSpPr/>
          <p:nvPr/>
        </p:nvSpPr>
        <p:spPr>
          <a:xfrm>
            <a:off x="6263640" y="1143000"/>
            <a:ext cx="36576" cy="2926080"/>
          </a:xfrm>
          <a:prstGeom prst="rect">
            <a:avLst/>
          </a:prstGeom>
          <a:solidFill>
            <a:srgbClr val="F5A623"/>
          </a:solidFill>
          <a:ln w="12700">
            <a:solidFill>
              <a:srgbClr val="F5A623"/>
            </a:solidFill>
            <a:prstDash val="solid"/>
          </a:ln>
        </p:spPr>
      </p:sp>
      <p:sp>
        <p:nvSpPr>
          <p:cNvPr id="15" name="Text 13"/>
          <p:cNvSpPr/>
          <p:nvPr/>
        </p:nvSpPr>
        <p:spPr>
          <a:xfrm>
            <a:off x="822960" y="4709160"/>
            <a:ext cx="1143000" cy="182880"/>
          </a:xfrm>
          <a:prstGeom prst="roundRect">
            <a:avLst/>
          </a:prstGeom>
          <a:solidFill>
            <a:srgbClr val="16A05D"/>
          </a:solidFill>
          <a:ln>
            <a:solidFill>
              <a:srgbClr val="16A05D"/>
            </a:solidFill>
          </a:ln>
        </p:spPr>
        <p:txBody>
          <a:bodyPr wrap="square" lIns="127" tIns="127" rIns="127" bIns="127" rtlCol="0" anchor="ctr"/>
          <a:lstStyle/>
          <a:p>
            <a:pPr marL="0" indent="0" algn="ctr">
              <a:buNone/>
            </a:pPr>
            <a:r>
              <a:rPr lang="en-US" sz="650" b="1" dirty="0">
                <a:solidFill>
                  <a:srgbClr val="FFFFFF"/>
                </a:solidFill>
              </a:rPr>
              <a:t>PROVEN VALUE</a:t>
            </a:r>
            <a:endParaRPr lang="en-US" sz="650" dirty="0"/>
          </a:p>
        </p:txBody>
      </p:sp>
      <p:sp>
        <p:nvSpPr>
          <p:cNvPr id="16" name="Text 14"/>
          <p:cNvSpPr/>
          <p:nvPr/>
        </p:nvSpPr>
        <p:spPr>
          <a:xfrm>
            <a:off x="2194560" y="4709160"/>
            <a:ext cx="1828800" cy="182880"/>
          </a:xfrm>
          <a:prstGeom prst="roundRect">
            <a:avLst/>
          </a:prstGeom>
          <a:solidFill>
            <a:srgbClr val="F5A623"/>
          </a:solidFill>
          <a:ln>
            <a:solidFill>
              <a:srgbClr val="F5A623"/>
            </a:solidFill>
          </a:ln>
        </p:spPr>
        <p:txBody>
          <a:bodyPr wrap="square" lIns="127" tIns="127" rIns="127" bIns="127" rtlCol="0" anchor="ctr"/>
          <a:lstStyle/>
          <a:p>
            <a:pPr marL="0" indent="0" algn="ctr">
              <a:buNone/>
            </a:pPr>
            <a:r>
              <a:rPr lang="en-US" sz="650" b="1" dirty="0">
                <a:solidFill>
                  <a:srgbClr val="FFFFFF"/>
                </a:solidFill>
              </a:rPr>
              <a:t>NOT YET FULL PRODUCTION</a:t>
            </a:r>
            <a:endParaRPr lang="en-US" sz="650" dirty="0"/>
          </a:p>
        </p:txBody>
      </p:sp>
      <p:sp>
        <p:nvSpPr>
          <p:cNvPr id="17" name="Shape 15"/>
          <p:cNvSpPr/>
          <p:nvPr/>
        </p:nvSpPr>
        <p:spPr>
          <a:xfrm>
            <a:off x="640080" y="5257800"/>
            <a:ext cx="10789920" cy="594360"/>
          </a:xfrm>
          <a:prstGeom prst="roundRect">
            <a:avLst>
              <a:gd name="adj" fmla="val 9231"/>
            </a:avLst>
          </a:prstGeom>
          <a:solidFill>
            <a:srgbClr val="FFFFFF"/>
          </a:solidFill>
          <a:ln w="8890">
            <a:solidFill>
              <a:srgbClr val="D8E4EE"/>
            </a:solidFill>
            <a:prstDash val="solid"/>
          </a:ln>
        </p:spPr>
      </p:sp>
      <p:sp>
        <p:nvSpPr>
          <p:cNvPr id="18" name="Text 16"/>
          <p:cNvSpPr/>
          <p:nvPr/>
        </p:nvSpPr>
        <p:spPr>
          <a:xfrm>
            <a:off x="813816" y="5358384"/>
            <a:ext cx="10533888" cy="118872"/>
          </a:xfrm>
          <a:prstGeom prst="rect">
            <a:avLst/>
          </a:prstGeom>
          <a:noFill/>
          <a:ln/>
        </p:spPr>
        <p:txBody>
          <a:bodyPr wrap="square" lIns="0" tIns="0" rIns="0" bIns="0" rtlCol="0" anchor="ctr">
            <a:normAutofit/>
          </a:bodyPr>
          <a:lstStyle/>
          <a:p>
            <a:pPr marL="0" indent="0">
              <a:buNone/>
            </a:pPr>
            <a:r>
              <a:rPr lang="en-US" sz="720" b="1" dirty="0">
                <a:solidFill>
                  <a:srgbClr val="0F2942"/>
                </a:solidFill>
              </a:rPr>
              <a:t>Recommended positioning</a:t>
            </a:r>
            <a:endParaRPr lang="en-US" sz="720" dirty="0"/>
          </a:p>
        </p:txBody>
      </p:sp>
      <p:sp>
        <p:nvSpPr>
          <p:cNvPr id="19" name="Text 17"/>
          <p:cNvSpPr/>
          <p:nvPr/>
        </p:nvSpPr>
        <p:spPr>
          <a:xfrm>
            <a:off x="813816" y="5541264"/>
            <a:ext cx="10533888" cy="201168"/>
          </a:xfrm>
          <a:prstGeom prst="rect">
            <a:avLst/>
          </a:prstGeom>
          <a:noFill/>
          <a:ln/>
        </p:spPr>
        <p:txBody>
          <a:bodyPr wrap="square" lIns="0" tIns="0" rIns="0" bIns="0" rtlCol="0" anchor="ctr">
            <a:normAutofit/>
          </a:bodyPr>
          <a:lstStyle/>
          <a:p>
            <a:pPr marL="0" indent="0">
              <a:buNone/>
            </a:pPr>
            <a:r>
              <a:rPr lang="en-US" sz="610" dirty="0">
                <a:solidFill>
                  <a:srgbClr val="60758B"/>
                </a:solidFill>
              </a:rPr>
              <a:t>“</a:t>
            </a:r>
            <a:r>
              <a:rPr lang="en-US" sz="900" dirty="0">
                <a:solidFill>
                  <a:srgbClr val="60758B"/>
                </a:solidFill>
              </a:rPr>
              <a:t>Operational ML system with verified inference and a cockpit/logging path — not yet a fully hardened production platform.”</a:t>
            </a:r>
            <a:endParaRPr lang="en-US" sz="900" dirty="0"/>
          </a:p>
        </p:txBody>
      </p:sp>
      <p:sp>
        <p:nvSpPr>
          <p:cNvPr id="20" name="Shape 18"/>
          <p:cNvSpPr/>
          <p:nvPr/>
        </p:nvSpPr>
        <p:spPr>
          <a:xfrm>
            <a:off x="685800" y="5257800"/>
            <a:ext cx="36576" cy="594360"/>
          </a:xfrm>
          <a:prstGeom prst="rect">
            <a:avLst/>
          </a:prstGeom>
          <a:solidFill>
            <a:srgbClr val="1E90F3"/>
          </a:solidFill>
          <a:ln w="12700">
            <a:solidFill>
              <a:srgbClr val="1E90F3"/>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Recommended roadmap from current state</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A pragmatic rollout path connects the technical status to operations and management value.</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13</a:t>
            </a:r>
            <a:endParaRPr lang="en-US" sz="550" dirty="0"/>
          </a:p>
        </p:txBody>
      </p:sp>
      <p:sp>
        <p:nvSpPr>
          <p:cNvPr id="7" name="Shape 5"/>
          <p:cNvSpPr/>
          <p:nvPr/>
        </p:nvSpPr>
        <p:spPr>
          <a:xfrm>
            <a:off x="685800" y="1234440"/>
            <a:ext cx="2926080" cy="3017520"/>
          </a:xfrm>
          <a:prstGeom prst="roundRect">
            <a:avLst>
              <a:gd name="adj" fmla="val 1875"/>
            </a:avLst>
          </a:prstGeom>
          <a:solidFill>
            <a:srgbClr val="E9F8F2"/>
          </a:solidFill>
          <a:ln w="8890">
            <a:solidFill>
              <a:srgbClr val="D8E4EE"/>
            </a:solidFill>
            <a:prstDash val="solid"/>
          </a:ln>
        </p:spPr>
      </p:sp>
      <p:sp>
        <p:nvSpPr>
          <p:cNvPr id="8" name="Text 6"/>
          <p:cNvSpPr/>
          <p:nvPr/>
        </p:nvSpPr>
        <p:spPr>
          <a:xfrm>
            <a:off x="813816" y="1371600"/>
            <a:ext cx="2670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Phase 1 — validate in operations</a:t>
            </a:r>
            <a:endParaRPr lang="en-US" sz="930" dirty="0"/>
          </a:p>
        </p:txBody>
      </p:sp>
      <p:sp>
        <p:nvSpPr>
          <p:cNvPr id="9" name="Text 7"/>
          <p:cNvSpPr/>
          <p:nvPr/>
        </p:nvSpPr>
        <p:spPr>
          <a:xfrm>
            <a:off x="813816" y="1691640"/>
            <a:ext cx="2670048" cy="2450592"/>
          </a:xfrm>
          <a:prstGeom prst="rect">
            <a:avLst/>
          </a:prstGeom>
          <a:noFill/>
          <a:ln/>
        </p:spPr>
        <p:txBody>
          <a:bodyPr wrap="square" lIns="0" tIns="0" rIns="0" bIns="0" rtlCol="0" anchor="ctr">
            <a:normAutofit/>
          </a:bodyPr>
          <a:lstStyle/>
          <a:p>
            <a:pPr marL="0" indent="0">
              <a:buNone/>
            </a:pPr>
            <a:r>
              <a:rPr lang="en-US" sz="780" dirty="0">
                <a:solidFill>
                  <a:srgbClr val="60758B"/>
                </a:solidFill>
              </a:rPr>
              <a:t>• Freeze official metric reference.</a:t>
            </a:r>
            <a:endParaRPr lang="en-US" sz="780" dirty="0"/>
          </a:p>
          <a:p>
            <a:pPr marL="0" indent="0">
              <a:buNone/>
            </a:pPr>
            <a:r>
              <a:rPr lang="en-US" sz="780" dirty="0">
                <a:solidFill>
                  <a:srgbClr val="60758B"/>
                </a:solidFill>
              </a:rPr>
              <a:t>• Use density + surface soundness as proof cases.</a:t>
            </a:r>
            <a:endParaRPr lang="en-US" sz="780" dirty="0"/>
          </a:p>
          <a:p>
            <a:pPr marL="0" indent="0">
              <a:buNone/>
            </a:pPr>
            <a:r>
              <a:rPr lang="en-US" sz="780" dirty="0">
                <a:solidFill>
                  <a:srgbClr val="60758B"/>
                </a:solidFill>
              </a:rPr>
              <a:t>• Compare prediction vs actual lab result.</a:t>
            </a:r>
            <a:endParaRPr lang="en-US" sz="780" dirty="0"/>
          </a:p>
          <a:p>
            <a:pPr marL="0" indent="0">
              <a:buNone/>
            </a:pPr>
            <a:r>
              <a:rPr lang="en-US" sz="780" dirty="0">
                <a:solidFill>
                  <a:srgbClr val="60758B"/>
                </a:solidFill>
              </a:rPr>
              <a:t>• Review thresholds with MDF1 experts.</a:t>
            </a:r>
            <a:endParaRPr lang="en-US" sz="780" dirty="0"/>
          </a:p>
        </p:txBody>
      </p:sp>
      <p:sp>
        <p:nvSpPr>
          <p:cNvPr id="10" name="Shape 8"/>
          <p:cNvSpPr/>
          <p:nvPr/>
        </p:nvSpPr>
        <p:spPr>
          <a:xfrm>
            <a:off x="685800" y="1234440"/>
            <a:ext cx="36576" cy="3017520"/>
          </a:xfrm>
          <a:prstGeom prst="rect">
            <a:avLst/>
          </a:prstGeom>
          <a:solidFill>
            <a:srgbClr val="16A05D"/>
          </a:solidFill>
          <a:ln w="12700">
            <a:solidFill>
              <a:srgbClr val="16A05D"/>
            </a:solidFill>
            <a:prstDash val="solid"/>
          </a:ln>
        </p:spPr>
      </p:sp>
      <p:sp>
        <p:nvSpPr>
          <p:cNvPr id="11" name="Shape 9"/>
          <p:cNvSpPr/>
          <p:nvPr/>
        </p:nvSpPr>
        <p:spPr>
          <a:xfrm>
            <a:off x="4160520" y="1234440"/>
            <a:ext cx="2926080" cy="3017520"/>
          </a:xfrm>
          <a:prstGeom prst="roundRect">
            <a:avLst>
              <a:gd name="adj" fmla="val 1875"/>
            </a:avLst>
          </a:prstGeom>
          <a:solidFill>
            <a:srgbClr val="E9F4FF"/>
          </a:solidFill>
          <a:ln w="8890">
            <a:solidFill>
              <a:srgbClr val="D8E4EE"/>
            </a:solidFill>
            <a:prstDash val="solid"/>
          </a:ln>
        </p:spPr>
      </p:sp>
      <p:sp>
        <p:nvSpPr>
          <p:cNvPr id="12" name="Text 10"/>
          <p:cNvSpPr/>
          <p:nvPr/>
        </p:nvSpPr>
        <p:spPr>
          <a:xfrm>
            <a:off x="4288536" y="1371600"/>
            <a:ext cx="2670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Phase 2 — harden the cockpit</a:t>
            </a:r>
            <a:endParaRPr lang="en-US" sz="930" dirty="0"/>
          </a:p>
        </p:txBody>
      </p:sp>
      <p:sp>
        <p:nvSpPr>
          <p:cNvPr id="13" name="Text 11"/>
          <p:cNvSpPr/>
          <p:nvPr/>
        </p:nvSpPr>
        <p:spPr>
          <a:xfrm>
            <a:off x="4288536" y="1691640"/>
            <a:ext cx="2670048" cy="2450592"/>
          </a:xfrm>
          <a:prstGeom prst="rect">
            <a:avLst/>
          </a:prstGeom>
          <a:noFill/>
          <a:ln/>
        </p:spPr>
        <p:txBody>
          <a:bodyPr wrap="square" lIns="0" tIns="0" rIns="0" bIns="0" rtlCol="0" anchor="ctr">
            <a:normAutofit/>
          </a:bodyPr>
          <a:lstStyle/>
          <a:p>
            <a:pPr marL="0" indent="0">
              <a:buNone/>
            </a:pPr>
            <a:r>
              <a:rPr lang="en-US" sz="780" dirty="0">
                <a:solidFill>
                  <a:srgbClr val="60758B"/>
                </a:solidFill>
              </a:rPr>
              <a:t>• Connect GUI to DB-backed prediction history.</a:t>
            </a:r>
            <a:endParaRPr lang="en-US" sz="780" dirty="0"/>
          </a:p>
          <a:p>
            <a:pPr marL="0" indent="0">
              <a:buNone/>
            </a:pPr>
            <a:r>
              <a:rPr lang="en-US" sz="780" dirty="0">
                <a:solidFill>
                  <a:srgbClr val="60758B"/>
                </a:solidFill>
              </a:rPr>
              <a:t>• Standardize status colors and legends.</a:t>
            </a:r>
            <a:endParaRPr lang="en-US" sz="780" dirty="0"/>
          </a:p>
          <a:p>
            <a:pPr marL="0" indent="0">
              <a:buNone/>
            </a:pPr>
            <a:r>
              <a:rPr lang="en-US" sz="780" dirty="0">
                <a:solidFill>
                  <a:srgbClr val="60758B"/>
                </a:solidFill>
              </a:rPr>
              <a:t>• Add filters by target, order, board and date.</a:t>
            </a:r>
            <a:endParaRPr lang="en-US" sz="780" dirty="0"/>
          </a:p>
          <a:p>
            <a:pPr marL="0" indent="0">
              <a:buNone/>
            </a:pPr>
            <a:r>
              <a:rPr lang="en-US" sz="780" dirty="0">
                <a:solidFill>
                  <a:srgbClr val="60758B"/>
                </a:solidFill>
              </a:rPr>
              <a:t>• Improve error handling and missing-feature visibility.</a:t>
            </a:r>
            <a:endParaRPr lang="en-US" sz="780" dirty="0"/>
          </a:p>
        </p:txBody>
      </p:sp>
      <p:sp>
        <p:nvSpPr>
          <p:cNvPr id="14" name="Shape 12"/>
          <p:cNvSpPr/>
          <p:nvPr/>
        </p:nvSpPr>
        <p:spPr>
          <a:xfrm>
            <a:off x="4160520" y="1234440"/>
            <a:ext cx="36576" cy="3017520"/>
          </a:xfrm>
          <a:prstGeom prst="rect">
            <a:avLst/>
          </a:prstGeom>
          <a:solidFill>
            <a:srgbClr val="1E90F3"/>
          </a:solidFill>
          <a:ln w="12700">
            <a:solidFill>
              <a:srgbClr val="1E90F3"/>
            </a:solidFill>
            <a:prstDash val="solid"/>
          </a:ln>
        </p:spPr>
      </p:sp>
      <p:sp>
        <p:nvSpPr>
          <p:cNvPr id="15" name="Shape 13"/>
          <p:cNvSpPr/>
          <p:nvPr/>
        </p:nvSpPr>
        <p:spPr>
          <a:xfrm>
            <a:off x="7635240" y="1234440"/>
            <a:ext cx="2926080" cy="3017520"/>
          </a:xfrm>
          <a:prstGeom prst="roundRect">
            <a:avLst>
              <a:gd name="adj" fmla="val 1875"/>
            </a:avLst>
          </a:prstGeom>
          <a:solidFill>
            <a:srgbClr val="FFF4DF"/>
          </a:solidFill>
          <a:ln w="8890">
            <a:solidFill>
              <a:srgbClr val="D8E4EE"/>
            </a:solidFill>
            <a:prstDash val="solid"/>
          </a:ln>
        </p:spPr>
      </p:sp>
      <p:sp>
        <p:nvSpPr>
          <p:cNvPr id="16" name="Text 14"/>
          <p:cNvSpPr/>
          <p:nvPr/>
        </p:nvSpPr>
        <p:spPr>
          <a:xfrm>
            <a:off x="7763256" y="1371600"/>
            <a:ext cx="2670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Phase 3 — industrialize</a:t>
            </a:r>
            <a:endParaRPr lang="en-US" sz="930" dirty="0"/>
          </a:p>
        </p:txBody>
      </p:sp>
      <p:sp>
        <p:nvSpPr>
          <p:cNvPr id="17" name="Text 15"/>
          <p:cNvSpPr/>
          <p:nvPr/>
        </p:nvSpPr>
        <p:spPr>
          <a:xfrm>
            <a:off x="7763256" y="1691640"/>
            <a:ext cx="2670048" cy="2450592"/>
          </a:xfrm>
          <a:prstGeom prst="rect">
            <a:avLst/>
          </a:prstGeom>
          <a:noFill/>
          <a:ln/>
        </p:spPr>
        <p:txBody>
          <a:bodyPr wrap="square" lIns="0" tIns="0" rIns="0" bIns="0" rtlCol="0" anchor="ctr">
            <a:normAutofit/>
          </a:bodyPr>
          <a:lstStyle/>
          <a:p>
            <a:pPr marL="0" indent="0">
              <a:buNone/>
            </a:pPr>
            <a:r>
              <a:rPr lang="en-US" sz="780" dirty="0">
                <a:solidFill>
                  <a:srgbClr val="60758B"/>
                </a:solidFill>
              </a:rPr>
              <a:t>• Package services and define release flow.</a:t>
            </a:r>
            <a:endParaRPr lang="en-US" sz="780" dirty="0"/>
          </a:p>
          <a:p>
            <a:pPr marL="0" indent="0">
              <a:buNone/>
            </a:pPr>
            <a:r>
              <a:rPr lang="en-US" sz="780" dirty="0">
                <a:solidFill>
                  <a:srgbClr val="60758B"/>
                </a:solidFill>
              </a:rPr>
              <a:t>• Add monitoring: drift, stability, latency.</a:t>
            </a:r>
            <a:endParaRPr lang="en-US" sz="780" dirty="0"/>
          </a:p>
          <a:p>
            <a:pPr marL="0" indent="0">
              <a:buNone/>
            </a:pPr>
            <a:r>
              <a:rPr lang="en-US" sz="780" dirty="0">
                <a:solidFill>
                  <a:srgbClr val="60758B"/>
                </a:solidFill>
              </a:rPr>
              <a:t>• Set retraining cadence and model promotion rules.</a:t>
            </a:r>
            <a:endParaRPr lang="en-US" sz="780" dirty="0"/>
          </a:p>
          <a:p>
            <a:pPr marL="0" indent="0">
              <a:buNone/>
            </a:pPr>
            <a:r>
              <a:rPr lang="en-US" sz="780" dirty="0">
                <a:solidFill>
                  <a:srgbClr val="60758B"/>
                </a:solidFill>
              </a:rPr>
              <a:t>• Prepare MES / Lira integration path.</a:t>
            </a:r>
            <a:endParaRPr lang="en-US" sz="780" dirty="0"/>
          </a:p>
        </p:txBody>
      </p:sp>
      <p:sp>
        <p:nvSpPr>
          <p:cNvPr id="18" name="Shape 16"/>
          <p:cNvSpPr/>
          <p:nvPr/>
        </p:nvSpPr>
        <p:spPr>
          <a:xfrm>
            <a:off x="7635240" y="1234440"/>
            <a:ext cx="36576" cy="3017520"/>
          </a:xfrm>
          <a:prstGeom prst="rect">
            <a:avLst/>
          </a:prstGeom>
          <a:solidFill>
            <a:srgbClr val="F5A623"/>
          </a:solidFill>
          <a:ln w="12700">
            <a:solidFill>
              <a:srgbClr val="F5A623"/>
            </a:solidFill>
            <a:prstDash val="solid"/>
          </a:ln>
        </p:spPr>
      </p:sp>
      <p:sp>
        <p:nvSpPr>
          <p:cNvPr id="19" name="Shape 17"/>
          <p:cNvSpPr/>
          <p:nvPr/>
        </p:nvSpPr>
        <p:spPr>
          <a:xfrm>
            <a:off x="3611880" y="2743200"/>
            <a:ext cx="502920" cy="0"/>
          </a:xfrm>
          <a:prstGeom prst="line">
            <a:avLst/>
          </a:prstGeom>
          <a:noFill/>
          <a:ln w="13970">
            <a:solidFill>
              <a:srgbClr val="AFC4D7"/>
            </a:solidFill>
            <a:prstDash val="solid"/>
            <a:headEnd type="none"/>
            <a:tailEnd type="triangle"/>
          </a:ln>
        </p:spPr>
      </p:sp>
      <p:sp>
        <p:nvSpPr>
          <p:cNvPr id="20" name="Shape 18"/>
          <p:cNvSpPr/>
          <p:nvPr/>
        </p:nvSpPr>
        <p:spPr>
          <a:xfrm>
            <a:off x="7086600" y="2743200"/>
            <a:ext cx="502920" cy="0"/>
          </a:xfrm>
          <a:prstGeom prst="line">
            <a:avLst/>
          </a:prstGeom>
          <a:noFill/>
          <a:ln w="13970">
            <a:solidFill>
              <a:srgbClr val="AFC4D7"/>
            </a:solidFill>
            <a:prstDash val="solid"/>
            <a:headEnd type="none"/>
            <a:tailEnd type="triangle"/>
          </a:ln>
        </p:spPr>
      </p:sp>
      <p:sp>
        <p:nvSpPr>
          <p:cNvPr id="21" name="Shape 19"/>
          <p:cNvSpPr/>
          <p:nvPr/>
        </p:nvSpPr>
        <p:spPr>
          <a:xfrm>
            <a:off x="685800" y="4892040"/>
            <a:ext cx="10789920" cy="777240"/>
          </a:xfrm>
          <a:prstGeom prst="roundRect">
            <a:avLst>
              <a:gd name="adj" fmla="val 7059"/>
            </a:avLst>
          </a:prstGeom>
          <a:solidFill>
            <a:srgbClr val="FFFFFF"/>
          </a:solidFill>
          <a:ln w="8890">
            <a:solidFill>
              <a:srgbClr val="D8E4EE"/>
            </a:solidFill>
            <a:prstDash val="solid"/>
          </a:ln>
        </p:spPr>
      </p:sp>
      <p:sp>
        <p:nvSpPr>
          <p:cNvPr id="22" name="Text 20"/>
          <p:cNvSpPr/>
          <p:nvPr/>
        </p:nvSpPr>
        <p:spPr>
          <a:xfrm>
            <a:off x="813816" y="5029200"/>
            <a:ext cx="105338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Recommended closing message</a:t>
            </a:r>
            <a:endParaRPr lang="en-US" sz="930" dirty="0"/>
          </a:p>
        </p:txBody>
      </p:sp>
      <p:sp>
        <p:nvSpPr>
          <p:cNvPr id="23" name="Text 21"/>
          <p:cNvSpPr/>
          <p:nvPr/>
        </p:nvSpPr>
        <p:spPr>
          <a:xfrm>
            <a:off x="813816" y="5349240"/>
            <a:ext cx="10533888" cy="210312"/>
          </a:xfrm>
          <a:prstGeom prst="rect">
            <a:avLst/>
          </a:prstGeom>
          <a:noFill/>
          <a:ln/>
        </p:spPr>
        <p:txBody>
          <a:bodyPr wrap="square" lIns="0" tIns="0" rIns="0" bIns="0" rtlCol="0" anchor="ctr">
            <a:normAutofit/>
          </a:bodyPr>
          <a:lstStyle/>
          <a:p>
            <a:pPr marL="0" indent="0">
              <a:buNone/>
            </a:pPr>
            <a:r>
              <a:rPr lang="en-US" sz="780" dirty="0">
                <a:solidFill>
                  <a:srgbClr val="60758B"/>
                </a:solidFill>
              </a:rPr>
              <a:t>MDF1 ML has already crossed the most important threshold: it is no longer just a modeling exercise. It is now an end-to-end ML system with credible baselines, governed artifacts, verified inference, and a clear path to a production cockpit.</a:t>
            </a:r>
            <a:endParaRPr lang="en-US" sz="780" dirty="0"/>
          </a:p>
        </p:txBody>
      </p:sp>
      <p:sp>
        <p:nvSpPr>
          <p:cNvPr id="24" name="Shape 22"/>
          <p:cNvSpPr/>
          <p:nvPr/>
        </p:nvSpPr>
        <p:spPr>
          <a:xfrm>
            <a:off x="685800" y="4892040"/>
            <a:ext cx="36576" cy="777240"/>
          </a:xfrm>
          <a:prstGeom prst="rect">
            <a:avLst/>
          </a:prstGeom>
          <a:solidFill>
            <a:srgbClr val="18B996"/>
          </a:solidFill>
          <a:ln w="12700">
            <a:solidFill>
              <a:srgbClr val="18B996"/>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Decision asks for the next review</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next management conversation should convert technical progress into a controlled rollout plan.</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14</a:t>
            </a:r>
            <a:endParaRPr lang="en-US" sz="550" dirty="0"/>
          </a:p>
        </p:txBody>
      </p:sp>
      <p:sp>
        <p:nvSpPr>
          <p:cNvPr id="7" name="Shape 5"/>
          <p:cNvSpPr/>
          <p:nvPr/>
        </p:nvSpPr>
        <p:spPr>
          <a:xfrm>
            <a:off x="685800" y="1234440"/>
            <a:ext cx="3383280" cy="1325880"/>
          </a:xfrm>
          <a:prstGeom prst="roundRect">
            <a:avLst>
              <a:gd name="adj" fmla="val 4138"/>
            </a:avLst>
          </a:prstGeom>
          <a:solidFill>
            <a:srgbClr val="FFFFFF"/>
          </a:solidFill>
          <a:ln w="8890">
            <a:solidFill>
              <a:srgbClr val="D8E4EE"/>
            </a:solidFill>
            <a:prstDash val="solid"/>
          </a:ln>
        </p:spPr>
      </p:sp>
      <p:sp>
        <p:nvSpPr>
          <p:cNvPr id="8" name="Text 6"/>
          <p:cNvSpPr/>
          <p:nvPr/>
        </p:nvSpPr>
        <p:spPr>
          <a:xfrm>
            <a:off x="813816" y="1371600"/>
            <a:ext cx="31272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1. Agree official metric reference</a:t>
            </a:r>
            <a:endParaRPr lang="en-US" sz="930" dirty="0"/>
          </a:p>
        </p:txBody>
      </p:sp>
      <p:sp>
        <p:nvSpPr>
          <p:cNvPr id="9" name="Text 7"/>
          <p:cNvSpPr/>
          <p:nvPr/>
        </p:nvSpPr>
        <p:spPr>
          <a:xfrm>
            <a:off x="813816" y="1691640"/>
            <a:ext cx="3127248" cy="758952"/>
          </a:xfrm>
          <a:prstGeom prst="rect">
            <a:avLst/>
          </a:prstGeom>
          <a:noFill/>
          <a:ln/>
        </p:spPr>
        <p:txBody>
          <a:bodyPr wrap="square" lIns="0" tIns="0" rIns="0" bIns="0" rtlCol="0" anchor="ctr">
            <a:normAutofit/>
          </a:bodyPr>
          <a:lstStyle/>
          <a:p>
            <a:pPr marL="0" indent="0">
              <a:buNone/>
            </a:pPr>
            <a:r>
              <a:rPr lang="en-US" sz="780" dirty="0">
                <a:solidFill>
                  <a:srgbClr val="60758B"/>
                </a:solidFill>
              </a:rPr>
              <a:t>Select one authoritative result table for reporting: served bundles vs broader five-target baseline. This prevents inconsistent R² numbers across materials.</a:t>
            </a:r>
            <a:endParaRPr lang="en-US" sz="780" dirty="0"/>
          </a:p>
        </p:txBody>
      </p:sp>
      <p:sp>
        <p:nvSpPr>
          <p:cNvPr id="10" name="Shape 8"/>
          <p:cNvSpPr/>
          <p:nvPr/>
        </p:nvSpPr>
        <p:spPr>
          <a:xfrm>
            <a:off x="685800" y="1234440"/>
            <a:ext cx="36576" cy="1325880"/>
          </a:xfrm>
          <a:prstGeom prst="rect">
            <a:avLst/>
          </a:prstGeom>
          <a:solidFill>
            <a:srgbClr val="1E90F3"/>
          </a:solidFill>
          <a:ln w="12700">
            <a:solidFill>
              <a:srgbClr val="1E90F3"/>
            </a:solidFill>
            <a:prstDash val="solid"/>
          </a:ln>
        </p:spPr>
      </p:sp>
      <p:sp>
        <p:nvSpPr>
          <p:cNvPr id="11" name="Shape 9"/>
          <p:cNvSpPr/>
          <p:nvPr/>
        </p:nvSpPr>
        <p:spPr>
          <a:xfrm>
            <a:off x="4434840" y="1234440"/>
            <a:ext cx="3383280" cy="1325880"/>
          </a:xfrm>
          <a:prstGeom prst="roundRect">
            <a:avLst>
              <a:gd name="adj" fmla="val 4138"/>
            </a:avLst>
          </a:prstGeom>
          <a:solidFill>
            <a:srgbClr val="FFFFFF"/>
          </a:solidFill>
          <a:ln w="8890">
            <a:solidFill>
              <a:srgbClr val="D8E4EE"/>
            </a:solidFill>
            <a:prstDash val="solid"/>
          </a:ln>
        </p:spPr>
      </p:sp>
      <p:sp>
        <p:nvSpPr>
          <p:cNvPr id="12" name="Text 10"/>
          <p:cNvSpPr/>
          <p:nvPr/>
        </p:nvSpPr>
        <p:spPr>
          <a:xfrm>
            <a:off x="4562856" y="1371600"/>
            <a:ext cx="31272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2. Approve pilot scope</a:t>
            </a:r>
            <a:endParaRPr lang="en-US" sz="930" dirty="0"/>
          </a:p>
        </p:txBody>
      </p:sp>
      <p:sp>
        <p:nvSpPr>
          <p:cNvPr id="13" name="Text 11"/>
          <p:cNvSpPr/>
          <p:nvPr/>
        </p:nvSpPr>
        <p:spPr>
          <a:xfrm>
            <a:off x="4562856" y="1691640"/>
            <a:ext cx="3127248" cy="758952"/>
          </a:xfrm>
          <a:prstGeom prst="rect">
            <a:avLst/>
          </a:prstGeom>
          <a:noFill/>
          <a:ln/>
        </p:spPr>
        <p:txBody>
          <a:bodyPr wrap="square" lIns="0" tIns="0" rIns="0" bIns="0" rtlCol="0" anchor="ctr">
            <a:normAutofit/>
          </a:bodyPr>
          <a:lstStyle/>
          <a:p>
            <a:pPr marL="0" indent="0">
              <a:buNone/>
            </a:pPr>
            <a:r>
              <a:rPr lang="en-US" sz="780" dirty="0">
                <a:solidFill>
                  <a:srgbClr val="60758B"/>
                </a:solidFill>
              </a:rPr>
              <a:t>Start with density and surface soundness / bending depending on business priority, then track prediction vs actual lab values.</a:t>
            </a:r>
            <a:endParaRPr lang="en-US" sz="780" dirty="0"/>
          </a:p>
        </p:txBody>
      </p:sp>
      <p:sp>
        <p:nvSpPr>
          <p:cNvPr id="14" name="Shape 12"/>
          <p:cNvSpPr/>
          <p:nvPr/>
        </p:nvSpPr>
        <p:spPr>
          <a:xfrm>
            <a:off x="4434840" y="1234440"/>
            <a:ext cx="36576" cy="1325880"/>
          </a:xfrm>
          <a:prstGeom prst="rect">
            <a:avLst/>
          </a:prstGeom>
          <a:solidFill>
            <a:srgbClr val="16A05D"/>
          </a:solidFill>
          <a:ln w="12700">
            <a:solidFill>
              <a:srgbClr val="16A05D"/>
            </a:solidFill>
            <a:prstDash val="solid"/>
          </a:ln>
        </p:spPr>
      </p:sp>
      <p:sp>
        <p:nvSpPr>
          <p:cNvPr id="15" name="Shape 13"/>
          <p:cNvSpPr/>
          <p:nvPr/>
        </p:nvSpPr>
        <p:spPr>
          <a:xfrm>
            <a:off x="8183880" y="1234440"/>
            <a:ext cx="2834640" cy="1325880"/>
          </a:xfrm>
          <a:prstGeom prst="roundRect">
            <a:avLst>
              <a:gd name="adj" fmla="val 4138"/>
            </a:avLst>
          </a:prstGeom>
          <a:solidFill>
            <a:srgbClr val="FFFFFF"/>
          </a:solidFill>
          <a:ln w="8890">
            <a:solidFill>
              <a:srgbClr val="D8E4EE"/>
            </a:solidFill>
            <a:prstDash val="solid"/>
          </a:ln>
        </p:spPr>
      </p:sp>
      <p:sp>
        <p:nvSpPr>
          <p:cNvPr id="16" name="Text 14"/>
          <p:cNvSpPr/>
          <p:nvPr/>
        </p:nvSpPr>
        <p:spPr>
          <a:xfrm>
            <a:off x="8311896" y="1371600"/>
            <a:ext cx="257860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3. Approve logging + cockpit hardening</a:t>
            </a:r>
            <a:endParaRPr lang="en-US" sz="930" dirty="0"/>
          </a:p>
        </p:txBody>
      </p:sp>
      <p:sp>
        <p:nvSpPr>
          <p:cNvPr id="17" name="Text 15"/>
          <p:cNvSpPr/>
          <p:nvPr/>
        </p:nvSpPr>
        <p:spPr>
          <a:xfrm>
            <a:off x="8311896" y="1691640"/>
            <a:ext cx="2578608" cy="758952"/>
          </a:xfrm>
          <a:prstGeom prst="rect">
            <a:avLst/>
          </a:prstGeom>
          <a:noFill/>
          <a:ln/>
        </p:spPr>
        <p:txBody>
          <a:bodyPr wrap="square" lIns="0" tIns="0" rIns="0" bIns="0" rtlCol="0" anchor="ctr">
            <a:normAutofit/>
          </a:bodyPr>
          <a:lstStyle/>
          <a:p>
            <a:pPr marL="0" indent="0">
              <a:buNone/>
            </a:pPr>
            <a:r>
              <a:rPr lang="en-US" sz="780" dirty="0">
                <a:solidFill>
                  <a:srgbClr val="60758B"/>
                </a:solidFill>
              </a:rPr>
              <a:t>Make PostgreSQL prediction_log and GUI history table the next delivery focus before MES automation.</a:t>
            </a:r>
            <a:endParaRPr lang="en-US" sz="780" dirty="0"/>
          </a:p>
        </p:txBody>
      </p:sp>
      <p:sp>
        <p:nvSpPr>
          <p:cNvPr id="18" name="Shape 16"/>
          <p:cNvSpPr/>
          <p:nvPr/>
        </p:nvSpPr>
        <p:spPr>
          <a:xfrm>
            <a:off x="8183880" y="1234440"/>
            <a:ext cx="36576" cy="1325880"/>
          </a:xfrm>
          <a:prstGeom prst="rect">
            <a:avLst/>
          </a:prstGeom>
          <a:solidFill>
            <a:srgbClr val="F5A623"/>
          </a:solidFill>
          <a:ln w="12700">
            <a:solidFill>
              <a:srgbClr val="F5A623"/>
            </a:solidFill>
            <a:prstDash val="solid"/>
          </a:ln>
        </p:spPr>
      </p:sp>
      <p:sp>
        <p:nvSpPr>
          <p:cNvPr id="19" name="Shape 17"/>
          <p:cNvSpPr/>
          <p:nvPr/>
        </p:nvSpPr>
        <p:spPr>
          <a:xfrm>
            <a:off x="685800" y="3063240"/>
            <a:ext cx="5212080" cy="1920240"/>
          </a:xfrm>
          <a:prstGeom prst="roundRect">
            <a:avLst>
              <a:gd name="adj" fmla="val 2857"/>
            </a:avLst>
          </a:prstGeom>
          <a:solidFill>
            <a:srgbClr val="E9F4FF"/>
          </a:solidFill>
          <a:ln w="8890">
            <a:solidFill>
              <a:srgbClr val="D8E4EE"/>
            </a:solidFill>
            <a:prstDash val="solid"/>
          </a:ln>
        </p:spPr>
      </p:sp>
      <p:sp>
        <p:nvSpPr>
          <p:cNvPr id="20" name="Text 18"/>
          <p:cNvSpPr/>
          <p:nvPr/>
        </p:nvSpPr>
        <p:spPr>
          <a:xfrm>
            <a:off x="813816" y="3200400"/>
            <a:ext cx="4956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Practical next sprint</a:t>
            </a:r>
            <a:endParaRPr lang="en-US" sz="930" dirty="0"/>
          </a:p>
        </p:txBody>
      </p:sp>
      <p:sp>
        <p:nvSpPr>
          <p:cNvPr id="21" name="Text 19"/>
          <p:cNvSpPr/>
          <p:nvPr/>
        </p:nvSpPr>
        <p:spPr>
          <a:xfrm>
            <a:off x="813816" y="3520440"/>
            <a:ext cx="4956048" cy="1353312"/>
          </a:xfrm>
          <a:prstGeom prst="rect">
            <a:avLst/>
          </a:prstGeom>
          <a:noFill/>
          <a:ln/>
        </p:spPr>
        <p:txBody>
          <a:bodyPr wrap="square" lIns="0" tIns="0" rIns="0" bIns="0" rtlCol="0" anchor="ctr">
            <a:normAutofit/>
          </a:bodyPr>
          <a:lstStyle/>
          <a:p>
            <a:pPr marL="0" indent="0">
              <a:buNone/>
            </a:pPr>
            <a:r>
              <a:rPr lang="en-US" sz="780" dirty="0">
                <a:solidFill>
                  <a:srgbClr val="60758B"/>
                </a:solidFill>
              </a:rPr>
              <a:t>• Finalize status-threshold rules and color legend.</a:t>
            </a:r>
            <a:endParaRPr lang="en-US" sz="780" dirty="0"/>
          </a:p>
          <a:p>
            <a:pPr marL="0" indent="0">
              <a:buNone/>
            </a:pPr>
            <a:r>
              <a:rPr lang="en-US" sz="780" dirty="0">
                <a:solidFill>
                  <a:srgbClr val="60758B"/>
                </a:solidFill>
              </a:rPr>
              <a:t>• Persist every prediction to PostgreSQL.</a:t>
            </a:r>
            <a:endParaRPr lang="en-US" sz="780" dirty="0"/>
          </a:p>
          <a:p>
            <a:pPr marL="0" indent="0">
              <a:buNone/>
            </a:pPr>
            <a:r>
              <a:rPr lang="en-US" sz="780" dirty="0">
                <a:solidFill>
                  <a:srgbClr val="60758B"/>
                </a:solidFill>
              </a:rPr>
              <a:t>• Add filters and clearer history view in GUIService.</a:t>
            </a:r>
            <a:endParaRPr lang="en-US" sz="780" dirty="0"/>
          </a:p>
          <a:p>
            <a:pPr marL="0" indent="0">
              <a:buNone/>
            </a:pPr>
            <a:r>
              <a:rPr lang="en-US" sz="780" dirty="0">
                <a:solidFill>
                  <a:srgbClr val="60758B"/>
                </a:solidFill>
              </a:rPr>
              <a:t>• Prepare a demo script: input → prediction → history → follow-up actual.</a:t>
            </a:r>
            <a:endParaRPr lang="en-US" sz="780" dirty="0"/>
          </a:p>
        </p:txBody>
      </p:sp>
      <p:sp>
        <p:nvSpPr>
          <p:cNvPr id="22" name="Shape 20"/>
          <p:cNvSpPr/>
          <p:nvPr/>
        </p:nvSpPr>
        <p:spPr>
          <a:xfrm>
            <a:off x="685800" y="3063240"/>
            <a:ext cx="36576" cy="1920240"/>
          </a:xfrm>
          <a:prstGeom prst="rect">
            <a:avLst/>
          </a:prstGeom>
          <a:solidFill>
            <a:srgbClr val="1E90F3"/>
          </a:solidFill>
          <a:ln w="12700">
            <a:solidFill>
              <a:srgbClr val="1E90F3"/>
            </a:solidFill>
            <a:prstDash val="solid"/>
          </a:ln>
        </p:spPr>
      </p:sp>
      <p:sp>
        <p:nvSpPr>
          <p:cNvPr id="23" name="Shape 21"/>
          <p:cNvSpPr/>
          <p:nvPr/>
        </p:nvSpPr>
        <p:spPr>
          <a:xfrm>
            <a:off x="6263640" y="3063240"/>
            <a:ext cx="4754880" cy="1920240"/>
          </a:xfrm>
          <a:prstGeom prst="roundRect">
            <a:avLst>
              <a:gd name="adj" fmla="val 2857"/>
            </a:avLst>
          </a:prstGeom>
          <a:solidFill>
            <a:srgbClr val="E9F8F2"/>
          </a:solidFill>
          <a:ln w="8890">
            <a:solidFill>
              <a:srgbClr val="CFEBDD"/>
            </a:solidFill>
            <a:prstDash val="solid"/>
          </a:ln>
        </p:spPr>
      </p:sp>
      <p:sp>
        <p:nvSpPr>
          <p:cNvPr id="24" name="Text 22"/>
          <p:cNvSpPr/>
          <p:nvPr/>
        </p:nvSpPr>
        <p:spPr>
          <a:xfrm>
            <a:off x="6391656" y="3200400"/>
            <a:ext cx="44988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Strategic message</a:t>
            </a:r>
            <a:endParaRPr lang="en-US" sz="930" dirty="0"/>
          </a:p>
        </p:txBody>
      </p:sp>
      <p:sp>
        <p:nvSpPr>
          <p:cNvPr id="25" name="Text 23"/>
          <p:cNvSpPr/>
          <p:nvPr/>
        </p:nvSpPr>
        <p:spPr>
          <a:xfrm>
            <a:off x="6391656" y="3520440"/>
            <a:ext cx="4498848" cy="1353312"/>
          </a:xfrm>
          <a:prstGeom prst="rect">
            <a:avLst/>
          </a:prstGeom>
          <a:noFill/>
          <a:ln/>
        </p:spPr>
        <p:txBody>
          <a:bodyPr wrap="square" lIns="0" tIns="0" rIns="0" bIns="0" rtlCol="0" anchor="ctr">
            <a:normAutofit/>
          </a:bodyPr>
          <a:lstStyle/>
          <a:p>
            <a:pPr marL="0" indent="0">
              <a:buNone/>
            </a:pPr>
            <a:r>
              <a:rPr lang="en-US" sz="780" dirty="0">
                <a:solidFill>
                  <a:srgbClr val="60758B"/>
                </a:solidFill>
              </a:rPr>
              <a:t>This is a production-safe learning system: start with decision support, log every prediction, compare with real outcomes, and only then move toward automated MES actions.</a:t>
            </a:r>
            <a:endParaRPr lang="en-US" sz="780" dirty="0"/>
          </a:p>
        </p:txBody>
      </p:sp>
      <p:sp>
        <p:nvSpPr>
          <p:cNvPr id="26" name="Shape 24"/>
          <p:cNvSpPr/>
          <p:nvPr/>
        </p:nvSpPr>
        <p:spPr>
          <a:xfrm>
            <a:off x="6263640" y="3063240"/>
            <a:ext cx="36576" cy="1920240"/>
          </a:xfrm>
          <a:prstGeom prst="rect">
            <a:avLst/>
          </a:prstGeom>
          <a:solidFill>
            <a:srgbClr val="16A05D"/>
          </a:solidFill>
          <a:ln w="12700">
            <a:solidFill>
              <a:srgbClr val="16A05D"/>
            </a:solidFill>
            <a:prstDash val="solid"/>
          </a:ln>
        </p:spPr>
      </p:sp>
      <p:sp>
        <p:nvSpPr>
          <p:cNvPr id="27" name="Text 25"/>
          <p:cNvSpPr/>
          <p:nvPr/>
        </p:nvSpPr>
        <p:spPr>
          <a:xfrm>
            <a:off x="822960" y="5486400"/>
            <a:ext cx="1325880" cy="182880"/>
          </a:xfrm>
          <a:prstGeom prst="roundRect">
            <a:avLst/>
          </a:prstGeom>
          <a:solidFill>
            <a:srgbClr val="16A05D"/>
          </a:solidFill>
          <a:ln>
            <a:solidFill>
              <a:srgbClr val="16A05D"/>
            </a:solidFill>
          </a:ln>
        </p:spPr>
        <p:txBody>
          <a:bodyPr wrap="square" lIns="127" tIns="127" rIns="127" bIns="127" rtlCol="0" anchor="ctr"/>
          <a:lstStyle/>
          <a:p>
            <a:pPr marL="0" indent="0" algn="ctr">
              <a:buNone/>
            </a:pPr>
            <a:r>
              <a:rPr lang="en-US" sz="650" b="1" dirty="0">
                <a:solidFill>
                  <a:srgbClr val="FFFFFF"/>
                </a:solidFill>
              </a:rPr>
              <a:t>CONTROLLED PILOT</a:t>
            </a:r>
            <a:endParaRPr lang="en-US" sz="650" dirty="0"/>
          </a:p>
        </p:txBody>
      </p:sp>
      <p:sp>
        <p:nvSpPr>
          <p:cNvPr id="28" name="Text 26"/>
          <p:cNvSpPr/>
          <p:nvPr/>
        </p:nvSpPr>
        <p:spPr>
          <a:xfrm>
            <a:off x="2423160" y="5486400"/>
            <a:ext cx="1325880" cy="182880"/>
          </a:xfrm>
          <a:prstGeom prst="roundRect">
            <a:avLst/>
          </a:prstGeom>
          <a:solidFill>
            <a:srgbClr val="1E90F3"/>
          </a:solidFill>
          <a:ln>
            <a:solidFill>
              <a:srgbClr val="1E90F3"/>
            </a:solidFill>
          </a:ln>
        </p:spPr>
        <p:txBody>
          <a:bodyPr wrap="square" lIns="127" tIns="127" rIns="127" bIns="127" rtlCol="0" anchor="ctr"/>
          <a:lstStyle/>
          <a:p>
            <a:pPr marL="0" indent="0" algn="ctr">
              <a:buNone/>
            </a:pPr>
            <a:r>
              <a:rPr lang="en-US" sz="650" b="1" dirty="0">
                <a:solidFill>
                  <a:srgbClr val="FFFFFF"/>
                </a:solidFill>
              </a:rPr>
              <a:t>TRACEABILITY FIRST</a:t>
            </a:r>
            <a:endParaRPr lang="en-US" sz="650" dirty="0"/>
          </a:p>
        </p:txBody>
      </p:sp>
      <p:sp>
        <p:nvSpPr>
          <p:cNvPr id="29" name="Text 27"/>
          <p:cNvSpPr/>
          <p:nvPr/>
        </p:nvSpPr>
        <p:spPr>
          <a:xfrm>
            <a:off x="4023360" y="5486400"/>
            <a:ext cx="1554480" cy="182880"/>
          </a:xfrm>
          <a:prstGeom prst="roundRect">
            <a:avLst/>
          </a:prstGeom>
          <a:solidFill>
            <a:srgbClr val="F5A623"/>
          </a:solidFill>
          <a:ln>
            <a:solidFill>
              <a:srgbClr val="F5A623"/>
            </a:solidFill>
          </a:ln>
        </p:spPr>
        <p:txBody>
          <a:bodyPr wrap="square" lIns="127" tIns="127" rIns="127" bIns="127" rtlCol="0" anchor="ctr"/>
          <a:lstStyle/>
          <a:p>
            <a:pPr marL="0" indent="0" algn="ctr">
              <a:buNone/>
            </a:pPr>
            <a:r>
              <a:rPr lang="en-US" sz="650" b="1" dirty="0">
                <a:solidFill>
                  <a:srgbClr val="FFFFFF"/>
                </a:solidFill>
              </a:rPr>
              <a:t>MES AUTOMATION LATER</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TotalTime>
  <Words>2488</Words>
  <Application>Microsoft Office PowerPoint</Application>
  <PresentationFormat>Widescreen</PresentationFormat>
  <Paragraphs>389</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MDF1 ML Project Review — Updated April 2026</dc:title>
  <dc:subject>MDF1 ML Project Review</dc:subject>
  <dc:creator>OpenAI</dc:creator>
  <cp:lastModifiedBy>Azat, Eda</cp:lastModifiedBy>
  <cp:revision>29</cp:revision>
  <dcterms:created xsi:type="dcterms:W3CDTF">2026-04-30T13:01:27Z</dcterms:created>
  <dcterms:modified xsi:type="dcterms:W3CDTF">2026-06-02T07:49:50Z</dcterms:modified>
</cp:coreProperties>
</file>