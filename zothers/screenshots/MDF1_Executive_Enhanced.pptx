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5" r:id="rId5"/>
    <p:sldId id="267" r:id="rId6"/>
    <p:sldId id="268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803275"/>
            <a:ext cx="7772400" cy="1470025"/>
          </a:xfrm>
        </p:spPr>
        <p:txBody>
          <a:bodyPr/>
          <a:lstStyle/>
          <a:p>
            <a:r>
              <a:rPr dirty="0"/>
              <a:t>MDF1 Industrial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MDF1 Industrial AI Platform</a:t>
            </a:r>
          </a:p>
        </p:txBody>
      </p:sp>
      <p:pic>
        <p:nvPicPr>
          <p:cNvPr id="6" name="Picture 5" descr="20d83035-1e62-41c4-a577-38aafc5bfcba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455"/>
                    </a14:imgEffect>
                    <a14:imgEffect>
                      <a14:saturation sat="6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464" y="1977957"/>
            <a:ext cx="8767864" cy="4791277"/>
          </a:xfrm>
          <a:prstGeom prst="rect">
            <a:avLst/>
          </a:prstGeom>
          <a:effectLst>
            <a:glow rad="127000">
              <a:schemeClr val="accent1"/>
            </a:glow>
            <a:outerShdw blurRad="1130300" dist="50800" dir="5400000" algn="ctr" rotWithShape="0">
              <a:srgbClr val="000000"/>
            </a:outerShdw>
            <a:reflection blurRad="1270000" stA="0" endPos="52000" dist="3556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31836"/>
          </a:xfrm>
        </p:spPr>
        <p:txBody>
          <a:bodyPr>
            <a:noAutofit/>
          </a:bodyPr>
          <a:lstStyle/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The MDF1 platform goes beyond prediction. It combines machine learning, explainable AI, risk assessment, and recommendation generation to support production decisions</a:t>
            </a: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Executive Summary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3250" y="2332037"/>
            <a:ext cx="8229600" cy="6969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TrainingService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PredictionService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GUIService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→ PostgreSQL</a:t>
            </a:r>
          </a:p>
          <a:p>
            <a:pPr marL="0" indent="0">
              <a:buNone/>
            </a:pPr>
            <a:endParaRPr lang="en-GB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 production-oriented architecture for industrial AI deployment.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243259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Prediction layer:</a:t>
            </a: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 now, Predicts Density, Bending, E-Modulus, Tensile Strength, and Surface Soundness using best registered models.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12750" y="4304500"/>
            <a:ext cx="8229600" cy="1541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layer(SHAP):</a:t>
            </a:r>
            <a:endParaRPr lang="en-GB" sz="1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SHAP quantifies how each process variable contributed to an individual prediction.</a:t>
            </a: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Provides transparent and auditable AI decisions.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565150"/>
            <a:ext cx="8229600" cy="1204913"/>
          </a:xfrm>
        </p:spPr>
        <p:txBody>
          <a:bodyPr>
            <a:normAutofit/>
          </a:bodyPr>
          <a:lstStyle/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Feature Impact Analysis</a:t>
            </a:r>
            <a:endParaRPr lang="en-GB" sz="14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Top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contributing variables are ranked by absolute impact.</a:t>
            </a:r>
          </a:p>
          <a:p>
            <a:pPr marL="0" indent="0">
              <a:buNone/>
            </a:pP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engineers to focus on the most influential process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102A43"/>
          </a:solidFill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en-GB" dirty="0"/>
              <a:t>Executive Summary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33350" y="1770063"/>
            <a:ext cx="8229600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Risk Assessment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- Transforms raw predictions into operational LOW, MEDIUM, </a:t>
            </a:r>
            <a:r>
              <a:rPr lang="en-GB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HIGH risk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categories.</a:t>
            </a:r>
          </a:p>
          <a:p>
            <a:pPr marL="0" indent="0">
              <a:buFont typeface="Arial"/>
              <a:buNone/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84150" y="2657476"/>
            <a:ext cx="8229600" cy="90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Recommendation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- Converts technical SHAP outputs into actionable engineering recommendations aligned with production operations.</a:t>
            </a:r>
          </a:p>
          <a:p>
            <a:pPr marL="0" indent="0">
              <a:buFont typeface="Arial"/>
              <a:buNone/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3460289"/>
            <a:ext cx="3035300" cy="3236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3450818"/>
            <a:ext cx="2949180" cy="32474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575" y="3450818"/>
            <a:ext cx="2727720" cy="3279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12801"/>
            <a:ext cx="8229600" cy="685799"/>
          </a:xfrm>
        </p:spPr>
        <p:txBody>
          <a:bodyPr>
            <a:normAutofit fontScale="92500" lnSpcReduction="10000"/>
          </a:bodyPr>
          <a:lstStyle/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GUI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Advisor</a:t>
            </a:r>
          </a:p>
          <a:p>
            <a:pPr marL="0" indent="0">
              <a:buNone/>
            </a:pP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Displays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prediction results, risk levels, top drivers, recommendations, and decision-support guidance in operator-friendly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GUI Advisor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1854201"/>
            <a:ext cx="76390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i="1" dirty="0" smtClean="0"/>
              <a:t>- </a:t>
            </a:r>
            <a:r>
              <a:rPr lang="en-GB" sz="1400" b="1" i="1" dirty="0" smtClean="0"/>
              <a:t>Data Flow</a:t>
            </a:r>
            <a:r>
              <a:rPr lang="en-GB" sz="1400" i="1" dirty="0" smtClean="0"/>
              <a:t/>
            </a:r>
            <a:br>
              <a:rPr lang="en-GB" sz="1400" i="1" dirty="0" smtClean="0"/>
            </a:br>
            <a:r>
              <a:rPr lang="en-GB" sz="1400" i="1" dirty="0" smtClean="0"/>
              <a:t>Raw </a:t>
            </a:r>
            <a:r>
              <a:rPr lang="en-GB" sz="1400" i="1" dirty="0"/>
              <a:t>Process Data → Engineered Features → ML Prediction → SHAP Analysis → Risk Assessment → Recommendations → GUI</a:t>
            </a:r>
            <a:endParaRPr lang="en-GB" sz="1400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2771526"/>
            <a:ext cx="8907118" cy="3921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604" y="785508"/>
            <a:ext cx="8589524" cy="1006813"/>
          </a:xfrm>
        </p:spPr>
        <p:txBody>
          <a:bodyPr>
            <a:normAutofit/>
          </a:bodyPr>
          <a:lstStyle/>
          <a:p>
            <a:r>
              <a:rPr lang="en-GB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PostgreSQL </a:t>
            </a:r>
            <a:r>
              <a:rPr lang="en-GB" sz="1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  <a:p>
            <a:pPr marL="0" indent="0">
              <a:buNone/>
            </a:pPr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Stores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prediction history, model metadata, risk information, diagnostics, and traceability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PostgreSQL Integration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4" y="1475900"/>
            <a:ext cx="8830934" cy="31151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685801"/>
            <a:ext cx="8229600" cy="1460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Industrial Benefits</a:t>
            </a:r>
            <a:endParaRPr lang="en-GB" sz="18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Explainable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Reduced troubleshooting time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Improved process control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Higher trust in AI recommendations</a:t>
            </a:r>
          </a:p>
          <a:p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Knowledge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Industrial Benefits</a:t>
            </a:r>
          </a:p>
        </p:txBody>
      </p:sp>
      <p:pic>
        <p:nvPicPr>
          <p:cNvPr id="5" name="Picture 4" descr="20d83035-1e62-41c4-a577-38aafc5bfc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6300"/>
            <a:ext cx="9144000" cy="47116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96901"/>
            <a:ext cx="7264400" cy="208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Current Technical Maturity</a:t>
            </a:r>
            <a:endParaRPr lang="en-GB" sz="16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Registry-driven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model serving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Artifact synchronization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SHAP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Risk scoring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Recommendation generation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Prediction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Current Technical Maturity</a:t>
            </a:r>
          </a:p>
        </p:txBody>
      </p:sp>
      <p:pic>
        <p:nvPicPr>
          <p:cNvPr id="6" name="Picture 5" descr="e64597f5-1274-447b-be84-dada47ea64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6051"/>
            <a:ext cx="9144000" cy="4171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615951"/>
            <a:ext cx="8229600" cy="15557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500" b="1" dirty="0">
                <a:latin typeface="Arial" panose="020B0604020202020204" pitchFamily="34" charset="0"/>
                <a:cs typeface="Arial" panose="020B0604020202020204" pitchFamily="34" charset="0"/>
              </a:rPr>
              <a:t>Future Roadmap</a:t>
            </a:r>
            <a:endParaRPr lang="en-GB" sz="15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Advanced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advisor logic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Trend monitoring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What-if simulation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Process optimization recommendations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Operator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pic>
        <p:nvPicPr>
          <p:cNvPr id="5" name="Picture 4" descr="e64597f5-1274-447b-be84-dada47ea64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79650"/>
            <a:ext cx="4324349" cy="4489450"/>
          </a:xfrm>
          <a:prstGeom prst="rect">
            <a:avLst/>
          </a:prstGeom>
        </p:spPr>
      </p:pic>
      <p:pic>
        <p:nvPicPr>
          <p:cNvPr id="7" name="Picture 6" descr="f3428984-193a-4ab1-b54d-e26b86efe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254250"/>
            <a:ext cx="4641850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600" cy="909638"/>
          </a:xfrm>
        </p:spPr>
        <p:txBody>
          <a:bodyPr/>
          <a:lstStyle/>
          <a:p>
            <a:r>
              <a:rPr b="1" i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>
            <a:normAutofit/>
          </a:bodyPr>
          <a:lstStyle/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 MDF1 GUI Advisor transforms machine learning outputs into transparent, explainable, and actionable production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02A43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2" y="2885871"/>
            <a:ext cx="8914296" cy="34323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305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MDF1 Industrial AI Platform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MDF1 Industrial AI Platform</dc:title>
  <dc:subject/>
  <dc:creator>Azat, Eda</dc:creator>
  <cp:keywords/>
  <dc:description>generated using python-pptx</dc:description>
  <cp:lastModifiedBy>Azat, Eda</cp:lastModifiedBy>
  <cp:revision>21</cp:revision>
  <dcterms:created xsi:type="dcterms:W3CDTF">2013-01-27T09:14:16Z</dcterms:created>
  <dcterms:modified xsi:type="dcterms:W3CDTF">2026-06-02T14:08:33Z</dcterms:modified>
  <cp:category/>
</cp:coreProperties>
</file>